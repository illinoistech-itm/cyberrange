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1"/>
  </p:sldMasterIdLst>
  <p:notesMasterIdLst>
    <p:notesMasterId r:id="rId50"/>
  </p:notesMasterIdLst>
  <p:sldIdLst>
    <p:sldId id="256" r:id="rId2"/>
    <p:sldId id="257" r:id="rId3"/>
    <p:sldId id="258" r:id="rId4"/>
    <p:sldId id="259" r:id="rId5"/>
    <p:sldId id="260" r:id="rId6"/>
    <p:sldId id="261" r:id="rId7"/>
    <p:sldId id="263" r:id="rId8"/>
    <p:sldId id="302" r:id="rId9"/>
    <p:sldId id="262" r:id="rId10"/>
    <p:sldId id="306" r:id="rId11"/>
    <p:sldId id="305" r:id="rId12"/>
    <p:sldId id="304" r:id="rId13"/>
    <p:sldId id="294" r:id="rId14"/>
    <p:sldId id="295" r:id="rId15"/>
    <p:sldId id="311" r:id="rId16"/>
    <p:sldId id="301" r:id="rId17"/>
    <p:sldId id="310" r:id="rId18"/>
    <p:sldId id="264" r:id="rId19"/>
    <p:sldId id="265" r:id="rId20"/>
    <p:sldId id="267" r:id="rId21"/>
    <p:sldId id="319" r:id="rId22"/>
    <p:sldId id="269" r:id="rId23"/>
    <p:sldId id="280" r:id="rId24"/>
    <p:sldId id="300" r:id="rId25"/>
    <p:sldId id="312" r:id="rId26"/>
    <p:sldId id="313" r:id="rId27"/>
    <p:sldId id="322" r:id="rId28"/>
    <p:sldId id="271" r:id="rId29"/>
    <p:sldId id="277" r:id="rId30"/>
    <p:sldId id="308" r:id="rId31"/>
    <p:sldId id="279" r:id="rId32"/>
    <p:sldId id="281" r:id="rId33"/>
    <p:sldId id="272" r:id="rId34"/>
    <p:sldId id="282" r:id="rId35"/>
    <p:sldId id="289" r:id="rId36"/>
    <p:sldId id="283" r:id="rId37"/>
    <p:sldId id="284" r:id="rId38"/>
    <p:sldId id="285" r:id="rId39"/>
    <p:sldId id="298" r:id="rId40"/>
    <p:sldId id="286" r:id="rId41"/>
    <p:sldId id="297" r:id="rId42"/>
    <p:sldId id="287" r:id="rId43"/>
    <p:sldId id="275" r:id="rId44"/>
    <p:sldId id="291" r:id="rId45"/>
    <p:sldId id="276" r:id="rId46"/>
    <p:sldId id="307" r:id="rId47"/>
    <p:sldId id="278" r:id="rId48"/>
    <p:sldId id="290"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E52441-423C-827F-B0A0-A38B9BB6D032}" v="2879" dt="2024-12-04T21:04:50.475"/>
    <p1510:client id="{2AE0AB00-4857-DD24-D6A0-F585C36429D3}" v="384" dt="2024-12-05T16:30:56.169"/>
    <p1510:client id="{2BC72172-447D-7F00-0D22-BFAD4A789885}" v="800" dt="2024-12-05T22:55:07.643"/>
    <p1510:client id="{2F830EA9-5E92-09AF-6D39-2CACB1642336}" v="966" dt="2024-12-05T16:23:25.655"/>
    <p1510:client id="{42353A86-B07F-0C45-8BE7-8D39B3AD191F}" v="994" dt="2024-12-05T17:31:18.551"/>
    <p1510:client id="{681B4AA6-E5F5-E027-70C9-F1DEB14D330D}" v="219" dt="2024-12-04T21:39:48.742"/>
    <p1510:client id="{7B6BE477-7400-768B-252F-3640A0705529}" v="1630" dt="2024-12-04T22:33:09.292"/>
    <p1510:client id="{7D23FE0F-77FA-2222-292F-C6613B25437F}" v="116" dt="2024-12-05T15:04:36.575"/>
    <p1510:client id="{AB0F1D4D-7B48-5A34-B7DE-8B69A1FC1E7F}" v="4" dt="2024-12-05T18:07:24.035"/>
    <p1510:client id="{ABD6673E-CFA7-D48B-BF58-63D33C6B07DB}" v="948" dt="2024-12-05T19:07:23.321"/>
    <p1510:client id="{B8C4B631-4837-BF14-F50C-EB6A349E44F7}" v="869" dt="2024-12-05T14:53:44.660"/>
    <p1510:client id="{BEC7EE8B-7D7D-0E30-E285-6693546B29B0}" v="729" dt="2024-12-04T23:58:13.322"/>
    <p1510:client id="{D811E0F5-7F9D-5337-34B2-D6915A10D9D3}" v="287" dt="2024-12-05T14:26:09.623"/>
    <p1510:client id="{EC3C3EED-9375-CB57-7B06-E7656A68AA61}" v="600" dt="2024-12-05T14:42:52.6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_rels/data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ata8.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33.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8.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55B149D-4E9E-4F39-812F-92EFF2B40B48}" type="doc">
      <dgm:prSet loTypeId="urn:microsoft.com/office/officeart/2016/7/layout/LinearBlockProcessNumbered" loCatId="process" qsTypeId="urn:microsoft.com/office/officeart/2005/8/quickstyle/simple5" qsCatId="simple" csTypeId="urn:microsoft.com/office/officeart/2005/8/colors/accent1_2" csCatId="accent1" phldr="1"/>
      <dgm:spPr/>
      <dgm:t>
        <a:bodyPr/>
        <a:lstStyle/>
        <a:p>
          <a:endParaRPr lang="en-US"/>
        </a:p>
      </dgm:t>
    </dgm:pt>
    <dgm:pt modelId="{66B716D9-507B-4F7B-84D0-18EFBD74A129}">
      <dgm:prSet/>
      <dgm:spPr/>
      <dgm:t>
        <a:bodyPr/>
        <a:lstStyle/>
        <a:p>
          <a:r>
            <a:rPr lang="en-US"/>
            <a:t>Cyber security students often need environments running simulated cyber security tests. This prompts them to resort to installing these environments on their local machines.</a:t>
          </a:r>
        </a:p>
      </dgm:t>
    </dgm:pt>
    <dgm:pt modelId="{C863EED8-E7DD-4218-B72D-E0574CACE337}" type="parTrans" cxnId="{B39DD332-A6F5-4675-8FDA-4731B12B18D4}">
      <dgm:prSet/>
      <dgm:spPr/>
      <dgm:t>
        <a:bodyPr/>
        <a:lstStyle/>
        <a:p>
          <a:endParaRPr lang="en-US"/>
        </a:p>
      </dgm:t>
    </dgm:pt>
    <dgm:pt modelId="{28F8A2AF-4B9D-40C1-B72F-8F92E6F3CB0D}" type="sibTrans" cxnId="{B39DD332-A6F5-4675-8FDA-4731B12B18D4}">
      <dgm:prSet phldrT="01"/>
      <dgm:spPr/>
      <dgm:t>
        <a:bodyPr/>
        <a:lstStyle/>
        <a:p>
          <a:r>
            <a:rPr lang="en-US"/>
            <a:t>01</a:t>
          </a:r>
        </a:p>
      </dgm:t>
    </dgm:pt>
    <dgm:pt modelId="{5C91782D-0AEA-475F-8EC3-FF1F01CD8411}" type="pres">
      <dgm:prSet presAssocID="{555B149D-4E9E-4F39-812F-92EFF2B40B48}" presName="Name0" presStyleCnt="0">
        <dgm:presLayoutVars>
          <dgm:animLvl val="lvl"/>
          <dgm:resizeHandles val="exact"/>
        </dgm:presLayoutVars>
      </dgm:prSet>
      <dgm:spPr/>
    </dgm:pt>
    <dgm:pt modelId="{CE353774-D2B3-4257-BD1F-3AF7948CECD6}" type="pres">
      <dgm:prSet presAssocID="{66B716D9-507B-4F7B-84D0-18EFBD74A129}" presName="compositeNode" presStyleCnt="0">
        <dgm:presLayoutVars>
          <dgm:bulletEnabled val="1"/>
        </dgm:presLayoutVars>
      </dgm:prSet>
      <dgm:spPr/>
    </dgm:pt>
    <dgm:pt modelId="{D369FFC8-242D-4A88-B48F-B479C6235E30}" type="pres">
      <dgm:prSet presAssocID="{66B716D9-507B-4F7B-84D0-18EFBD74A129}" presName="bgRect" presStyleLbl="alignNode1" presStyleIdx="0" presStyleCnt="1"/>
      <dgm:spPr/>
    </dgm:pt>
    <dgm:pt modelId="{44337BA8-A18E-4B6C-A748-AFDEA2FA4039}" type="pres">
      <dgm:prSet presAssocID="{28F8A2AF-4B9D-40C1-B72F-8F92E6F3CB0D}" presName="sibTransNodeRect" presStyleLbl="alignNode1" presStyleIdx="0" presStyleCnt="1">
        <dgm:presLayoutVars>
          <dgm:chMax val="0"/>
          <dgm:bulletEnabled val="1"/>
        </dgm:presLayoutVars>
      </dgm:prSet>
      <dgm:spPr/>
    </dgm:pt>
    <dgm:pt modelId="{9A9380C6-355F-44E3-A60E-CA46FEE6346D}" type="pres">
      <dgm:prSet presAssocID="{66B716D9-507B-4F7B-84D0-18EFBD74A129}" presName="nodeRect" presStyleLbl="alignNode1" presStyleIdx="0" presStyleCnt="1">
        <dgm:presLayoutVars>
          <dgm:bulletEnabled val="1"/>
        </dgm:presLayoutVars>
      </dgm:prSet>
      <dgm:spPr/>
    </dgm:pt>
  </dgm:ptLst>
  <dgm:cxnLst>
    <dgm:cxn modelId="{332C0522-E66D-4752-B41D-D7A52D65BD4D}" type="presOf" srcId="{66B716D9-507B-4F7B-84D0-18EFBD74A129}" destId="{D369FFC8-242D-4A88-B48F-B479C6235E30}" srcOrd="0" destOrd="0" presId="urn:microsoft.com/office/officeart/2016/7/layout/LinearBlockProcessNumbered"/>
    <dgm:cxn modelId="{B39DD332-A6F5-4675-8FDA-4731B12B18D4}" srcId="{555B149D-4E9E-4F39-812F-92EFF2B40B48}" destId="{66B716D9-507B-4F7B-84D0-18EFBD74A129}" srcOrd="0" destOrd="0" parTransId="{C863EED8-E7DD-4218-B72D-E0574CACE337}" sibTransId="{28F8A2AF-4B9D-40C1-B72F-8F92E6F3CB0D}"/>
    <dgm:cxn modelId="{1CB24B46-4277-4AC4-96BA-95A80D60FA60}" type="presOf" srcId="{66B716D9-507B-4F7B-84D0-18EFBD74A129}" destId="{9A9380C6-355F-44E3-A60E-CA46FEE6346D}" srcOrd="1" destOrd="0" presId="urn:microsoft.com/office/officeart/2016/7/layout/LinearBlockProcessNumbered"/>
    <dgm:cxn modelId="{DC078585-D7B5-45BE-8AAC-4238FF0FEC8C}" type="presOf" srcId="{555B149D-4E9E-4F39-812F-92EFF2B40B48}" destId="{5C91782D-0AEA-475F-8EC3-FF1F01CD8411}" srcOrd="0" destOrd="0" presId="urn:microsoft.com/office/officeart/2016/7/layout/LinearBlockProcessNumbered"/>
    <dgm:cxn modelId="{136D08BC-806B-4E57-9BD2-9198D5026C80}" type="presOf" srcId="{28F8A2AF-4B9D-40C1-B72F-8F92E6F3CB0D}" destId="{44337BA8-A18E-4B6C-A748-AFDEA2FA4039}" srcOrd="0" destOrd="0" presId="urn:microsoft.com/office/officeart/2016/7/layout/LinearBlockProcessNumbered"/>
    <dgm:cxn modelId="{64FCF2F3-C351-49EE-899A-4CD26BA97FD7}" type="presParOf" srcId="{5C91782D-0AEA-475F-8EC3-FF1F01CD8411}" destId="{CE353774-D2B3-4257-BD1F-3AF7948CECD6}" srcOrd="0" destOrd="0" presId="urn:microsoft.com/office/officeart/2016/7/layout/LinearBlockProcessNumbered"/>
    <dgm:cxn modelId="{FB4A496E-D357-4FB9-8E0D-3D44700DE1F7}" type="presParOf" srcId="{CE353774-D2B3-4257-BD1F-3AF7948CECD6}" destId="{D369FFC8-242D-4A88-B48F-B479C6235E30}" srcOrd="0" destOrd="0" presId="urn:microsoft.com/office/officeart/2016/7/layout/LinearBlockProcessNumbered"/>
    <dgm:cxn modelId="{4DF0A54D-44AA-45AF-A354-911EBC605BEE}" type="presParOf" srcId="{CE353774-D2B3-4257-BD1F-3AF7948CECD6}" destId="{44337BA8-A18E-4B6C-A748-AFDEA2FA4039}" srcOrd="1" destOrd="0" presId="urn:microsoft.com/office/officeart/2016/7/layout/LinearBlockProcessNumbered"/>
    <dgm:cxn modelId="{A2056233-30BD-497F-B8F5-935709F044DA}" type="presParOf" srcId="{CE353774-D2B3-4257-BD1F-3AF7948CECD6}" destId="{9A9380C6-355F-44E3-A60E-CA46FEE6346D}"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5B149D-4E9E-4F39-812F-92EFF2B40B48}" type="doc">
      <dgm:prSet loTypeId="urn:microsoft.com/office/officeart/2016/7/layout/LinearBlockProcessNumbered" loCatId="process" qsTypeId="urn:microsoft.com/office/officeart/2005/8/quickstyle/simple5" qsCatId="simple" csTypeId="urn:microsoft.com/office/officeart/2005/8/colors/accent1_2" csCatId="accent1" phldr="1"/>
      <dgm:spPr/>
      <dgm:t>
        <a:bodyPr/>
        <a:lstStyle/>
        <a:p>
          <a:endParaRPr lang="en-US"/>
        </a:p>
      </dgm:t>
    </dgm:pt>
    <dgm:pt modelId="{64DB1CAF-FEC3-40F7-ABCB-CFEF6D622FE4}">
      <dgm:prSet/>
      <dgm:spPr/>
      <dgm:t>
        <a:bodyPr/>
        <a:lstStyle/>
        <a:p>
          <a:r>
            <a:rPr lang="en-US"/>
            <a:t>On a good day, for someone familiar with Linux this can take anywhere between 4 hours – weeks to set up these environments that might include </a:t>
          </a:r>
          <a:r>
            <a:rPr lang="en-US" b="1"/>
            <a:t>Kali Linux, OWASP juice shop and other web applications</a:t>
          </a:r>
          <a:r>
            <a:rPr lang="en-US"/>
            <a:t> to be used.</a:t>
          </a:r>
        </a:p>
      </dgm:t>
    </dgm:pt>
    <dgm:pt modelId="{2BD83D7F-8668-4215-AAD5-D35DE42DB224}" type="parTrans" cxnId="{2D9FAB2A-F980-4B85-BF24-CF5F1709D8A8}">
      <dgm:prSet/>
      <dgm:spPr/>
      <dgm:t>
        <a:bodyPr/>
        <a:lstStyle/>
        <a:p>
          <a:endParaRPr lang="en-US"/>
        </a:p>
      </dgm:t>
    </dgm:pt>
    <dgm:pt modelId="{8DDD173C-E004-457F-AB0F-7DC83D55D1ED}" type="sibTrans" cxnId="{2D9FAB2A-F980-4B85-BF24-CF5F1709D8A8}">
      <dgm:prSet phldrT="02"/>
      <dgm:spPr/>
      <dgm:t>
        <a:bodyPr/>
        <a:lstStyle/>
        <a:p>
          <a:r>
            <a:rPr lang="en-US"/>
            <a:t>02</a:t>
          </a:r>
        </a:p>
      </dgm:t>
    </dgm:pt>
    <dgm:pt modelId="{79E51E58-B83E-468C-A8EF-401FF6024B61}" type="pres">
      <dgm:prSet presAssocID="{555B149D-4E9E-4F39-812F-92EFF2B40B48}" presName="Name0" presStyleCnt="0">
        <dgm:presLayoutVars>
          <dgm:animLvl val="lvl"/>
          <dgm:resizeHandles val="exact"/>
        </dgm:presLayoutVars>
      </dgm:prSet>
      <dgm:spPr/>
    </dgm:pt>
    <dgm:pt modelId="{FE729A15-33ED-41D3-836E-BE0CE6331773}" type="pres">
      <dgm:prSet presAssocID="{64DB1CAF-FEC3-40F7-ABCB-CFEF6D622FE4}" presName="compositeNode" presStyleCnt="0">
        <dgm:presLayoutVars>
          <dgm:bulletEnabled val="1"/>
        </dgm:presLayoutVars>
      </dgm:prSet>
      <dgm:spPr/>
    </dgm:pt>
    <dgm:pt modelId="{621AED7E-9EEB-49FA-8363-F71D70CFC663}" type="pres">
      <dgm:prSet presAssocID="{64DB1CAF-FEC3-40F7-ABCB-CFEF6D622FE4}" presName="bgRect" presStyleLbl="alignNode1" presStyleIdx="0" presStyleCnt="1"/>
      <dgm:spPr/>
    </dgm:pt>
    <dgm:pt modelId="{094CC383-81C5-4CB9-8B7C-0289E1DCFF1B}" type="pres">
      <dgm:prSet presAssocID="{8DDD173C-E004-457F-AB0F-7DC83D55D1ED}" presName="sibTransNodeRect" presStyleLbl="alignNode1" presStyleIdx="0" presStyleCnt="1">
        <dgm:presLayoutVars>
          <dgm:chMax val="0"/>
          <dgm:bulletEnabled val="1"/>
        </dgm:presLayoutVars>
      </dgm:prSet>
      <dgm:spPr/>
    </dgm:pt>
    <dgm:pt modelId="{DC8F52A9-8E6C-4CFF-AD4A-951BAC62A321}" type="pres">
      <dgm:prSet presAssocID="{64DB1CAF-FEC3-40F7-ABCB-CFEF6D622FE4}" presName="nodeRect" presStyleLbl="alignNode1" presStyleIdx="0" presStyleCnt="1">
        <dgm:presLayoutVars>
          <dgm:bulletEnabled val="1"/>
        </dgm:presLayoutVars>
      </dgm:prSet>
      <dgm:spPr/>
    </dgm:pt>
  </dgm:ptLst>
  <dgm:cxnLst>
    <dgm:cxn modelId="{FD284A0F-7973-B241-A1BB-2B528FD7CCAF}" type="presOf" srcId="{555B149D-4E9E-4F39-812F-92EFF2B40B48}" destId="{79E51E58-B83E-468C-A8EF-401FF6024B61}" srcOrd="0" destOrd="0" presId="urn:microsoft.com/office/officeart/2016/7/layout/LinearBlockProcessNumbered"/>
    <dgm:cxn modelId="{2D9FAB2A-F980-4B85-BF24-CF5F1709D8A8}" srcId="{555B149D-4E9E-4F39-812F-92EFF2B40B48}" destId="{64DB1CAF-FEC3-40F7-ABCB-CFEF6D622FE4}" srcOrd="0" destOrd="0" parTransId="{2BD83D7F-8668-4215-AAD5-D35DE42DB224}" sibTransId="{8DDD173C-E004-457F-AB0F-7DC83D55D1ED}"/>
    <dgm:cxn modelId="{9E5DBEB0-6A59-CF40-B8B7-374212FBB3AB}" type="presOf" srcId="{8DDD173C-E004-457F-AB0F-7DC83D55D1ED}" destId="{094CC383-81C5-4CB9-8B7C-0289E1DCFF1B}" srcOrd="0" destOrd="0" presId="urn:microsoft.com/office/officeart/2016/7/layout/LinearBlockProcessNumbered"/>
    <dgm:cxn modelId="{4F801DC2-8C6F-114C-A0EB-9D6E0045483C}" type="presOf" srcId="{64DB1CAF-FEC3-40F7-ABCB-CFEF6D622FE4}" destId="{DC8F52A9-8E6C-4CFF-AD4A-951BAC62A321}" srcOrd="1" destOrd="0" presId="urn:microsoft.com/office/officeart/2016/7/layout/LinearBlockProcessNumbered"/>
    <dgm:cxn modelId="{7A281EC6-9137-CB4A-A606-9F448FD6B162}" type="presOf" srcId="{64DB1CAF-FEC3-40F7-ABCB-CFEF6D622FE4}" destId="{621AED7E-9EEB-49FA-8363-F71D70CFC663}" srcOrd="0" destOrd="0" presId="urn:microsoft.com/office/officeart/2016/7/layout/LinearBlockProcessNumbered"/>
    <dgm:cxn modelId="{2CF950C4-A13D-A84E-A4A8-11F35E7B84A8}" type="presParOf" srcId="{79E51E58-B83E-468C-A8EF-401FF6024B61}" destId="{FE729A15-33ED-41D3-836E-BE0CE6331773}" srcOrd="0" destOrd="0" presId="urn:microsoft.com/office/officeart/2016/7/layout/LinearBlockProcessNumbered"/>
    <dgm:cxn modelId="{A2585678-A50F-B944-B45C-3860C6E7F388}" type="presParOf" srcId="{FE729A15-33ED-41D3-836E-BE0CE6331773}" destId="{621AED7E-9EEB-49FA-8363-F71D70CFC663}" srcOrd="0" destOrd="0" presId="urn:microsoft.com/office/officeart/2016/7/layout/LinearBlockProcessNumbered"/>
    <dgm:cxn modelId="{6D13E7ED-6C95-0E44-96FF-7E5902CF46A6}" type="presParOf" srcId="{FE729A15-33ED-41D3-836E-BE0CE6331773}" destId="{094CC383-81C5-4CB9-8B7C-0289E1DCFF1B}" srcOrd="1" destOrd="0" presId="urn:microsoft.com/office/officeart/2016/7/layout/LinearBlockProcessNumbered"/>
    <dgm:cxn modelId="{3DA35FBA-3722-0D42-8A3D-5C4C893A480C}" type="presParOf" srcId="{FE729A15-33ED-41D3-836E-BE0CE6331773}" destId="{DC8F52A9-8E6C-4CFF-AD4A-951BAC62A321}"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10446B6-A6B1-4DC2-874B-B7FE30A868CA}"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9A6B36FF-68F4-42BC-855C-809B88B82C13}">
      <dgm:prSet/>
      <dgm:spPr/>
      <dgm:t>
        <a:bodyPr/>
        <a:lstStyle/>
        <a:p>
          <a:r>
            <a:rPr lang="en-US"/>
            <a:t>Other service providers for these services such as </a:t>
          </a:r>
          <a:r>
            <a:rPr lang="en-US" b="1"/>
            <a:t>US Cyber Range, Test Out, Skillable</a:t>
          </a:r>
          <a:r>
            <a:rPr lang="en-US"/>
            <a:t> and others are very costly. </a:t>
          </a:r>
        </a:p>
      </dgm:t>
    </dgm:pt>
    <dgm:pt modelId="{4BCDE338-393E-4368-AC67-1994E34FD660}" type="parTrans" cxnId="{7F0B020F-B10B-402B-9B9E-808EC3309940}">
      <dgm:prSet/>
      <dgm:spPr/>
      <dgm:t>
        <a:bodyPr/>
        <a:lstStyle/>
        <a:p>
          <a:endParaRPr lang="en-US"/>
        </a:p>
      </dgm:t>
    </dgm:pt>
    <dgm:pt modelId="{4A02D59F-ACFD-46A9-907F-485FDE6B6FF3}" type="sibTrans" cxnId="{7F0B020F-B10B-402B-9B9E-808EC3309940}">
      <dgm:prSet/>
      <dgm:spPr/>
      <dgm:t>
        <a:bodyPr/>
        <a:lstStyle/>
        <a:p>
          <a:endParaRPr lang="en-US"/>
        </a:p>
      </dgm:t>
    </dgm:pt>
    <dgm:pt modelId="{ACBD0B95-1B1F-429A-A0D2-559D6D8F47C8}">
      <dgm:prSet/>
      <dgm:spPr/>
      <dgm:t>
        <a:bodyPr/>
        <a:lstStyle/>
        <a:p>
          <a:r>
            <a:rPr lang="en-US"/>
            <a:t>Our solution could over Illinois Tech Cyber security students and professors, a user friendly, consistent, cost effective software platform where students can deploy the lab environment within minutes reducing effort put into setting up lab environments and actually focusing on the skills development</a:t>
          </a:r>
        </a:p>
      </dgm:t>
    </dgm:pt>
    <dgm:pt modelId="{90BB4BC9-BE8A-4A5F-B24C-14D41A0A0B88}" type="parTrans" cxnId="{7514AEE4-299C-4616-9F3C-F2C959B46D59}">
      <dgm:prSet/>
      <dgm:spPr/>
      <dgm:t>
        <a:bodyPr/>
        <a:lstStyle/>
        <a:p>
          <a:endParaRPr lang="en-US"/>
        </a:p>
      </dgm:t>
    </dgm:pt>
    <dgm:pt modelId="{A32AB861-CE2A-4EAD-9647-95D1FEB43345}" type="sibTrans" cxnId="{7514AEE4-299C-4616-9F3C-F2C959B46D59}">
      <dgm:prSet/>
      <dgm:spPr/>
      <dgm:t>
        <a:bodyPr/>
        <a:lstStyle/>
        <a:p>
          <a:endParaRPr lang="en-US"/>
        </a:p>
      </dgm:t>
    </dgm:pt>
    <dgm:pt modelId="{E978C1D3-221B-43BC-8488-327D1BCD195C}" type="pres">
      <dgm:prSet presAssocID="{010446B6-A6B1-4DC2-874B-B7FE30A868CA}" presName="outerComposite" presStyleCnt="0">
        <dgm:presLayoutVars>
          <dgm:chMax val="5"/>
          <dgm:dir/>
          <dgm:resizeHandles val="exact"/>
        </dgm:presLayoutVars>
      </dgm:prSet>
      <dgm:spPr/>
    </dgm:pt>
    <dgm:pt modelId="{6C3649C9-084F-4498-BB14-5F685AE516A5}" type="pres">
      <dgm:prSet presAssocID="{010446B6-A6B1-4DC2-874B-B7FE30A868CA}" presName="dummyMaxCanvas" presStyleCnt="0">
        <dgm:presLayoutVars/>
      </dgm:prSet>
      <dgm:spPr/>
    </dgm:pt>
    <dgm:pt modelId="{DD3999E7-135E-483A-A146-EECE1B734561}" type="pres">
      <dgm:prSet presAssocID="{010446B6-A6B1-4DC2-874B-B7FE30A868CA}" presName="TwoNodes_1" presStyleLbl="node1" presStyleIdx="0" presStyleCnt="2">
        <dgm:presLayoutVars>
          <dgm:bulletEnabled val="1"/>
        </dgm:presLayoutVars>
      </dgm:prSet>
      <dgm:spPr/>
    </dgm:pt>
    <dgm:pt modelId="{A8C6A057-4F54-4E2F-BE3F-A32A296555A2}" type="pres">
      <dgm:prSet presAssocID="{010446B6-A6B1-4DC2-874B-B7FE30A868CA}" presName="TwoNodes_2" presStyleLbl="node1" presStyleIdx="1" presStyleCnt="2">
        <dgm:presLayoutVars>
          <dgm:bulletEnabled val="1"/>
        </dgm:presLayoutVars>
      </dgm:prSet>
      <dgm:spPr/>
    </dgm:pt>
    <dgm:pt modelId="{35ECFF77-E6A0-4550-8850-079806269351}" type="pres">
      <dgm:prSet presAssocID="{010446B6-A6B1-4DC2-874B-B7FE30A868CA}" presName="TwoConn_1-2" presStyleLbl="fgAccFollowNode1" presStyleIdx="0" presStyleCnt="1">
        <dgm:presLayoutVars>
          <dgm:bulletEnabled val="1"/>
        </dgm:presLayoutVars>
      </dgm:prSet>
      <dgm:spPr/>
    </dgm:pt>
    <dgm:pt modelId="{A9793AD5-FC7C-445F-AA97-3247CDB153D8}" type="pres">
      <dgm:prSet presAssocID="{010446B6-A6B1-4DC2-874B-B7FE30A868CA}" presName="TwoNodes_1_text" presStyleLbl="node1" presStyleIdx="1" presStyleCnt="2">
        <dgm:presLayoutVars>
          <dgm:bulletEnabled val="1"/>
        </dgm:presLayoutVars>
      </dgm:prSet>
      <dgm:spPr/>
    </dgm:pt>
    <dgm:pt modelId="{6811A6D4-DFAF-45E2-803F-74A4EB558C0A}" type="pres">
      <dgm:prSet presAssocID="{010446B6-A6B1-4DC2-874B-B7FE30A868CA}" presName="TwoNodes_2_text" presStyleLbl="node1" presStyleIdx="1" presStyleCnt="2">
        <dgm:presLayoutVars>
          <dgm:bulletEnabled val="1"/>
        </dgm:presLayoutVars>
      </dgm:prSet>
      <dgm:spPr/>
    </dgm:pt>
  </dgm:ptLst>
  <dgm:cxnLst>
    <dgm:cxn modelId="{7F0B020F-B10B-402B-9B9E-808EC3309940}" srcId="{010446B6-A6B1-4DC2-874B-B7FE30A868CA}" destId="{9A6B36FF-68F4-42BC-855C-809B88B82C13}" srcOrd="0" destOrd="0" parTransId="{4BCDE338-393E-4368-AC67-1994E34FD660}" sibTransId="{4A02D59F-ACFD-46A9-907F-485FDE6B6FF3}"/>
    <dgm:cxn modelId="{B429A434-00F2-5146-8C00-96DEAD7CD790}" type="presOf" srcId="{ACBD0B95-1B1F-429A-A0D2-559D6D8F47C8}" destId="{6811A6D4-DFAF-45E2-803F-74A4EB558C0A}" srcOrd="1" destOrd="0" presId="urn:microsoft.com/office/officeart/2005/8/layout/vProcess5"/>
    <dgm:cxn modelId="{B985B740-ABA9-514E-A256-EB4489F5A7EF}" type="presOf" srcId="{9A6B36FF-68F4-42BC-855C-809B88B82C13}" destId="{DD3999E7-135E-483A-A146-EECE1B734561}" srcOrd="0" destOrd="0" presId="urn:microsoft.com/office/officeart/2005/8/layout/vProcess5"/>
    <dgm:cxn modelId="{B079F772-3993-EA44-8485-FA711C8C01B6}" type="presOf" srcId="{010446B6-A6B1-4DC2-874B-B7FE30A868CA}" destId="{E978C1D3-221B-43BC-8488-327D1BCD195C}" srcOrd="0" destOrd="0" presId="urn:microsoft.com/office/officeart/2005/8/layout/vProcess5"/>
    <dgm:cxn modelId="{C97195D2-4C20-7744-A52F-88F825DB1409}" type="presOf" srcId="{ACBD0B95-1B1F-429A-A0D2-559D6D8F47C8}" destId="{A8C6A057-4F54-4E2F-BE3F-A32A296555A2}" srcOrd="0" destOrd="0" presId="urn:microsoft.com/office/officeart/2005/8/layout/vProcess5"/>
    <dgm:cxn modelId="{203276DC-8740-CA40-BEED-35D2251B8D1F}" type="presOf" srcId="{9A6B36FF-68F4-42BC-855C-809B88B82C13}" destId="{A9793AD5-FC7C-445F-AA97-3247CDB153D8}" srcOrd="1" destOrd="0" presId="urn:microsoft.com/office/officeart/2005/8/layout/vProcess5"/>
    <dgm:cxn modelId="{7514AEE4-299C-4616-9F3C-F2C959B46D59}" srcId="{010446B6-A6B1-4DC2-874B-B7FE30A868CA}" destId="{ACBD0B95-1B1F-429A-A0D2-559D6D8F47C8}" srcOrd="1" destOrd="0" parTransId="{90BB4BC9-BE8A-4A5F-B24C-14D41A0A0B88}" sibTransId="{A32AB861-CE2A-4EAD-9647-95D1FEB43345}"/>
    <dgm:cxn modelId="{B9D6F7F8-DE17-4B44-85FA-52B432F49D18}" type="presOf" srcId="{4A02D59F-ACFD-46A9-907F-485FDE6B6FF3}" destId="{35ECFF77-E6A0-4550-8850-079806269351}" srcOrd="0" destOrd="0" presId="urn:microsoft.com/office/officeart/2005/8/layout/vProcess5"/>
    <dgm:cxn modelId="{21FBB7BF-7BD6-484F-B1C9-3EA0AC5F1EBB}" type="presParOf" srcId="{E978C1D3-221B-43BC-8488-327D1BCD195C}" destId="{6C3649C9-084F-4498-BB14-5F685AE516A5}" srcOrd="0" destOrd="0" presId="urn:microsoft.com/office/officeart/2005/8/layout/vProcess5"/>
    <dgm:cxn modelId="{FBE69D2C-14D2-1148-8064-C2BFF94E2895}" type="presParOf" srcId="{E978C1D3-221B-43BC-8488-327D1BCD195C}" destId="{DD3999E7-135E-483A-A146-EECE1B734561}" srcOrd="1" destOrd="0" presId="urn:microsoft.com/office/officeart/2005/8/layout/vProcess5"/>
    <dgm:cxn modelId="{A3DFE457-FDD1-7449-A80C-03D5ADF0C32F}" type="presParOf" srcId="{E978C1D3-221B-43BC-8488-327D1BCD195C}" destId="{A8C6A057-4F54-4E2F-BE3F-A32A296555A2}" srcOrd="2" destOrd="0" presId="urn:microsoft.com/office/officeart/2005/8/layout/vProcess5"/>
    <dgm:cxn modelId="{6F876929-B962-564F-832A-F719BC4D1C9B}" type="presParOf" srcId="{E978C1D3-221B-43BC-8488-327D1BCD195C}" destId="{35ECFF77-E6A0-4550-8850-079806269351}" srcOrd="3" destOrd="0" presId="urn:microsoft.com/office/officeart/2005/8/layout/vProcess5"/>
    <dgm:cxn modelId="{90226BA7-442A-0E41-93B2-D8C853428472}" type="presParOf" srcId="{E978C1D3-221B-43BC-8488-327D1BCD195C}" destId="{A9793AD5-FC7C-445F-AA97-3247CDB153D8}" srcOrd="4" destOrd="0" presId="urn:microsoft.com/office/officeart/2005/8/layout/vProcess5"/>
    <dgm:cxn modelId="{9A85B762-412C-5248-8001-34D228637530}" type="presParOf" srcId="{E978C1D3-221B-43BC-8488-327D1BCD195C}" destId="{6811A6D4-DFAF-45E2-803F-74A4EB558C0A}"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A0D8F9A-851E-4B63-B179-E3D5F183329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46E0430-CDF6-449A-8B44-F5BE55329B67}">
      <dgm:prSet phldr="0"/>
      <dgm:spPr/>
      <dgm:t>
        <a:bodyPr/>
        <a:lstStyle/>
        <a:p>
          <a:pPr rtl="0"/>
          <a:r>
            <a:rPr lang="en-US" b="0">
              <a:latin typeface="Avenir Next LT Pro"/>
            </a:rPr>
            <a:t>Infrastructure as code tool to build, change, and version cloud and on-prem resources safely and efficiently</a:t>
          </a:r>
          <a:endParaRPr lang="en-US" b="0"/>
        </a:p>
      </dgm:t>
    </dgm:pt>
    <dgm:pt modelId="{21943424-228C-4DF7-B9E3-BBDDAC5762DC}" type="parTrans" cxnId="{A5BF1229-EC0B-42A0-B401-990CCFA338F3}">
      <dgm:prSet/>
      <dgm:spPr/>
      <dgm:t>
        <a:bodyPr/>
        <a:lstStyle/>
        <a:p>
          <a:endParaRPr lang="en-US"/>
        </a:p>
      </dgm:t>
    </dgm:pt>
    <dgm:pt modelId="{157AC4D6-B898-4BAC-8A7D-4C97339FA2D8}" type="sibTrans" cxnId="{A5BF1229-EC0B-42A0-B401-990CCFA338F3}">
      <dgm:prSet/>
      <dgm:spPr/>
      <dgm:t>
        <a:bodyPr/>
        <a:lstStyle/>
        <a:p>
          <a:endParaRPr lang="en-US"/>
        </a:p>
      </dgm:t>
    </dgm:pt>
    <dgm:pt modelId="{43629685-BBCE-442E-B2B2-7EF331157D76}">
      <dgm:prSet phldr="0"/>
      <dgm:spPr/>
      <dgm:t>
        <a:bodyPr/>
        <a:lstStyle/>
        <a:p>
          <a:pPr rtl="0"/>
          <a:r>
            <a:rPr lang="en-US">
              <a:latin typeface="Avenir Next LT Pro"/>
            </a:rPr>
            <a:t>Creates and manages resources on cloud platforms and other services through their application programming interfaces (APIs)</a:t>
          </a:r>
          <a:endParaRPr lang="en-US"/>
        </a:p>
      </dgm:t>
    </dgm:pt>
    <dgm:pt modelId="{61548430-7DE7-4DEA-8CA5-A1BDA60F88AD}" type="parTrans" cxnId="{8B10173F-D1CD-45BB-AC85-4B4DD3703719}">
      <dgm:prSet/>
      <dgm:spPr/>
      <dgm:t>
        <a:bodyPr/>
        <a:lstStyle/>
        <a:p>
          <a:endParaRPr lang="en-US"/>
        </a:p>
      </dgm:t>
    </dgm:pt>
    <dgm:pt modelId="{384AF03F-4469-4141-97B4-C18EE96A12CD}" type="sibTrans" cxnId="{8B10173F-D1CD-45BB-AC85-4B4DD3703719}">
      <dgm:prSet/>
      <dgm:spPr/>
      <dgm:t>
        <a:bodyPr/>
        <a:lstStyle/>
        <a:p>
          <a:endParaRPr lang="en-US"/>
        </a:p>
      </dgm:t>
    </dgm:pt>
    <dgm:pt modelId="{837A87C8-F60D-4A51-BB23-1997C6F988FE}">
      <dgm:prSet/>
      <dgm:spPr/>
      <dgm:t>
        <a:bodyPr/>
        <a:lstStyle/>
        <a:p>
          <a:pPr rtl="0"/>
          <a:r>
            <a:rPr lang="en-US">
              <a:latin typeface="Avenir Next LT Pro"/>
            </a:rPr>
            <a:t>Close</a:t>
          </a:r>
          <a:r>
            <a:rPr lang="en-US"/>
            <a:t> </a:t>
          </a:r>
          <a:r>
            <a:rPr lang="en-US">
              <a:latin typeface="Avenir Next LT Pro"/>
            </a:rPr>
            <a:t>to 200 servers</a:t>
          </a:r>
          <a:r>
            <a:rPr lang="en-US"/>
            <a:t> built</a:t>
          </a:r>
          <a:r>
            <a:rPr lang="en-US">
              <a:latin typeface="Avenir Next LT Pro"/>
            </a:rPr>
            <a:t> during the course of the project</a:t>
          </a:r>
          <a:endParaRPr lang="en-US"/>
        </a:p>
      </dgm:t>
    </dgm:pt>
    <dgm:pt modelId="{C68AB59F-CFB5-4EDB-AF44-BFC6EB254BA6}" type="parTrans" cxnId="{8C4FE544-95C9-4343-A8F3-C6898F8E267D}">
      <dgm:prSet/>
      <dgm:spPr/>
      <dgm:t>
        <a:bodyPr/>
        <a:lstStyle/>
        <a:p>
          <a:endParaRPr lang="en-US"/>
        </a:p>
      </dgm:t>
    </dgm:pt>
    <dgm:pt modelId="{9CD35A41-36C5-44E2-8562-7973A061F30F}" type="sibTrans" cxnId="{8C4FE544-95C9-4343-A8F3-C6898F8E267D}">
      <dgm:prSet/>
      <dgm:spPr/>
      <dgm:t>
        <a:bodyPr/>
        <a:lstStyle/>
        <a:p>
          <a:endParaRPr lang="en-US"/>
        </a:p>
      </dgm:t>
    </dgm:pt>
    <dgm:pt modelId="{01D33B61-7579-4F18-B99B-6C863A028C6B}" type="pres">
      <dgm:prSet presAssocID="{AA0D8F9A-851E-4B63-B179-E3D5F1833296}" presName="linear" presStyleCnt="0">
        <dgm:presLayoutVars>
          <dgm:animLvl val="lvl"/>
          <dgm:resizeHandles val="exact"/>
        </dgm:presLayoutVars>
      </dgm:prSet>
      <dgm:spPr/>
    </dgm:pt>
    <dgm:pt modelId="{80242846-FD43-402F-96E6-3E8C6E7025C5}" type="pres">
      <dgm:prSet presAssocID="{B46E0430-CDF6-449A-8B44-F5BE55329B67}" presName="parentText" presStyleLbl="node1" presStyleIdx="0" presStyleCnt="3">
        <dgm:presLayoutVars>
          <dgm:chMax val="0"/>
          <dgm:bulletEnabled val="1"/>
        </dgm:presLayoutVars>
      </dgm:prSet>
      <dgm:spPr/>
    </dgm:pt>
    <dgm:pt modelId="{16266848-51BE-4230-8143-5038012E3457}" type="pres">
      <dgm:prSet presAssocID="{157AC4D6-B898-4BAC-8A7D-4C97339FA2D8}" presName="spacer" presStyleCnt="0"/>
      <dgm:spPr/>
    </dgm:pt>
    <dgm:pt modelId="{DFBE59EE-EA64-4E23-AD44-2C559584A63F}" type="pres">
      <dgm:prSet presAssocID="{43629685-BBCE-442E-B2B2-7EF331157D76}" presName="parentText" presStyleLbl="node1" presStyleIdx="1" presStyleCnt="3">
        <dgm:presLayoutVars>
          <dgm:chMax val="0"/>
          <dgm:bulletEnabled val="1"/>
        </dgm:presLayoutVars>
      </dgm:prSet>
      <dgm:spPr/>
    </dgm:pt>
    <dgm:pt modelId="{64FD8ACD-D550-4FDA-85C1-490490CAA47C}" type="pres">
      <dgm:prSet presAssocID="{384AF03F-4469-4141-97B4-C18EE96A12CD}" presName="spacer" presStyleCnt="0"/>
      <dgm:spPr/>
    </dgm:pt>
    <dgm:pt modelId="{622C8CF4-5791-4C2A-B651-310FA41BA71D}" type="pres">
      <dgm:prSet presAssocID="{837A87C8-F60D-4A51-BB23-1997C6F988FE}" presName="parentText" presStyleLbl="node1" presStyleIdx="2" presStyleCnt="3">
        <dgm:presLayoutVars>
          <dgm:chMax val="0"/>
          <dgm:bulletEnabled val="1"/>
        </dgm:presLayoutVars>
      </dgm:prSet>
      <dgm:spPr/>
    </dgm:pt>
  </dgm:ptLst>
  <dgm:cxnLst>
    <dgm:cxn modelId="{A5BF1229-EC0B-42A0-B401-990CCFA338F3}" srcId="{AA0D8F9A-851E-4B63-B179-E3D5F1833296}" destId="{B46E0430-CDF6-449A-8B44-F5BE55329B67}" srcOrd="0" destOrd="0" parTransId="{21943424-228C-4DF7-B9E3-BBDDAC5762DC}" sibTransId="{157AC4D6-B898-4BAC-8A7D-4C97339FA2D8}"/>
    <dgm:cxn modelId="{8B10173F-D1CD-45BB-AC85-4B4DD3703719}" srcId="{AA0D8F9A-851E-4B63-B179-E3D5F1833296}" destId="{43629685-BBCE-442E-B2B2-7EF331157D76}" srcOrd="1" destOrd="0" parTransId="{61548430-7DE7-4DEA-8CA5-A1BDA60F88AD}" sibTransId="{384AF03F-4469-4141-97B4-C18EE96A12CD}"/>
    <dgm:cxn modelId="{8C4FE544-95C9-4343-A8F3-C6898F8E267D}" srcId="{AA0D8F9A-851E-4B63-B179-E3D5F1833296}" destId="{837A87C8-F60D-4A51-BB23-1997C6F988FE}" srcOrd="2" destOrd="0" parTransId="{C68AB59F-CFB5-4EDB-AF44-BFC6EB254BA6}" sibTransId="{9CD35A41-36C5-44E2-8562-7973A061F30F}"/>
    <dgm:cxn modelId="{EBE0ED4F-6418-44F1-B4CC-2A56D2428E01}" type="presOf" srcId="{AA0D8F9A-851E-4B63-B179-E3D5F1833296}" destId="{01D33B61-7579-4F18-B99B-6C863A028C6B}" srcOrd="0" destOrd="0" presId="urn:microsoft.com/office/officeart/2005/8/layout/vList2"/>
    <dgm:cxn modelId="{35A7E199-843E-4BBB-AF26-56A641BFE5DC}" type="presOf" srcId="{B46E0430-CDF6-449A-8B44-F5BE55329B67}" destId="{80242846-FD43-402F-96E6-3E8C6E7025C5}" srcOrd="0" destOrd="0" presId="urn:microsoft.com/office/officeart/2005/8/layout/vList2"/>
    <dgm:cxn modelId="{7C2525CA-E0E4-49C6-A3F3-9CE14504F5F5}" type="presOf" srcId="{43629685-BBCE-442E-B2B2-7EF331157D76}" destId="{DFBE59EE-EA64-4E23-AD44-2C559584A63F}" srcOrd="0" destOrd="0" presId="urn:microsoft.com/office/officeart/2005/8/layout/vList2"/>
    <dgm:cxn modelId="{87A100FD-108D-404D-A5F0-73E6267C1789}" type="presOf" srcId="{837A87C8-F60D-4A51-BB23-1997C6F988FE}" destId="{622C8CF4-5791-4C2A-B651-310FA41BA71D}" srcOrd="0" destOrd="0" presId="urn:microsoft.com/office/officeart/2005/8/layout/vList2"/>
    <dgm:cxn modelId="{01EEACB0-28EA-4322-876A-686147481707}" type="presParOf" srcId="{01D33B61-7579-4F18-B99B-6C863A028C6B}" destId="{80242846-FD43-402F-96E6-3E8C6E7025C5}" srcOrd="0" destOrd="0" presId="urn:microsoft.com/office/officeart/2005/8/layout/vList2"/>
    <dgm:cxn modelId="{2711518C-44D9-424E-A0FE-BCF62E8D3E20}" type="presParOf" srcId="{01D33B61-7579-4F18-B99B-6C863A028C6B}" destId="{16266848-51BE-4230-8143-5038012E3457}" srcOrd="1" destOrd="0" presId="urn:microsoft.com/office/officeart/2005/8/layout/vList2"/>
    <dgm:cxn modelId="{BA227F78-B146-4AD9-A327-99A57BC7D47D}" type="presParOf" srcId="{01D33B61-7579-4F18-B99B-6C863A028C6B}" destId="{DFBE59EE-EA64-4E23-AD44-2C559584A63F}" srcOrd="2" destOrd="0" presId="urn:microsoft.com/office/officeart/2005/8/layout/vList2"/>
    <dgm:cxn modelId="{F702DF86-4A36-4722-AB38-3C0291BFC60A}" type="presParOf" srcId="{01D33B61-7579-4F18-B99B-6C863A028C6B}" destId="{64FD8ACD-D550-4FDA-85C1-490490CAA47C}" srcOrd="3" destOrd="0" presId="urn:microsoft.com/office/officeart/2005/8/layout/vList2"/>
    <dgm:cxn modelId="{75546CDA-8F01-4C91-8DAD-A3ADCC3A334B}" type="presParOf" srcId="{01D33B61-7579-4F18-B99B-6C863A028C6B}" destId="{622C8CF4-5791-4C2A-B651-310FA41BA71D}"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ABDA009-445F-4F6B-9D4F-096C42798AF5}" type="doc">
      <dgm:prSet loTypeId="urn:microsoft.com/office/officeart/2005/8/layout/vProcess5" loCatId="process" qsTypeId="urn:microsoft.com/office/officeart/2005/8/quickstyle/simple2" qsCatId="simple" csTypeId="urn:microsoft.com/office/officeart/2005/8/colors/accent1_2" csCatId="accent1"/>
      <dgm:spPr/>
      <dgm:t>
        <a:bodyPr/>
        <a:lstStyle/>
        <a:p>
          <a:endParaRPr lang="en-US"/>
        </a:p>
      </dgm:t>
    </dgm:pt>
    <dgm:pt modelId="{27000489-1E4E-4C91-BF76-117D03ED4056}">
      <dgm:prSet/>
      <dgm:spPr/>
      <dgm:t>
        <a:bodyPr/>
        <a:lstStyle/>
        <a:p>
          <a:r>
            <a:rPr lang="en-US"/>
            <a:t>The lab consists of 3 VMs. One kali workstation, and two intentionally vulnerable ubuntu servers.</a:t>
          </a:r>
        </a:p>
      </dgm:t>
    </dgm:pt>
    <dgm:pt modelId="{35E0B822-1977-49F6-BC1A-91AA7E6FD5C2}" type="parTrans" cxnId="{99274013-A046-4FC5-9D3E-E3613FAAD280}">
      <dgm:prSet/>
      <dgm:spPr/>
      <dgm:t>
        <a:bodyPr/>
        <a:lstStyle/>
        <a:p>
          <a:endParaRPr lang="en-US"/>
        </a:p>
      </dgm:t>
    </dgm:pt>
    <dgm:pt modelId="{6A2BFABE-33B0-4CA9-959E-A95E4204ED5B}" type="sibTrans" cxnId="{99274013-A046-4FC5-9D3E-E3613FAAD280}">
      <dgm:prSet/>
      <dgm:spPr/>
      <dgm:t>
        <a:bodyPr/>
        <a:lstStyle/>
        <a:p>
          <a:endParaRPr lang="en-US"/>
        </a:p>
      </dgm:t>
    </dgm:pt>
    <dgm:pt modelId="{7EBE54D7-2B93-4231-B946-67CB5D3A2445}">
      <dgm:prSet/>
      <dgm:spPr/>
      <dgm:t>
        <a:bodyPr/>
        <a:lstStyle/>
        <a:p>
          <a:r>
            <a:rPr lang="en-US"/>
            <a:t>The vulnerable services are ssh and ftp.</a:t>
          </a:r>
        </a:p>
      </dgm:t>
    </dgm:pt>
    <dgm:pt modelId="{AD605E84-FB82-43AB-8251-63A2A96A9B72}" type="parTrans" cxnId="{2D4316E7-8BCF-4640-9CE0-B21F9CA34683}">
      <dgm:prSet/>
      <dgm:spPr/>
      <dgm:t>
        <a:bodyPr/>
        <a:lstStyle/>
        <a:p>
          <a:endParaRPr lang="en-US"/>
        </a:p>
      </dgm:t>
    </dgm:pt>
    <dgm:pt modelId="{F68B57C8-85EB-4965-9EBB-3D7DDF0BF5D5}" type="sibTrans" cxnId="{2D4316E7-8BCF-4640-9CE0-B21F9CA34683}">
      <dgm:prSet/>
      <dgm:spPr/>
      <dgm:t>
        <a:bodyPr/>
        <a:lstStyle/>
        <a:p>
          <a:endParaRPr lang="en-US"/>
        </a:p>
      </dgm:t>
    </dgm:pt>
    <dgm:pt modelId="{34A88580-BEE5-4CB9-9723-B0D06E62D497}">
      <dgm:prSet/>
      <dgm:spPr/>
      <dgm:t>
        <a:bodyPr/>
        <a:lstStyle/>
        <a:p>
          <a:pPr rtl="0"/>
          <a:r>
            <a:rPr lang="en-US">
              <a:latin typeface="Avenir Next LT Pro"/>
            </a:rPr>
            <a:t>One</a:t>
          </a:r>
          <a:r>
            <a:rPr lang="en-US"/>
            <a:t> </a:t>
          </a:r>
          <a:r>
            <a:rPr lang="en-US">
              <a:latin typeface="Avenir Next LT Pro"/>
            </a:rPr>
            <a:t>of the biggest challenges</a:t>
          </a:r>
          <a:r>
            <a:rPr lang="en-US"/>
            <a:t> was isolate them from the school network, as well as create different zones such that VMs from one users session don't interact with another users session.</a:t>
          </a:r>
        </a:p>
      </dgm:t>
    </dgm:pt>
    <dgm:pt modelId="{8011B672-9EB5-4B04-9504-87A7EB03C52F}" type="parTrans" cxnId="{513F9C9F-5C87-4588-BCB7-5F6D48578DB1}">
      <dgm:prSet/>
      <dgm:spPr/>
      <dgm:t>
        <a:bodyPr/>
        <a:lstStyle/>
        <a:p>
          <a:endParaRPr lang="en-US"/>
        </a:p>
      </dgm:t>
    </dgm:pt>
    <dgm:pt modelId="{60F9E5F0-4518-4DA0-A86F-8D9770803C98}" type="sibTrans" cxnId="{513F9C9F-5C87-4588-BCB7-5F6D48578DB1}">
      <dgm:prSet/>
      <dgm:spPr/>
      <dgm:t>
        <a:bodyPr/>
        <a:lstStyle/>
        <a:p>
          <a:endParaRPr lang="en-US"/>
        </a:p>
      </dgm:t>
    </dgm:pt>
    <dgm:pt modelId="{880783B0-CCFC-46FE-AC8A-45E9A6753F4F}" type="pres">
      <dgm:prSet presAssocID="{5ABDA009-445F-4F6B-9D4F-096C42798AF5}" presName="outerComposite" presStyleCnt="0">
        <dgm:presLayoutVars>
          <dgm:chMax val="5"/>
          <dgm:dir/>
          <dgm:resizeHandles val="exact"/>
        </dgm:presLayoutVars>
      </dgm:prSet>
      <dgm:spPr/>
    </dgm:pt>
    <dgm:pt modelId="{7ECBE1B1-A41B-40E8-B0F8-9CC38EA08BCB}" type="pres">
      <dgm:prSet presAssocID="{5ABDA009-445F-4F6B-9D4F-096C42798AF5}" presName="dummyMaxCanvas" presStyleCnt="0">
        <dgm:presLayoutVars/>
      </dgm:prSet>
      <dgm:spPr/>
    </dgm:pt>
    <dgm:pt modelId="{64391356-2CB1-4506-9B1F-80A5184AD642}" type="pres">
      <dgm:prSet presAssocID="{5ABDA009-445F-4F6B-9D4F-096C42798AF5}" presName="ThreeNodes_1" presStyleLbl="node1" presStyleIdx="0" presStyleCnt="3">
        <dgm:presLayoutVars>
          <dgm:bulletEnabled val="1"/>
        </dgm:presLayoutVars>
      </dgm:prSet>
      <dgm:spPr/>
    </dgm:pt>
    <dgm:pt modelId="{3F642864-1E07-43A7-BD96-14729E66E53D}" type="pres">
      <dgm:prSet presAssocID="{5ABDA009-445F-4F6B-9D4F-096C42798AF5}" presName="ThreeNodes_2" presStyleLbl="node1" presStyleIdx="1" presStyleCnt="3">
        <dgm:presLayoutVars>
          <dgm:bulletEnabled val="1"/>
        </dgm:presLayoutVars>
      </dgm:prSet>
      <dgm:spPr/>
    </dgm:pt>
    <dgm:pt modelId="{2B0D409A-5E6C-48EE-BB9E-BE5CF17DC6E7}" type="pres">
      <dgm:prSet presAssocID="{5ABDA009-445F-4F6B-9D4F-096C42798AF5}" presName="ThreeNodes_3" presStyleLbl="node1" presStyleIdx="2" presStyleCnt="3">
        <dgm:presLayoutVars>
          <dgm:bulletEnabled val="1"/>
        </dgm:presLayoutVars>
      </dgm:prSet>
      <dgm:spPr/>
    </dgm:pt>
    <dgm:pt modelId="{7F586C86-F0DA-4E7A-91C0-66D3B6F8999E}" type="pres">
      <dgm:prSet presAssocID="{5ABDA009-445F-4F6B-9D4F-096C42798AF5}" presName="ThreeConn_1-2" presStyleLbl="fgAccFollowNode1" presStyleIdx="0" presStyleCnt="2">
        <dgm:presLayoutVars>
          <dgm:bulletEnabled val="1"/>
        </dgm:presLayoutVars>
      </dgm:prSet>
      <dgm:spPr/>
    </dgm:pt>
    <dgm:pt modelId="{57C355D9-36C6-49D6-AB52-D7D1398A0560}" type="pres">
      <dgm:prSet presAssocID="{5ABDA009-445F-4F6B-9D4F-096C42798AF5}" presName="ThreeConn_2-3" presStyleLbl="fgAccFollowNode1" presStyleIdx="1" presStyleCnt="2">
        <dgm:presLayoutVars>
          <dgm:bulletEnabled val="1"/>
        </dgm:presLayoutVars>
      </dgm:prSet>
      <dgm:spPr/>
    </dgm:pt>
    <dgm:pt modelId="{0DA6AA5B-D52C-43B8-BD43-FC00F85058B9}" type="pres">
      <dgm:prSet presAssocID="{5ABDA009-445F-4F6B-9D4F-096C42798AF5}" presName="ThreeNodes_1_text" presStyleLbl="node1" presStyleIdx="2" presStyleCnt="3">
        <dgm:presLayoutVars>
          <dgm:bulletEnabled val="1"/>
        </dgm:presLayoutVars>
      </dgm:prSet>
      <dgm:spPr/>
    </dgm:pt>
    <dgm:pt modelId="{6D5BD9BD-D543-43E7-8776-8BDF0E5AC457}" type="pres">
      <dgm:prSet presAssocID="{5ABDA009-445F-4F6B-9D4F-096C42798AF5}" presName="ThreeNodes_2_text" presStyleLbl="node1" presStyleIdx="2" presStyleCnt="3">
        <dgm:presLayoutVars>
          <dgm:bulletEnabled val="1"/>
        </dgm:presLayoutVars>
      </dgm:prSet>
      <dgm:spPr/>
    </dgm:pt>
    <dgm:pt modelId="{A80DA9CE-3722-47A3-B7CD-DE2F664D911D}" type="pres">
      <dgm:prSet presAssocID="{5ABDA009-445F-4F6B-9D4F-096C42798AF5}" presName="ThreeNodes_3_text" presStyleLbl="node1" presStyleIdx="2" presStyleCnt="3">
        <dgm:presLayoutVars>
          <dgm:bulletEnabled val="1"/>
        </dgm:presLayoutVars>
      </dgm:prSet>
      <dgm:spPr/>
    </dgm:pt>
  </dgm:ptLst>
  <dgm:cxnLst>
    <dgm:cxn modelId="{99274013-A046-4FC5-9D3E-E3613FAAD280}" srcId="{5ABDA009-445F-4F6B-9D4F-096C42798AF5}" destId="{27000489-1E4E-4C91-BF76-117D03ED4056}" srcOrd="0" destOrd="0" parTransId="{35E0B822-1977-49F6-BC1A-91AA7E6FD5C2}" sibTransId="{6A2BFABE-33B0-4CA9-959E-A95E4204ED5B}"/>
    <dgm:cxn modelId="{06A9CE20-4A05-48A7-AB3E-0352CD77EF44}" type="presOf" srcId="{6A2BFABE-33B0-4CA9-959E-A95E4204ED5B}" destId="{7F586C86-F0DA-4E7A-91C0-66D3B6F8999E}" srcOrd="0" destOrd="0" presId="urn:microsoft.com/office/officeart/2005/8/layout/vProcess5"/>
    <dgm:cxn modelId="{E19D8B3B-0DAE-4A8A-B231-F1CC9E39D1C1}" type="presOf" srcId="{27000489-1E4E-4C91-BF76-117D03ED4056}" destId="{0DA6AA5B-D52C-43B8-BD43-FC00F85058B9}" srcOrd="1" destOrd="0" presId="urn:microsoft.com/office/officeart/2005/8/layout/vProcess5"/>
    <dgm:cxn modelId="{460FA45E-1EF9-4D8A-BD4C-BF127ED90123}" type="presOf" srcId="{34A88580-BEE5-4CB9-9723-B0D06E62D497}" destId="{A80DA9CE-3722-47A3-B7CD-DE2F664D911D}" srcOrd="1" destOrd="0" presId="urn:microsoft.com/office/officeart/2005/8/layout/vProcess5"/>
    <dgm:cxn modelId="{AA5CC362-A4A3-4F40-BA01-E33D94884CAB}" type="presOf" srcId="{5ABDA009-445F-4F6B-9D4F-096C42798AF5}" destId="{880783B0-CCFC-46FE-AC8A-45E9A6753F4F}" srcOrd="0" destOrd="0" presId="urn:microsoft.com/office/officeart/2005/8/layout/vProcess5"/>
    <dgm:cxn modelId="{2261EA43-AF93-44E8-B442-EAC1D496BADE}" type="presOf" srcId="{F68B57C8-85EB-4965-9EBB-3D7DDF0BF5D5}" destId="{57C355D9-36C6-49D6-AB52-D7D1398A0560}" srcOrd="0" destOrd="0" presId="urn:microsoft.com/office/officeart/2005/8/layout/vProcess5"/>
    <dgm:cxn modelId="{96C6E253-2750-4E8E-B9DA-4E7D6428C4D8}" type="presOf" srcId="{34A88580-BEE5-4CB9-9723-B0D06E62D497}" destId="{2B0D409A-5E6C-48EE-BB9E-BE5CF17DC6E7}" srcOrd="0" destOrd="0" presId="urn:microsoft.com/office/officeart/2005/8/layout/vProcess5"/>
    <dgm:cxn modelId="{C45ADD74-410D-4E88-96D8-4F5C65C63FC0}" type="presOf" srcId="{7EBE54D7-2B93-4231-B946-67CB5D3A2445}" destId="{6D5BD9BD-D543-43E7-8776-8BDF0E5AC457}" srcOrd="1" destOrd="0" presId="urn:microsoft.com/office/officeart/2005/8/layout/vProcess5"/>
    <dgm:cxn modelId="{71F1CC84-F3D6-4C68-B299-E03CEE533974}" type="presOf" srcId="{7EBE54D7-2B93-4231-B946-67CB5D3A2445}" destId="{3F642864-1E07-43A7-BD96-14729E66E53D}" srcOrd="0" destOrd="0" presId="urn:microsoft.com/office/officeart/2005/8/layout/vProcess5"/>
    <dgm:cxn modelId="{00A1A39B-939C-46F4-8D9A-4ADCA658F7D1}" type="presOf" srcId="{27000489-1E4E-4C91-BF76-117D03ED4056}" destId="{64391356-2CB1-4506-9B1F-80A5184AD642}" srcOrd="0" destOrd="0" presId="urn:microsoft.com/office/officeart/2005/8/layout/vProcess5"/>
    <dgm:cxn modelId="{513F9C9F-5C87-4588-BCB7-5F6D48578DB1}" srcId="{5ABDA009-445F-4F6B-9D4F-096C42798AF5}" destId="{34A88580-BEE5-4CB9-9723-B0D06E62D497}" srcOrd="2" destOrd="0" parTransId="{8011B672-9EB5-4B04-9504-87A7EB03C52F}" sibTransId="{60F9E5F0-4518-4DA0-A86F-8D9770803C98}"/>
    <dgm:cxn modelId="{2D4316E7-8BCF-4640-9CE0-B21F9CA34683}" srcId="{5ABDA009-445F-4F6B-9D4F-096C42798AF5}" destId="{7EBE54D7-2B93-4231-B946-67CB5D3A2445}" srcOrd="1" destOrd="0" parTransId="{AD605E84-FB82-43AB-8251-63A2A96A9B72}" sibTransId="{F68B57C8-85EB-4965-9EBB-3D7DDF0BF5D5}"/>
    <dgm:cxn modelId="{6B1B9244-071C-497C-9E49-9CC72E03A76E}" type="presParOf" srcId="{880783B0-CCFC-46FE-AC8A-45E9A6753F4F}" destId="{7ECBE1B1-A41B-40E8-B0F8-9CC38EA08BCB}" srcOrd="0" destOrd="0" presId="urn:microsoft.com/office/officeart/2005/8/layout/vProcess5"/>
    <dgm:cxn modelId="{25F05997-1E60-43EE-A533-9B2729564D40}" type="presParOf" srcId="{880783B0-CCFC-46FE-AC8A-45E9A6753F4F}" destId="{64391356-2CB1-4506-9B1F-80A5184AD642}" srcOrd="1" destOrd="0" presId="urn:microsoft.com/office/officeart/2005/8/layout/vProcess5"/>
    <dgm:cxn modelId="{A92CFD02-54E5-48CF-B5C4-B66E415549B9}" type="presParOf" srcId="{880783B0-CCFC-46FE-AC8A-45E9A6753F4F}" destId="{3F642864-1E07-43A7-BD96-14729E66E53D}" srcOrd="2" destOrd="0" presId="urn:microsoft.com/office/officeart/2005/8/layout/vProcess5"/>
    <dgm:cxn modelId="{D9A39A96-D392-4E19-AF16-0C819A05B63B}" type="presParOf" srcId="{880783B0-CCFC-46FE-AC8A-45E9A6753F4F}" destId="{2B0D409A-5E6C-48EE-BB9E-BE5CF17DC6E7}" srcOrd="3" destOrd="0" presId="urn:microsoft.com/office/officeart/2005/8/layout/vProcess5"/>
    <dgm:cxn modelId="{482BEACF-B386-4258-A479-4F971D7FD806}" type="presParOf" srcId="{880783B0-CCFC-46FE-AC8A-45E9A6753F4F}" destId="{7F586C86-F0DA-4E7A-91C0-66D3B6F8999E}" srcOrd="4" destOrd="0" presId="urn:microsoft.com/office/officeart/2005/8/layout/vProcess5"/>
    <dgm:cxn modelId="{5EC4465B-24AD-46AE-8643-F6833748E031}" type="presParOf" srcId="{880783B0-CCFC-46FE-AC8A-45E9A6753F4F}" destId="{57C355D9-36C6-49D6-AB52-D7D1398A0560}" srcOrd="5" destOrd="0" presId="urn:microsoft.com/office/officeart/2005/8/layout/vProcess5"/>
    <dgm:cxn modelId="{B8E736BD-5628-4E40-8F28-29DA085C80B4}" type="presParOf" srcId="{880783B0-CCFC-46FE-AC8A-45E9A6753F4F}" destId="{0DA6AA5B-D52C-43B8-BD43-FC00F85058B9}" srcOrd="6" destOrd="0" presId="urn:microsoft.com/office/officeart/2005/8/layout/vProcess5"/>
    <dgm:cxn modelId="{DCBDC332-A715-4850-A8E0-032CCC147BDE}" type="presParOf" srcId="{880783B0-CCFC-46FE-AC8A-45E9A6753F4F}" destId="{6D5BD9BD-D543-43E7-8776-8BDF0E5AC457}" srcOrd="7" destOrd="0" presId="urn:microsoft.com/office/officeart/2005/8/layout/vProcess5"/>
    <dgm:cxn modelId="{BDC7C4A6-1EC2-4D24-8444-CABEB6F1A24E}" type="presParOf" srcId="{880783B0-CCFC-46FE-AC8A-45E9A6753F4F}" destId="{A80DA9CE-3722-47A3-B7CD-DE2F664D911D}"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E22EEEA-2653-4F53-825D-B507D85673BD}"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5460815A-0FF8-4C46-93F3-5AB2B35B574A}">
      <dgm:prSet phldr="0"/>
      <dgm:spPr/>
      <dgm:t>
        <a:bodyPr/>
        <a:lstStyle/>
        <a:p>
          <a:pPr>
            <a:lnSpc>
              <a:spcPct val="100000"/>
            </a:lnSpc>
          </a:pPr>
          <a:r>
            <a:rPr lang="en-US" b="0"/>
            <a:t>Flask: Used for building the web application, handling routing, and HTTP requests.</a:t>
          </a:r>
        </a:p>
      </dgm:t>
    </dgm:pt>
    <dgm:pt modelId="{ED376123-1958-4430-AA04-D8D5BAE27054}" type="parTrans" cxnId="{B1DC029B-AF0A-4B95-B689-9B0FB7629854}">
      <dgm:prSet/>
      <dgm:spPr/>
      <dgm:t>
        <a:bodyPr/>
        <a:lstStyle/>
        <a:p>
          <a:endParaRPr lang="en-US"/>
        </a:p>
      </dgm:t>
    </dgm:pt>
    <dgm:pt modelId="{6DC2198F-BC7B-488F-9EF1-542EA3E2A08A}" type="sibTrans" cxnId="{B1DC029B-AF0A-4B95-B689-9B0FB7629854}">
      <dgm:prSet/>
      <dgm:spPr/>
      <dgm:t>
        <a:bodyPr/>
        <a:lstStyle/>
        <a:p>
          <a:endParaRPr lang="en-US"/>
        </a:p>
      </dgm:t>
    </dgm:pt>
    <dgm:pt modelId="{29428947-9E53-4394-8303-D98E005857BD}">
      <dgm:prSet phldr="0"/>
      <dgm:spPr/>
      <dgm:t>
        <a:bodyPr/>
        <a:lstStyle/>
        <a:p>
          <a:pPr>
            <a:lnSpc>
              <a:spcPct val="100000"/>
            </a:lnSpc>
          </a:pPr>
          <a:r>
            <a:rPr lang="en-US"/>
            <a:t>Flask-SocketIO: Enables real-time, bidirectional communication between the server and clients.</a:t>
          </a:r>
        </a:p>
      </dgm:t>
    </dgm:pt>
    <dgm:pt modelId="{5235D3DF-605C-41EC-931F-DA7430C69559}" type="parTrans" cxnId="{F75C745B-E999-41E7-A98F-E03FA389D8C5}">
      <dgm:prSet/>
      <dgm:spPr/>
      <dgm:t>
        <a:bodyPr/>
        <a:lstStyle/>
        <a:p>
          <a:endParaRPr lang="en-US"/>
        </a:p>
      </dgm:t>
    </dgm:pt>
    <dgm:pt modelId="{769D7F74-DDAE-420F-BDD4-FEBA0C0DDE25}" type="sibTrans" cxnId="{F75C745B-E999-41E7-A98F-E03FA389D8C5}">
      <dgm:prSet/>
      <dgm:spPr/>
      <dgm:t>
        <a:bodyPr/>
        <a:lstStyle/>
        <a:p>
          <a:endParaRPr lang="en-US"/>
        </a:p>
      </dgm:t>
    </dgm:pt>
    <dgm:pt modelId="{E59E6FB9-8C2B-4F29-A0A0-ADD1D85891C0}">
      <dgm:prSet phldr="0"/>
      <dgm:spPr/>
      <dgm:t>
        <a:bodyPr/>
        <a:lstStyle/>
        <a:p>
          <a:pPr>
            <a:lnSpc>
              <a:spcPct val="100000"/>
            </a:lnSpc>
          </a:pPr>
          <a:r>
            <a:rPr lang="en-US"/>
            <a:t>Flask-Login: Manages user sessions and ensures authentication for protected routes.</a:t>
          </a:r>
          <a:endParaRPr lang="en-US">
            <a:latin typeface="Avenir Next LT Pro"/>
          </a:endParaRPr>
        </a:p>
      </dgm:t>
    </dgm:pt>
    <dgm:pt modelId="{A9F81834-0326-4936-BB58-41641E7DB97E}" type="parTrans" cxnId="{34966367-A98A-4753-AB56-0E83086DA5A6}">
      <dgm:prSet/>
      <dgm:spPr/>
    </dgm:pt>
    <dgm:pt modelId="{7B6BC106-DCD4-4C11-B025-705F79569993}" type="sibTrans" cxnId="{34966367-A98A-4753-AB56-0E83086DA5A6}">
      <dgm:prSet/>
      <dgm:spPr/>
    </dgm:pt>
    <dgm:pt modelId="{E775063D-8DB8-43CA-9A83-BF974F7439A5}">
      <dgm:prSet phldr="0"/>
      <dgm:spPr/>
      <dgm:t>
        <a:bodyPr/>
        <a:lstStyle/>
        <a:p>
          <a:pPr>
            <a:lnSpc>
              <a:spcPct val="100000"/>
            </a:lnSpc>
          </a:pPr>
          <a:r>
            <a:rPr lang="en-US"/>
            <a:t>OAuth2 with </a:t>
          </a:r>
          <a:r>
            <a:rPr lang="en-US">
              <a:latin typeface="Consolas"/>
            </a:rPr>
            <a:t>requests_oauthlib</a:t>
          </a:r>
          <a:r>
            <a:rPr lang="en-US"/>
            <a:t>: Integrates Google OAuth for secure login.</a:t>
          </a:r>
          <a:endParaRPr lang="en-US">
            <a:latin typeface="Avenir Next LT Pro"/>
          </a:endParaRPr>
        </a:p>
      </dgm:t>
    </dgm:pt>
    <dgm:pt modelId="{AF5C5A1E-9ADB-4F43-B1FE-D62551A4E423}" type="parTrans" cxnId="{F6E9C70B-1D39-4A55-B1E4-5B93EC69C96E}">
      <dgm:prSet/>
      <dgm:spPr/>
    </dgm:pt>
    <dgm:pt modelId="{B699FEB1-5F12-4E2F-9F89-2C153F300330}" type="sibTrans" cxnId="{F6E9C70B-1D39-4A55-B1E4-5B93EC69C96E}">
      <dgm:prSet/>
      <dgm:spPr/>
    </dgm:pt>
    <dgm:pt modelId="{79D2B634-9031-45EC-AAD9-2A4D83ABBB9C}">
      <dgm:prSet phldr="0"/>
      <dgm:spPr/>
      <dgm:t>
        <a:bodyPr/>
        <a:lstStyle/>
        <a:p>
          <a:pPr rtl="0">
            <a:lnSpc>
              <a:spcPct val="100000"/>
            </a:lnSpc>
          </a:pPr>
          <a:r>
            <a:rPr lang="en-US" err="1"/>
            <a:t>Paramiko</a:t>
          </a:r>
          <a:r>
            <a:rPr lang="en-US"/>
            <a:t>: Provides SSH functionalities to control remote servers.</a:t>
          </a:r>
          <a:r>
            <a:rPr lang="en-US">
              <a:latin typeface="Avenir Next LT Pro"/>
            </a:rPr>
            <a:t> </a:t>
          </a:r>
          <a:r>
            <a:rPr lang="en-US" err="1"/>
            <a:t>Proxmox</a:t>
          </a:r>
          <a:r>
            <a:rPr lang="en-US"/>
            <a:t> API</a:t>
          </a:r>
          <a:r>
            <a:rPr lang="en-US">
              <a:latin typeface="Avenir Next LT Pro"/>
            </a:rPr>
            <a:t>,</a:t>
          </a:r>
          <a:r>
            <a:rPr lang="en-US"/>
            <a:t> Automates interactions with Proxmox for managing VMs.</a:t>
          </a:r>
        </a:p>
      </dgm:t>
    </dgm:pt>
    <dgm:pt modelId="{7262E3BE-CF87-4D6E-B3DD-33DEF11133E9}" type="parTrans" cxnId="{1B4BB2F6-E590-4490-9289-30B6A5B317AD}">
      <dgm:prSet/>
      <dgm:spPr/>
    </dgm:pt>
    <dgm:pt modelId="{9B7EF52F-DFF6-4C17-9162-99BCEF2DA098}" type="sibTrans" cxnId="{1B4BB2F6-E590-4490-9289-30B6A5B317AD}">
      <dgm:prSet/>
      <dgm:spPr/>
    </dgm:pt>
    <dgm:pt modelId="{ABA9B106-7BC7-4969-AE3D-2931E2114994}">
      <dgm:prSet phldr="0"/>
      <dgm:spPr/>
      <dgm:t>
        <a:bodyPr/>
        <a:lstStyle/>
        <a:p>
          <a:pPr rtl="0">
            <a:lnSpc>
              <a:spcPct val="100000"/>
            </a:lnSpc>
          </a:pPr>
          <a:r>
            <a:rPr lang="en-US" err="1">
              <a:latin typeface="Consolas"/>
            </a:rPr>
            <a:t>Dotenv</a:t>
          </a:r>
          <a:r>
            <a:rPr lang="en-US">
              <a:latin typeface="Consolas"/>
            </a:rPr>
            <a:t> and configparser</a:t>
          </a:r>
          <a:r>
            <a:rPr lang="en-US"/>
            <a:t>: Reads and manages configuration details (e.g., </a:t>
          </a:r>
          <a:r>
            <a:rPr lang="en-US" err="1"/>
            <a:t>Proxmox</a:t>
          </a:r>
          <a:r>
            <a:rPr lang="en-US"/>
            <a:t> API credentials).</a:t>
          </a:r>
          <a:endParaRPr lang="en-US">
            <a:latin typeface="Avenir Next LT Pro"/>
          </a:endParaRPr>
        </a:p>
      </dgm:t>
    </dgm:pt>
    <dgm:pt modelId="{B82210FA-2648-4FFC-91A4-50996DB47F01}" type="parTrans" cxnId="{37098B4C-52D4-417D-AADD-72E76821DEFF}">
      <dgm:prSet/>
      <dgm:spPr/>
    </dgm:pt>
    <dgm:pt modelId="{38E4278D-C794-4DD7-BF48-2511F3B86096}" type="sibTrans" cxnId="{37098B4C-52D4-417D-AADD-72E76821DEFF}">
      <dgm:prSet/>
      <dgm:spPr/>
    </dgm:pt>
    <dgm:pt modelId="{3065E0D5-92F9-493D-84CE-381A3880965D}" type="pres">
      <dgm:prSet presAssocID="{5E22EEEA-2653-4F53-825D-B507D85673BD}" presName="root" presStyleCnt="0">
        <dgm:presLayoutVars>
          <dgm:dir/>
          <dgm:resizeHandles val="exact"/>
        </dgm:presLayoutVars>
      </dgm:prSet>
      <dgm:spPr/>
    </dgm:pt>
    <dgm:pt modelId="{23B610E8-1E39-4B88-A12A-AF578D951B4B}" type="pres">
      <dgm:prSet presAssocID="{5460815A-0FF8-4C46-93F3-5AB2B35B574A}" presName="compNode" presStyleCnt="0"/>
      <dgm:spPr/>
    </dgm:pt>
    <dgm:pt modelId="{42563F37-71DC-4F4F-B23D-F6D73E1C80B6}" type="pres">
      <dgm:prSet presAssocID="{5460815A-0FF8-4C46-93F3-5AB2B35B574A}" presName="bgRect" presStyleLbl="bgShp" presStyleIdx="0" presStyleCnt="6"/>
      <dgm:spPr/>
    </dgm:pt>
    <dgm:pt modelId="{677F928D-E684-4D3A-B26E-5C43A76311F2}" type="pres">
      <dgm:prSet presAssocID="{5460815A-0FF8-4C46-93F3-5AB2B35B574A}"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ools"/>
        </a:ext>
      </dgm:extLst>
    </dgm:pt>
    <dgm:pt modelId="{2C2B2E3D-1CD2-4305-89C4-3F750D3CDEC2}" type="pres">
      <dgm:prSet presAssocID="{5460815A-0FF8-4C46-93F3-5AB2B35B574A}" presName="spaceRect" presStyleCnt="0"/>
      <dgm:spPr/>
    </dgm:pt>
    <dgm:pt modelId="{600DAB8A-CDC4-493A-BABC-274796E05331}" type="pres">
      <dgm:prSet presAssocID="{5460815A-0FF8-4C46-93F3-5AB2B35B574A}" presName="parTx" presStyleLbl="revTx" presStyleIdx="0" presStyleCnt="6">
        <dgm:presLayoutVars>
          <dgm:chMax val="0"/>
          <dgm:chPref val="0"/>
        </dgm:presLayoutVars>
      </dgm:prSet>
      <dgm:spPr/>
    </dgm:pt>
    <dgm:pt modelId="{F3CFC077-B07C-45C2-8D69-B917998CA07D}" type="pres">
      <dgm:prSet presAssocID="{6DC2198F-BC7B-488F-9EF1-542EA3E2A08A}" presName="sibTrans" presStyleCnt="0"/>
      <dgm:spPr/>
    </dgm:pt>
    <dgm:pt modelId="{6E5D56E5-2B48-45B3-A16E-41E6575B2D13}" type="pres">
      <dgm:prSet presAssocID="{29428947-9E53-4394-8303-D98E005857BD}" presName="compNode" presStyleCnt="0"/>
      <dgm:spPr/>
    </dgm:pt>
    <dgm:pt modelId="{87B4B71E-4283-4E54-97E2-9DEA28A6768B}" type="pres">
      <dgm:prSet presAssocID="{29428947-9E53-4394-8303-D98E005857BD}" presName="bgRect" presStyleLbl="bgShp" presStyleIdx="1" presStyleCnt="6"/>
      <dgm:spPr/>
    </dgm:pt>
    <dgm:pt modelId="{5C4F4F21-9160-4EE9-9AE2-FB6C47026F0A}" type="pres">
      <dgm:prSet presAssocID="{29428947-9E53-4394-8303-D98E005857BD}"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C3C5FDFC-AB9E-4A0D-9B11-0D024C6EC161}" type="pres">
      <dgm:prSet presAssocID="{29428947-9E53-4394-8303-D98E005857BD}" presName="spaceRect" presStyleCnt="0"/>
      <dgm:spPr/>
    </dgm:pt>
    <dgm:pt modelId="{2DF35AED-84A8-4768-B6AB-7533F6DB09BD}" type="pres">
      <dgm:prSet presAssocID="{29428947-9E53-4394-8303-D98E005857BD}" presName="parTx" presStyleLbl="revTx" presStyleIdx="1" presStyleCnt="6">
        <dgm:presLayoutVars>
          <dgm:chMax val="0"/>
          <dgm:chPref val="0"/>
        </dgm:presLayoutVars>
      </dgm:prSet>
      <dgm:spPr/>
    </dgm:pt>
    <dgm:pt modelId="{896A8351-E251-486B-8887-808B9F7303EC}" type="pres">
      <dgm:prSet presAssocID="{769D7F74-DDAE-420F-BDD4-FEBA0C0DDE25}" presName="sibTrans" presStyleCnt="0"/>
      <dgm:spPr/>
    </dgm:pt>
    <dgm:pt modelId="{2B79D088-FAE9-4D4E-B2F4-5533D9E3DF31}" type="pres">
      <dgm:prSet presAssocID="{E59E6FB9-8C2B-4F29-A0A0-ADD1D85891C0}" presName="compNode" presStyleCnt="0"/>
      <dgm:spPr/>
    </dgm:pt>
    <dgm:pt modelId="{E08A5879-DA56-4402-AF01-719A45D9A0E2}" type="pres">
      <dgm:prSet presAssocID="{E59E6FB9-8C2B-4F29-A0A0-ADD1D85891C0}" presName="bgRect" presStyleLbl="bgShp" presStyleIdx="2" presStyleCnt="6"/>
      <dgm:spPr/>
    </dgm:pt>
    <dgm:pt modelId="{A7641FF3-A7E5-4FB0-AABD-703B9258D9EE}" type="pres">
      <dgm:prSet presAssocID="{E59E6FB9-8C2B-4F29-A0A0-ADD1D85891C0}" presName="iconRect" presStyleLbl="node1" presStyleIdx="2" presStyleCnt="6"/>
      <dgm:spPr/>
    </dgm:pt>
    <dgm:pt modelId="{A63E6CD6-582F-420B-830D-B61346E05367}" type="pres">
      <dgm:prSet presAssocID="{E59E6FB9-8C2B-4F29-A0A0-ADD1D85891C0}" presName="spaceRect" presStyleCnt="0"/>
      <dgm:spPr/>
    </dgm:pt>
    <dgm:pt modelId="{AF29AFFE-DE0D-4253-BF65-BC028CA50E3E}" type="pres">
      <dgm:prSet presAssocID="{E59E6FB9-8C2B-4F29-A0A0-ADD1D85891C0}" presName="parTx" presStyleLbl="revTx" presStyleIdx="2" presStyleCnt="6">
        <dgm:presLayoutVars>
          <dgm:chMax val="0"/>
          <dgm:chPref val="0"/>
        </dgm:presLayoutVars>
      </dgm:prSet>
      <dgm:spPr/>
    </dgm:pt>
    <dgm:pt modelId="{435BC025-A187-43FA-8586-33D95EAA86B6}" type="pres">
      <dgm:prSet presAssocID="{7B6BC106-DCD4-4C11-B025-705F79569993}" presName="sibTrans" presStyleCnt="0"/>
      <dgm:spPr/>
    </dgm:pt>
    <dgm:pt modelId="{19809D37-7153-441F-95D0-B895F8887267}" type="pres">
      <dgm:prSet presAssocID="{E775063D-8DB8-43CA-9A83-BF974F7439A5}" presName="compNode" presStyleCnt="0"/>
      <dgm:spPr/>
    </dgm:pt>
    <dgm:pt modelId="{6E9AEAF6-A05B-4AAB-89C4-B8ADFA1B7C35}" type="pres">
      <dgm:prSet presAssocID="{E775063D-8DB8-43CA-9A83-BF974F7439A5}" presName="bgRect" presStyleLbl="bgShp" presStyleIdx="3" presStyleCnt="6"/>
      <dgm:spPr/>
    </dgm:pt>
    <dgm:pt modelId="{40ED81A1-5B68-4F28-903A-5E91567A49C8}" type="pres">
      <dgm:prSet presAssocID="{E775063D-8DB8-43CA-9A83-BF974F7439A5}" presName="iconRect" presStyleLbl="node1" presStyleIdx="3" presStyleCnt="6"/>
      <dgm:spPr/>
    </dgm:pt>
    <dgm:pt modelId="{3320CB73-A79D-4B1E-9996-330430E6EDDC}" type="pres">
      <dgm:prSet presAssocID="{E775063D-8DB8-43CA-9A83-BF974F7439A5}" presName="spaceRect" presStyleCnt="0"/>
      <dgm:spPr/>
    </dgm:pt>
    <dgm:pt modelId="{0035EF28-B607-4E75-BD9A-47BD3D61E738}" type="pres">
      <dgm:prSet presAssocID="{E775063D-8DB8-43CA-9A83-BF974F7439A5}" presName="parTx" presStyleLbl="revTx" presStyleIdx="3" presStyleCnt="6">
        <dgm:presLayoutVars>
          <dgm:chMax val="0"/>
          <dgm:chPref val="0"/>
        </dgm:presLayoutVars>
      </dgm:prSet>
      <dgm:spPr/>
    </dgm:pt>
    <dgm:pt modelId="{0A5098FE-E25E-4F93-A99C-A042312BC45D}" type="pres">
      <dgm:prSet presAssocID="{B699FEB1-5F12-4E2F-9F89-2C153F300330}" presName="sibTrans" presStyleCnt="0"/>
      <dgm:spPr/>
    </dgm:pt>
    <dgm:pt modelId="{287EF922-5D0B-4645-8456-C720A394DF49}" type="pres">
      <dgm:prSet presAssocID="{ABA9B106-7BC7-4969-AE3D-2931E2114994}" presName="compNode" presStyleCnt="0"/>
      <dgm:spPr/>
    </dgm:pt>
    <dgm:pt modelId="{9BA2199A-5665-4231-80DA-BE6BDB04E40A}" type="pres">
      <dgm:prSet presAssocID="{ABA9B106-7BC7-4969-AE3D-2931E2114994}" presName="bgRect" presStyleLbl="bgShp" presStyleIdx="4" presStyleCnt="6"/>
      <dgm:spPr/>
    </dgm:pt>
    <dgm:pt modelId="{D952A09B-B021-4919-9BCA-AC669CC6D386}" type="pres">
      <dgm:prSet presAssocID="{ABA9B106-7BC7-4969-AE3D-2931E2114994}" presName="iconRect" presStyleLbl="node1" presStyleIdx="4" presStyleCnt="6"/>
      <dgm:spPr/>
    </dgm:pt>
    <dgm:pt modelId="{DE219D03-EA29-4EF3-8083-67EEA8A4A351}" type="pres">
      <dgm:prSet presAssocID="{ABA9B106-7BC7-4969-AE3D-2931E2114994}" presName="spaceRect" presStyleCnt="0"/>
      <dgm:spPr/>
    </dgm:pt>
    <dgm:pt modelId="{129B4E73-DE9E-4328-B06E-EE0AC60CA939}" type="pres">
      <dgm:prSet presAssocID="{ABA9B106-7BC7-4969-AE3D-2931E2114994}" presName="parTx" presStyleLbl="revTx" presStyleIdx="4" presStyleCnt="6">
        <dgm:presLayoutVars>
          <dgm:chMax val="0"/>
          <dgm:chPref val="0"/>
        </dgm:presLayoutVars>
      </dgm:prSet>
      <dgm:spPr/>
    </dgm:pt>
    <dgm:pt modelId="{80EB4372-928A-450C-AEA8-B994D95C1772}" type="pres">
      <dgm:prSet presAssocID="{38E4278D-C794-4DD7-BF48-2511F3B86096}" presName="sibTrans" presStyleCnt="0"/>
      <dgm:spPr/>
    </dgm:pt>
    <dgm:pt modelId="{0B325CE9-A77D-4CD7-8AB3-6685817DE946}" type="pres">
      <dgm:prSet presAssocID="{79D2B634-9031-45EC-AAD9-2A4D83ABBB9C}" presName="compNode" presStyleCnt="0"/>
      <dgm:spPr/>
    </dgm:pt>
    <dgm:pt modelId="{571FC771-CBD4-46B9-842A-26661C1742B5}" type="pres">
      <dgm:prSet presAssocID="{79D2B634-9031-45EC-AAD9-2A4D83ABBB9C}" presName="bgRect" presStyleLbl="bgShp" presStyleIdx="5" presStyleCnt="6"/>
      <dgm:spPr/>
    </dgm:pt>
    <dgm:pt modelId="{5E310BCD-C9E3-4B88-AC12-0B90059BE0E1}" type="pres">
      <dgm:prSet presAssocID="{79D2B634-9031-45EC-AAD9-2A4D83ABBB9C}" presName="iconRect" presStyleLbl="node1" presStyleIdx="5" presStyleCnt="6"/>
      <dgm:spPr/>
    </dgm:pt>
    <dgm:pt modelId="{52933483-E60F-4694-8BEB-3F211880FFC2}" type="pres">
      <dgm:prSet presAssocID="{79D2B634-9031-45EC-AAD9-2A4D83ABBB9C}" presName="spaceRect" presStyleCnt="0"/>
      <dgm:spPr/>
    </dgm:pt>
    <dgm:pt modelId="{0B762A21-CAED-49AD-859A-1375C1C25123}" type="pres">
      <dgm:prSet presAssocID="{79D2B634-9031-45EC-AAD9-2A4D83ABBB9C}" presName="parTx" presStyleLbl="revTx" presStyleIdx="5" presStyleCnt="6">
        <dgm:presLayoutVars>
          <dgm:chMax val="0"/>
          <dgm:chPref val="0"/>
        </dgm:presLayoutVars>
      </dgm:prSet>
      <dgm:spPr/>
    </dgm:pt>
  </dgm:ptLst>
  <dgm:cxnLst>
    <dgm:cxn modelId="{F6E9C70B-1D39-4A55-B1E4-5B93EC69C96E}" srcId="{5E22EEEA-2653-4F53-825D-B507D85673BD}" destId="{E775063D-8DB8-43CA-9A83-BF974F7439A5}" srcOrd="3" destOrd="0" parTransId="{AF5C5A1E-9ADB-4F43-B1FE-D62551A4E423}" sibTransId="{B699FEB1-5F12-4E2F-9F89-2C153F300330}"/>
    <dgm:cxn modelId="{63B26526-DF9B-4138-A0A1-3D4EE94C21AF}" type="presOf" srcId="{5460815A-0FF8-4C46-93F3-5AB2B35B574A}" destId="{600DAB8A-CDC4-493A-BABC-274796E05331}" srcOrd="0" destOrd="0" presId="urn:microsoft.com/office/officeart/2018/2/layout/IconVerticalSolidList"/>
    <dgm:cxn modelId="{F75C745B-E999-41E7-A98F-E03FA389D8C5}" srcId="{5E22EEEA-2653-4F53-825D-B507D85673BD}" destId="{29428947-9E53-4394-8303-D98E005857BD}" srcOrd="1" destOrd="0" parTransId="{5235D3DF-605C-41EC-931F-DA7430C69559}" sibTransId="{769D7F74-DDAE-420F-BDD4-FEBA0C0DDE25}"/>
    <dgm:cxn modelId="{B8B56A43-CC34-4DC4-9B2A-1817B902E7FC}" type="presOf" srcId="{ABA9B106-7BC7-4969-AE3D-2931E2114994}" destId="{129B4E73-DE9E-4328-B06E-EE0AC60CA939}" srcOrd="0" destOrd="0" presId="urn:microsoft.com/office/officeart/2018/2/layout/IconVerticalSolidList"/>
    <dgm:cxn modelId="{34966367-A98A-4753-AB56-0E83086DA5A6}" srcId="{5E22EEEA-2653-4F53-825D-B507D85673BD}" destId="{E59E6FB9-8C2B-4F29-A0A0-ADD1D85891C0}" srcOrd="2" destOrd="0" parTransId="{A9F81834-0326-4936-BB58-41641E7DB97E}" sibTransId="{7B6BC106-DCD4-4C11-B025-705F79569993}"/>
    <dgm:cxn modelId="{41503969-D873-4FFF-BA68-6FF4914A11E6}" type="presOf" srcId="{5E22EEEA-2653-4F53-825D-B507D85673BD}" destId="{3065E0D5-92F9-493D-84CE-381A3880965D}" srcOrd="0" destOrd="0" presId="urn:microsoft.com/office/officeart/2018/2/layout/IconVerticalSolidList"/>
    <dgm:cxn modelId="{37098B4C-52D4-417D-AADD-72E76821DEFF}" srcId="{5E22EEEA-2653-4F53-825D-B507D85673BD}" destId="{ABA9B106-7BC7-4969-AE3D-2931E2114994}" srcOrd="4" destOrd="0" parTransId="{B82210FA-2648-4FFC-91A4-50996DB47F01}" sibTransId="{38E4278D-C794-4DD7-BF48-2511F3B86096}"/>
    <dgm:cxn modelId="{B1DC029B-AF0A-4B95-B689-9B0FB7629854}" srcId="{5E22EEEA-2653-4F53-825D-B507D85673BD}" destId="{5460815A-0FF8-4C46-93F3-5AB2B35B574A}" srcOrd="0" destOrd="0" parTransId="{ED376123-1958-4430-AA04-D8D5BAE27054}" sibTransId="{6DC2198F-BC7B-488F-9EF1-542EA3E2A08A}"/>
    <dgm:cxn modelId="{7E2D229B-C06E-4D8B-8CE4-AEC52ECFD5CB}" type="presOf" srcId="{29428947-9E53-4394-8303-D98E005857BD}" destId="{2DF35AED-84A8-4768-B6AB-7533F6DB09BD}" srcOrd="0" destOrd="0" presId="urn:microsoft.com/office/officeart/2018/2/layout/IconVerticalSolidList"/>
    <dgm:cxn modelId="{B11BF7A2-E737-4F4C-BC70-4766145FC356}" type="presOf" srcId="{79D2B634-9031-45EC-AAD9-2A4D83ABBB9C}" destId="{0B762A21-CAED-49AD-859A-1375C1C25123}" srcOrd="0" destOrd="0" presId="urn:microsoft.com/office/officeart/2018/2/layout/IconVerticalSolidList"/>
    <dgm:cxn modelId="{3EEA6BA7-C0FC-409E-A9EB-6C9207C2B58C}" type="presOf" srcId="{E59E6FB9-8C2B-4F29-A0A0-ADD1D85891C0}" destId="{AF29AFFE-DE0D-4253-BF65-BC028CA50E3E}" srcOrd="0" destOrd="0" presId="urn:microsoft.com/office/officeart/2018/2/layout/IconVerticalSolidList"/>
    <dgm:cxn modelId="{611557D3-742A-4CBC-BB2C-E5CDF99E52F4}" type="presOf" srcId="{E775063D-8DB8-43CA-9A83-BF974F7439A5}" destId="{0035EF28-B607-4E75-BD9A-47BD3D61E738}" srcOrd="0" destOrd="0" presId="urn:microsoft.com/office/officeart/2018/2/layout/IconVerticalSolidList"/>
    <dgm:cxn modelId="{1B4BB2F6-E590-4490-9289-30B6A5B317AD}" srcId="{5E22EEEA-2653-4F53-825D-B507D85673BD}" destId="{79D2B634-9031-45EC-AAD9-2A4D83ABBB9C}" srcOrd="5" destOrd="0" parTransId="{7262E3BE-CF87-4D6E-B3DD-33DEF11133E9}" sibTransId="{9B7EF52F-DFF6-4C17-9162-99BCEF2DA098}"/>
    <dgm:cxn modelId="{1093EA41-9FF9-4E5C-9E43-12D771E6CAE9}" type="presParOf" srcId="{3065E0D5-92F9-493D-84CE-381A3880965D}" destId="{23B610E8-1E39-4B88-A12A-AF578D951B4B}" srcOrd="0" destOrd="0" presId="urn:microsoft.com/office/officeart/2018/2/layout/IconVerticalSolidList"/>
    <dgm:cxn modelId="{7E2C8DC3-A471-4328-9C71-635944B7DA5E}" type="presParOf" srcId="{23B610E8-1E39-4B88-A12A-AF578D951B4B}" destId="{42563F37-71DC-4F4F-B23D-F6D73E1C80B6}" srcOrd="0" destOrd="0" presId="urn:microsoft.com/office/officeart/2018/2/layout/IconVerticalSolidList"/>
    <dgm:cxn modelId="{7490062E-6AFA-45AD-9E1B-ECC1837168FD}" type="presParOf" srcId="{23B610E8-1E39-4B88-A12A-AF578D951B4B}" destId="{677F928D-E684-4D3A-B26E-5C43A76311F2}" srcOrd="1" destOrd="0" presId="urn:microsoft.com/office/officeart/2018/2/layout/IconVerticalSolidList"/>
    <dgm:cxn modelId="{9E987398-1E32-44D9-8A44-063A6AB3E962}" type="presParOf" srcId="{23B610E8-1E39-4B88-A12A-AF578D951B4B}" destId="{2C2B2E3D-1CD2-4305-89C4-3F750D3CDEC2}" srcOrd="2" destOrd="0" presId="urn:microsoft.com/office/officeart/2018/2/layout/IconVerticalSolidList"/>
    <dgm:cxn modelId="{0ECD079E-62C6-4A75-A774-12BB21007280}" type="presParOf" srcId="{23B610E8-1E39-4B88-A12A-AF578D951B4B}" destId="{600DAB8A-CDC4-493A-BABC-274796E05331}" srcOrd="3" destOrd="0" presId="urn:microsoft.com/office/officeart/2018/2/layout/IconVerticalSolidList"/>
    <dgm:cxn modelId="{985642CD-C1EB-49F8-A05A-E1A8471824A9}" type="presParOf" srcId="{3065E0D5-92F9-493D-84CE-381A3880965D}" destId="{F3CFC077-B07C-45C2-8D69-B917998CA07D}" srcOrd="1" destOrd="0" presId="urn:microsoft.com/office/officeart/2018/2/layout/IconVerticalSolidList"/>
    <dgm:cxn modelId="{2B4BCAAA-DCE2-4A9E-BA2C-AEF493517A70}" type="presParOf" srcId="{3065E0D5-92F9-493D-84CE-381A3880965D}" destId="{6E5D56E5-2B48-45B3-A16E-41E6575B2D13}" srcOrd="2" destOrd="0" presId="urn:microsoft.com/office/officeart/2018/2/layout/IconVerticalSolidList"/>
    <dgm:cxn modelId="{2DD87A21-7B7E-483C-9C32-5CC7636CE563}" type="presParOf" srcId="{6E5D56E5-2B48-45B3-A16E-41E6575B2D13}" destId="{87B4B71E-4283-4E54-97E2-9DEA28A6768B}" srcOrd="0" destOrd="0" presId="urn:microsoft.com/office/officeart/2018/2/layout/IconVerticalSolidList"/>
    <dgm:cxn modelId="{7D68DF29-C067-4C3E-9031-0980A03E01D4}" type="presParOf" srcId="{6E5D56E5-2B48-45B3-A16E-41E6575B2D13}" destId="{5C4F4F21-9160-4EE9-9AE2-FB6C47026F0A}" srcOrd="1" destOrd="0" presId="urn:microsoft.com/office/officeart/2018/2/layout/IconVerticalSolidList"/>
    <dgm:cxn modelId="{A07FBDE4-733F-4498-B874-1CABA198F0A0}" type="presParOf" srcId="{6E5D56E5-2B48-45B3-A16E-41E6575B2D13}" destId="{C3C5FDFC-AB9E-4A0D-9B11-0D024C6EC161}" srcOrd="2" destOrd="0" presId="urn:microsoft.com/office/officeart/2018/2/layout/IconVerticalSolidList"/>
    <dgm:cxn modelId="{ABD002A7-440D-46FF-83AB-6DAA98E695BB}" type="presParOf" srcId="{6E5D56E5-2B48-45B3-A16E-41E6575B2D13}" destId="{2DF35AED-84A8-4768-B6AB-7533F6DB09BD}" srcOrd="3" destOrd="0" presId="urn:microsoft.com/office/officeart/2018/2/layout/IconVerticalSolidList"/>
    <dgm:cxn modelId="{EFA8C8E4-B009-4DFB-9A31-09B8EC2674FA}" type="presParOf" srcId="{3065E0D5-92F9-493D-84CE-381A3880965D}" destId="{896A8351-E251-486B-8887-808B9F7303EC}" srcOrd="3" destOrd="0" presId="urn:microsoft.com/office/officeart/2018/2/layout/IconVerticalSolidList"/>
    <dgm:cxn modelId="{4FB33567-A041-424D-B84D-05FCCD41D1C7}" type="presParOf" srcId="{3065E0D5-92F9-493D-84CE-381A3880965D}" destId="{2B79D088-FAE9-4D4E-B2F4-5533D9E3DF31}" srcOrd="4" destOrd="0" presId="urn:microsoft.com/office/officeart/2018/2/layout/IconVerticalSolidList"/>
    <dgm:cxn modelId="{AB043EF3-A40F-4D74-91DC-74C6B39FA91F}" type="presParOf" srcId="{2B79D088-FAE9-4D4E-B2F4-5533D9E3DF31}" destId="{E08A5879-DA56-4402-AF01-719A45D9A0E2}" srcOrd="0" destOrd="0" presId="urn:microsoft.com/office/officeart/2018/2/layout/IconVerticalSolidList"/>
    <dgm:cxn modelId="{C8A1CEB5-B22F-4431-B57F-C9DD107C9F5B}" type="presParOf" srcId="{2B79D088-FAE9-4D4E-B2F4-5533D9E3DF31}" destId="{A7641FF3-A7E5-4FB0-AABD-703B9258D9EE}" srcOrd="1" destOrd="0" presId="urn:microsoft.com/office/officeart/2018/2/layout/IconVerticalSolidList"/>
    <dgm:cxn modelId="{2EE2CA33-CC3E-4C0A-89A1-37A1345B006C}" type="presParOf" srcId="{2B79D088-FAE9-4D4E-B2F4-5533D9E3DF31}" destId="{A63E6CD6-582F-420B-830D-B61346E05367}" srcOrd="2" destOrd="0" presId="urn:microsoft.com/office/officeart/2018/2/layout/IconVerticalSolidList"/>
    <dgm:cxn modelId="{5B36E43E-2BB2-42AE-9FD3-C7235369DCCE}" type="presParOf" srcId="{2B79D088-FAE9-4D4E-B2F4-5533D9E3DF31}" destId="{AF29AFFE-DE0D-4253-BF65-BC028CA50E3E}" srcOrd="3" destOrd="0" presId="urn:microsoft.com/office/officeart/2018/2/layout/IconVerticalSolidList"/>
    <dgm:cxn modelId="{DFD220E4-DED6-453A-8263-AB580A11217C}" type="presParOf" srcId="{3065E0D5-92F9-493D-84CE-381A3880965D}" destId="{435BC025-A187-43FA-8586-33D95EAA86B6}" srcOrd="5" destOrd="0" presId="urn:microsoft.com/office/officeart/2018/2/layout/IconVerticalSolidList"/>
    <dgm:cxn modelId="{9F0BEF91-3429-4D46-8F5A-D8108B023326}" type="presParOf" srcId="{3065E0D5-92F9-493D-84CE-381A3880965D}" destId="{19809D37-7153-441F-95D0-B895F8887267}" srcOrd="6" destOrd="0" presId="urn:microsoft.com/office/officeart/2018/2/layout/IconVerticalSolidList"/>
    <dgm:cxn modelId="{5444EDCF-35ED-4F65-867F-41681051A588}" type="presParOf" srcId="{19809D37-7153-441F-95D0-B895F8887267}" destId="{6E9AEAF6-A05B-4AAB-89C4-B8ADFA1B7C35}" srcOrd="0" destOrd="0" presId="urn:microsoft.com/office/officeart/2018/2/layout/IconVerticalSolidList"/>
    <dgm:cxn modelId="{FC64F461-0EB0-4D1D-B5EE-0C75FC198431}" type="presParOf" srcId="{19809D37-7153-441F-95D0-B895F8887267}" destId="{40ED81A1-5B68-4F28-903A-5E91567A49C8}" srcOrd="1" destOrd="0" presId="urn:microsoft.com/office/officeart/2018/2/layout/IconVerticalSolidList"/>
    <dgm:cxn modelId="{1A7C214A-35BC-4DE6-82BD-3FABE64981DB}" type="presParOf" srcId="{19809D37-7153-441F-95D0-B895F8887267}" destId="{3320CB73-A79D-4B1E-9996-330430E6EDDC}" srcOrd="2" destOrd="0" presId="urn:microsoft.com/office/officeart/2018/2/layout/IconVerticalSolidList"/>
    <dgm:cxn modelId="{1D482338-9280-49A9-BC19-28F01D5E4E67}" type="presParOf" srcId="{19809D37-7153-441F-95D0-B895F8887267}" destId="{0035EF28-B607-4E75-BD9A-47BD3D61E738}" srcOrd="3" destOrd="0" presId="urn:microsoft.com/office/officeart/2018/2/layout/IconVerticalSolidList"/>
    <dgm:cxn modelId="{70F777C7-0DD4-4AC0-BE35-7474ECEA8CF4}" type="presParOf" srcId="{3065E0D5-92F9-493D-84CE-381A3880965D}" destId="{0A5098FE-E25E-4F93-A99C-A042312BC45D}" srcOrd="7" destOrd="0" presId="urn:microsoft.com/office/officeart/2018/2/layout/IconVerticalSolidList"/>
    <dgm:cxn modelId="{364F04A8-1284-44AA-93C1-65106A35375A}" type="presParOf" srcId="{3065E0D5-92F9-493D-84CE-381A3880965D}" destId="{287EF922-5D0B-4645-8456-C720A394DF49}" srcOrd="8" destOrd="0" presId="urn:microsoft.com/office/officeart/2018/2/layout/IconVerticalSolidList"/>
    <dgm:cxn modelId="{9F2F9FA5-B4CB-4DAF-8833-CCD77A75011E}" type="presParOf" srcId="{287EF922-5D0B-4645-8456-C720A394DF49}" destId="{9BA2199A-5665-4231-80DA-BE6BDB04E40A}" srcOrd="0" destOrd="0" presId="urn:microsoft.com/office/officeart/2018/2/layout/IconVerticalSolidList"/>
    <dgm:cxn modelId="{C84C2B79-74B5-4F46-8766-6A7276B8591C}" type="presParOf" srcId="{287EF922-5D0B-4645-8456-C720A394DF49}" destId="{D952A09B-B021-4919-9BCA-AC669CC6D386}" srcOrd="1" destOrd="0" presId="urn:microsoft.com/office/officeart/2018/2/layout/IconVerticalSolidList"/>
    <dgm:cxn modelId="{022CA7B5-DF02-40BE-8FF7-B1A4B753470C}" type="presParOf" srcId="{287EF922-5D0B-4645-8456-C720A394DF49}" destId="{DE219D03-EA29-4EF3-8083-67EEA8A4A351}" srcOrd="2" destOrd="0" presId="urn:microsoft.com/office/officeart/2018/2/layout/IconVerticalSolidList"/>
    <dgm:cxn modelId="{BC09947B-2F17-42F8-891F-CA2FF30C394C}" type="presParOf" srcId="{287EF922-5D0B-4645-8456-C720A394DF49}" destId="{129B4E73-DE9E-4328-B06E-EE0AC60CA939}" srcOrd="3" destOrd="0" presId="urn:microsoft.com/office/officeart/2018/2/layout/IconVerticalSolidList"/>
    <dgm:cxn modelId="{031D7537-79E1-41BB-9AC0-BC83B076EE54}" type="presParOf" srcId="{3065E0D5-92F9-493D-84CE-381A3880965D}" destId="{80EB4372-928A-450C-AEA8-B994D95C1772}" srcOrd="9" destOrd="0" presId="urn:microsoft.com/office/officeart/2018/2/layout/IconVerticalSolidList"/>
    <dgm:cxn modelId="{A609BFEA-DA76-4D67-A502-B146B850B7EB}" type="presParOf" srcId="{3065E0D5-92F9-493D-84CE-381A3880965D}" destId="{0B325CE9-A77D-4CD7-8AB3-6685817DE946}" srcOrd="10" destOrd="0" presId="urn:microsoft.com/office/officeart/2018/2/layout/IconVerticalSolidList"/>
    <dgm:cxn modelId="{D0C9A270-CC89-49D4-85E9-F034195A760F}" type="presParOf" srcId="{0B325CE9-A77D-4CD7-8AB3-6685817DE946}" destId="{571FC771-CBD4-46B9-842A-26661C1742B5}" srcOrd="0" destOrd="0" presId="urn:microsoft.com/office/officeart/2018/2/layout/IconVerticalSolidList"/>
    <dgm:cxn modelId="{4DC7C9D4-0CAC-440C-85B2-6567A177D765}" type="presParOf" srcId="{0B325CE9-A77D-4CD7-8AB3-6685817DE946}" destId="{5E310BCD-C9E3-4B88-AC12-0B90059BE0E1}" srcOrd="1" destOrd="0" presId="urn:microsoft.com/office/officeart/2018/2/layout/IconVerticalSolidList"/>
    <dgm:cxn modelId="{99C3847A-76E2-4532-9749-3AFB9A3B5154}" type="presParOf" srcId="{0B325CE9-A77D-4CD7-8AB3-6685817DE946}" destId="{52933483-E60F-4694-8BEB-3F211880FFC2}" srcOrd="2" destOrd="0" presId="urn:microsoft.com/office/officeart/2018/2/layout/IconVerticalSolidList"/>
    <dgm:cxn modelId="{F5523E6F-6150-4B15-A1FA-3D7092AEBF0E}" type="presParOf" srcId="{0B325CE9-A77D-4CD7-8AB3-6685817DE946}" destId="{0B762A21-CAED-49AD-859A-1375C1C2512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B1FCC22-503C-4547-9B82-5AB22E655CA5}" type="doc">
      <dgm:prSet loTypeId="urn:microsoft.com/office/officeart/2005/8/layout/list1" loCatId="list" qsTypeId="urn:microsoft.com/office/officeart/2005/8/quickstyle/simple1" qsCatId="simple" csTypeId="urn:microsoft.com/office/officeart/2005/8/colors/accent2_2" csCatId="accent2"/>
      <dgm:spPr/>
      <dgm:t>
        <a:bodyPr/>
        <a:lstStyle/>
        <a:p>
          <a:endParaRPr lang="en-US"/>
        </a:p>
      </dgm:t>
    </dgm:pt>
    <dgm:pt modelId="{98EDDB88-C05C-45AA-8A6F-28441ECC5F33}">
      <dgm:prSet/>
      <dgm:spPr/>
      <dgm:t>
        <a:bodyPr/>
        <a:lstStyle/>
        <a:p>
          <a:r>
            <a:rPr lang="en-US" b="1"/>
            <a:t>User Authentication</a:t>
          </a:r>
          <a:r>
            <a:rPr lang="en-US"/>
            <a:t>:</a:t>
          </a:r>
        </a:p>
      </dgm:t>
    </dgm:pt>
    <dgm:pt modelId="{DCF62C00-245E-4119-839A-230F1F77150D}" type="parTrans" cxnId="{B096ED94-D1CD-43F4-8533-AA6F80042284}">
      <dgm:prSet/>
      <dgm:spPr/>
      <dgm:t>
        <a:bodyPr/>
        <a:lstStyle/>
        <a:p>
          <a:endParaRPr lang="en-US"/>
        </a:p>
      </dgm:t>
    </dgm:pt>
    <dgm:pt modelId="{9A7E7CE2-6F15-4F17-8D40-50B678A90DAD}" type="sibTrans" cxnId="{B096ED94-D1CD-43F4-8533-AA6F80042284}">
      <dgm:prSet/>
      <dgm:spPr/>
      <dgm:t>
        <a:bodyPr/>
        <a:lstStyle/>
        <a:p>
          <a:endParaRPr lang="en-US"/>
        </a:p>
      </dgm:t>
    </dgm:pt>
    <dgm:pt modelId="{91D6F8B2-786D-49FF-B556-D6A31A23416A}">
      <dgm:prSet/>
      <dgm:spPr/>
      <dgm:t>
        <a:bodyPr/>
        <a:lstStyle/>
        <a:p>
          <a:r>
            <a:rPr lang="en-US"/>
            <a:t>Google OAuth2 login and session management.</a:t>
          </a:r>
        </a:p>
      </dgm:t>
    </dgm:pt>
    <dgm:pt modelId="{86F00CAC-D3A2-4EA1-995C-6995EF4D916A}" type="parTrans" cxnId="{7A84CB20-7DCC-4C3E-AA2A-BDF052C48F0B}">
      <dgm:prSet/>
      <dgm:spPr/>
      <dgm:t>
        <a:bodyPr/>
        <a:lstStyle/>
        <a:p>
          <a:endParaRPr lang="en-US"/>
        </a:p>
      </dgm:t>
    </dgm:pt>
    <dgm:pt modelId="{DEE94C10-B1EC-41B1-BE83-5A7B8E0C9D8D}" type="sibTrans" cxnId="{7A84CB20-7DCC-4C3E-AA2A-BDF052C48F0B}">
      <dgm:prSet/>
      <dgm:spPr/>
      <dgm:t>
        <a:bodyPr/>
        <a:lstStyle/>
        <a:p>
          <a:endParaRPr lang="en-US"/>
        </a:p>
      </dgm:t>
    </dgm:pt>
    <dgm:pt modelId="{0BAE955F-2198-460D-9012-89C164890348}">
      <dgm:prSet/>
      <dgm:spPr/>
      <dgm:t>
        <a:bodyPr/>
        <a:lstStyle/>
        <a:p>
          <a:r>
            <a:rPr lang="en-US"/>
            <a:t>Secure token handling with refresh capabilities.</a:t>
          </a:r>
        </a:p>
      </dgm:t>
    </dgm:pt>
    <dgm:pt modelId="{6E943F16-AB6D-4524-9DAF-CF3B76A06E32}" type="parTrans" cxnId="{390679F7-72D7-4539-9870-B38DEC954A2A}">
      <dgm:prSet/>
      <dgm:spPr/>
      <dgm:t>
        <a:bodyPr/>
        <a:lstStyle/>
        <a:p>
          <a:endParaRPr lang="en-US"/>
        </a:p>
      </dgm:t>
    </dgm:pt>
    <dgm:pt modelId="{E7A5FD20-EA1C-4826-B62D-DF3FE2A47D19}" type="sibTrans" cxnId="{390679F7-72D7-4539-9870-B38DEC954A2A}">
      <dgm:prSet/>
      <dgm:spPr/>
      <dgm:t>
        <a:bodyPr/>
        <a:lstStyle/>
        <a:p>
          <a:endParaRPr lang="en-US"/>
        </a:p>
      </dgm:t>
    </dgm:pt>
    <dgm:pt modelId="{F898FB5B-5A08-4D2B-A42E-E661D6655748}">
      <dgm:prSet/>
      <dgm:spPr/>
      <dgm:t>
        <a:bodyPr/>
        <a:lstStyle/>
        <a:p>
          <a:r>
            <a:rPr lang="en-US" b="1"/>
            <a:t>Lab Automation</a:t>
          </a:r>
          <a:r>
            <a:rPr lang="en-US"/>
            <a:t>:</a:t>
          </a:r>
        </a:p>
      </dgm:t>
    </dgm:pt>
    <dgm:pt modelId="{F124378B-F89C-4B90-9AEE-EAFDC59810F1}" type="parTrans" cxnId="{21D7C722-B0C5-43DA-8777-AD8936371434}">
      <dgm:prSet/>
      <dgm:spPr/>
      <dgm:t>
        <a:bodyPr/>
        <a:lstStyle/>
        <a:p>
          <a:endParaRPr lang="en-US"/>
        </a:p>
      </dgm:t>
    </dgm:pt>
    <dgm:pt modelId="{B9A2A4AB-69CA-4945-B51E-36B9347541D8}" type="sibTrans" cxnId="{21D7C722-B0C5-43DA-8777-AD8936371434}">
      <dgm:prSet/>
      <dgm:spPr/>
      <dgm:t>
        <a:bodyPr/>
        <a:lstStyle/>
        <a:p>
          <a:endParaRPr lang="en-US"/>
        </a:p>
      </dgm:t>
    </dgm:pt>
    <dgm:pt modelId="{CD65561E-ED4F-44B9-98CA-F703F3411801}">
      <dgm:prSet/>
      <dgm:spPr/>
      <dgm:t>
        <a:bodyPr/>
        <a:lstStyle/>
        <a:p>
          <a:r>
            <a:rPr lang="en-US"/>
            <a:t>Automates the provisioning and destruction of VMs.</a:t>
          </a:r>
        </a:p>
      </dgm:t>
    </dgm:pt>
    <dgm:pt modelId="{E311C4CE-73D2-4397-AC28-413C8C220AD2}" type="parTrans" cxnId="{47F0734C-144B-43B4-AEB1-5D4CD6FE87A3}">
      <dgm:prSet/>
      <dgm:spPr/>
      <dgm:t>
        <a:bodyPr/>
        <a:lstStyle/>
        <a:p>
          <a:endParaRPr lang="en-US"/>
        </a:p>
      </dgm:t>
    </dgm:pt>
    <dgm:pt modelId="{16765EA2-26D1-48B1-AAE7-E2E37B33862C}" type="sibTrans" cxnId="{47F0734C-144B-43B4-AEB1-5D4CD6FE87A3}">
      <dgm:prSet/>
      <dgm:spPr/>
      <dgm:t>
        <a:bodyPr/>
        <a:lstStyle/>
        <a:p>
          <a:endParaRPr lang="en-US"/>
        </a:p>
      </dgm:t>
    </dgm:pt>
    <dgm:pt modelId="{74459136-FE3D-409F-B3B6-12037CC3669A}">
      <dgm:prSet/>
      <dgm:spPr/>
      <dgm:t>
        <a:bodyPr/>
        <a:lstStyle/>
        <a:p>
          <a:r>
            <a:rPr lang="en-US"/>
            <a:t>Lab scripts (lab_launch.sh, lab_destroy.sh) invoked via SSH to manage environments.</a:t>
          </a:r>
        </a:p>
      </dgm:t>
    </dgm:pt>
    <dgm:pt modelId="{F6F74461-E3F4-448F-8154-6D864A05116B}" type="parTrans" cxnId="{B884590B-EFB0-490F-BFFE-5B634B30A5A4}">
      <dgm:prSet/>
      <dgm:spPr/>
      <dgm:t>
        <a:bodyPr/>
        <a:lstStyle/>
        <a:p>
          <a:endParaRPr lang="en-US"/>
        </a:p>
      </dgm:t>
    </dgm:pt>
    <dgm:pt modelId="{C61EBF8C-0A93-4934-A684-FE61A911F8B9}" type="sibTrans" cxnId="{B884590B-EFB0-490F-BFFE-5B634B30A5A4}">
      <dgm:prSet/>
      <dgm:spPr/>
      <dgm:t>
        <a:bodyPr/>
        <a:lstStyle/>
        <a:p>
          <a:endParaRPr lang="en-US"/>
        </a:p>
      </dgm:t>
    </dgm:pt>
    <dgm:pt modelId="{81DEAC8C-1AF7-4BB3-981B-B98B61AE4BE9}">
      <dgm:prSet/>
      <dgm:spPr/>
      <dgm:t>
        <a:bodyPr/>
        <a:lstStyle/>
        <a:p>
          <a:r>
            <a:rPr lang="en-US" b="1"/>
            <a:t>Real-Time Interaction</a:t>
          </a:r>
          <a:r>
            <a:rPr lang="en-US"/>
            <a:t>:</a:t>
          </a:r>
        </a:p>
      </dgm:t>
    </dgm:pt>
    <dgm:pt modelId="{150A78A9-15A3-47E5-A031-BD700C503B4A}" type="parTrans" cxnId="{3154AB53-1CB0-46C7-95EC-20A1C5D61651}">
      <dgm:prSet/>
      <dgm:spPr/>
      <dgm:t>
        <a:bodyPr/>
        <a:lstStyle/>
        <a:p>
          <a:endParaRPr lang="en-US"/>
        </a:p>
      </dgm:t>
    </dgm:pt>
    <dgm:pt modelId="{58D2B684-CCB9-4BBE-832E-C9FF8A39A038}" type="sibTrans" cxnId="{3154AB53-1CB0-46C7-95EC-20A1C5D61651}">
      <dgm:prSet/>
      <dgm:spPr/>
      <dgm:t>
        <a:bodyPr/>
        <a:lstStyle/>
        <a:p>
          <a:endParaRPr lang="en-US"/>
        </a:p>
      </dgm:t>
    </dgm:pt>
    <dgm:pt modelId="{6F7F59A2-7A88-4F73-9E22-74507AC13550}">
      <dgm:prSet/>
      <dgm:spPr/>
      <dgm:t>
        <a:bodyPr/>
        <a:lstStyle/>
        <a:p>
          <a:r>
            <a:rPr lang="en-US"/>
            <a:t>Integrated support for dynamic user interaction using Flask-SocketIO.</a:t>
          </a:r>
        </a:p>
      </dgm:t>
    </dgm:pt>
    <dgm:pt modelId="{83A8D949-18EB-408D-875D-12944DEF41D0}" type="parTrans" cxnId="{01B33F92-E382-413A-B341-D938EA7AD1CF}">
      <dgm:prSet/>
      <dgm:spPr/>
      <dgm:t>
        <a:bodyPr/>
        <a:lstStyle/>
        <a:p>
          <a:endParaRPr lang="en-US"/>
        </a:p>
      </dgm:t>
    </dgm:pt>
    <dgm:pt modelId="{1AE50825-7845-4B8F-9C02-38718C711DFA}" type="sibTrans" cxnId="{01B33F92-E382-413A-B341-D938EA7AD1CF}">
      <dgm:prSet/>
      <dgm:spPr/>
      <dgm:t>
        <a:bodyPr/>
        <a:lstStyle/>
        <a:p>
          <a:endParaRPr lang="en-US"/>
        </a:p>
      </dgm:t>
    </dgm:pt>
    <dgm:pt modelId="{0396B065-34EB-438F-8C2E-4BCC88442B92}" type="pres">
      <dgm:prSet presAssocID="{7B1FCC22-503C-4547-9B82-5AB22E655CA5}" presName="linear" presStyleCnt="0">
        <dgm:presLayoutVars>
          <dgm:dir/>
          <dgm:animLvl val="lvl"/>
          <dgm:resizeHandles val="exact"/>
        </dgm:presLayoutVars>
      </dgm:prSet>
      <dgm:spPr/>
    </dgm:pt>
    <dgm:pt modelId="{5FB120FD-EBFB-436D-B163-38132C837950}" type="pres">
      <dgm:prSet presAssocID="{98EDDB88-C05C-45AA-8A6F-28441ECC5F33}" presName="parentLin" presStyleCnt="0"/>
      <dgm:spPr/>
    </dgm:pt>
    <dgm:pt modelId="{DC618E6F-E5DB-4C3F-8A8C-AC33F0A92FB4}" type="pres">
      <dgm:prSet presAssocID="{98EDDB88-C05C-45AA-8A6F-28441ECC5F33}" presName="parentLeftMargin" presStyleLbl="node1" presStyleIdx="0" presStyleCnt="3"/>
      <dgm:spPr/>
    </dgm:pt>
    <dgm:pt modelId="{87BBF1EC-EF44-41D0-AC3F-A8D10E945F78}" type="pres">
      <dgm:prSet presAssocID="{98EDDB88-C05C-45AA-8A6F-28441ECC5F33}" presName="parentText" presStyleLbl="node1" presStyleIdx="0" presStyleCnt="3">
        <dgm:presLayoutVars>
          <dgm:chMax val="0"/>
          <dgm:bulletEnabled val="1"/>
        </dgm:presLayoutVars>
      </dgm:prSet>
      <dgm:spPr/>
    </dgm:pt>
    <dgm:pt modelId="{E4F8682C-92FB-404F-9475-19D82ABC7CF0}" type="pres">
      <dgm:prSet presAssocID="{98EDDB88-C05C-45AA-8A6F-28441ECC5F33}" presName="negativeSpace" presStyleCnt="0"/>
      <dgm:spPr/>
    </dgm:pt>
    <dgm:pt modelId="{290D97F5-E571-4BFC-9ADC-2688B7D76D70}" type="pres">
      <dgm:prSet presAssocID="{98EDDB88-C05C-45AA-8A6F-28441ECC5F33}" presName="childText" presStyleLbl="conFgAcc1" presStyleIdx="0" presStyleCnt="3">
        <dgm:presLayoutVars>
          <dgm:bulletEnabled val="1"/>
        </dgm:presLayoutVars>
      </dgm:prSet>
      <dgm:spPr/>
    </dgm:pt>
    <dgm:pt modelId="{0620C91A-C17C-4B9D-8928-098D103AD84C}" type="pres">
      <dgm:prSet presAssocID="{9A7E7CE2-6F15-4F17-8D40-50B678A90DAD}" presName="spaceBetweenRectangles" presStyleCnt="0"/>
      <dgm:spPr/>
    </dgm:pt>
    <dgm:pt modelId="{EA79BFF2-883B-4DCF-A597-7C3D53FCDC04}" type="pres">
      <dgm:prSet presAssocID="{F898FB5B-5A08-4D2B-A42E-E661D6655748}" presName="parentLin" presStyleCnt="0"/>
      <dgm:spPr/>
    </dgm:pt>
    <dgm:pt modelId="{77892968-BB8F-457A-B635-6B0C88679991}" type="pres">
      <dgm:prSet presAssocID="{F898FB5B-5A08-4D2B-A42E-E661D6655748}" presName="parentLeftMargin" presStyleLbl="node1" presStyleIdx="0" presStyleCnt="3"/>
      <dgm:spPr/>
    </dgm:pt>
    <dgm:pt modelId="{DF9C2642-FAA2-475F-B156-E1466B7A1F90}" type="pres">
      <dgm:prSet presAssocID="{F898FB5B-5A08-4D2B-A42E-E661D6655748}" presName="parentText" presStyleLbl="node1" presStyleIdx="1" presStyleCnt="3">
        <dgm:presLayoutVars>
          <dgm:chMax val="0"/>
          <dgm:bulletEnabled val="1"/>
        </dgm:presLayoutVars>
      </dgm:prSet>
      <dgm:spPr/>
    </dgm:pt>
    <dgm:pt modelId="{4902052E-10B3-44FB-B9A1-F515D62EA76A}" type="pres">
      <dgm:prSet presAssocID="{F898FB5B-5A08-4D2B-A42E-E661D6655748}" presName="negativeSpace" presStyleCnt="0"/>
      <dgm:spPr/>
    </dgm:pt>
    <dgm:pt modelId="{B18948EA-16CF-47BC-9D2A-8A1F2B927308}" type="pres">
      <dgm:prSet presAssocID="{F898FB5B-5A08-4D2B-A42E-E661D6655748}" presName="childText" presStyleLbl="conFgAcc1" presStyleIdx="1" presStyleCnt="3">
        <dgm:presLayoutVars>
          <dgm:bulletEnabled val="1"/>
        </dgm:presLayoutVars>
      </dgm:prSet>
      <dgm:spPr/>
    </dgm:pt>
    <dgm:pt modelId="{0C564132-5970-4075-876A-A2FCF5593D9A}" type="pres">
      <dgm:prSet presAssocID="{B9A2A4AB-69CA-4945-B51E-36B9347541D8}" presName="spaceBetweenRectangles" presStyleCnt="0"/>
      <dgm:spPr/>
    </dgm:pt>
    <dgm:pt modelId="{9D81DD22-0A0A-4903-908C-4E3B03F27B5D}" type="pres">
      <dgm:prSet presAssocID="{81DEAC8C-1AF7-4BB3-981B-B98B61AE4BE9}" presName="parentLin" presStyleCnt="0"/>
      <dgm:spPr/>
    </dgm:pt>
    <dgm:pt modelId="{D8DE6F79-C047-4380-AEDD-23B53442A62D}" type="pres">
      <dgm:prSet presAssocID="{81DEAC8C-1AF7-4BB3-981B-B98B61AE4BE9}" presName="parentLeftMargin" presStyleLbl="node1" presStyleIdx="1" presStyleCnt="3"/>
      <dgm:spPr/>
    </dgm:pt>
    <dgm:pt modelId="{30BE05C7-993E-4408-B74A-071FC3B1FBAD}" type="pres">
      <dgm:prSet presAssocID="{81DEAC8C-1AF7-4BB3-981B-B98B61AE4BE9}" presName="parentText" presStyleLbl="node1" presStyleIdx="2" presStyleCnt="3">
        <dgm:presLayoutVars>
          <dgm:chMax val="0"/>
          <dgm:bulletEnabled val="1"/>
        </dgm:presLayoutVars>
      </dgm:prSet>
      <dgm:spPr/>
    </dgm:pt>
    <dgm:pt modelId="{4126BF41-2B08-4B9F-8D92-D1170F23D74B}" type="pres">
      <dgm:prSet presAssocID="{81DEAC8C-1AF7-4BB3-981B-B98B61AE4BE9}" presName="negativeSpace" presStyleCnt="0"/>
      <dgm:spPr/>
    </dgm:pt>
    <dgm:pt modelId="{0FF40A45-AD54-478E-A6AE-F44E128B1A09}" type="pres">
      <dgm:prSet presAssocID="{81DEAC8C-1AF7-4BB3-981B-B98B61AE4BE9}" presName="childText" presStyleLbl="conFgAcc1" presStyleIdx="2" presStyleCnt="3">
        <dgm:presLayoutVars>
          <dgm:bulletEnabled val="1"/>
        </dgm:presLayoutVars>
      </dgm:prSet>
      <dgm:spPr/>
    </dgm:pt>
  </dgm:ptLst>
  <dgm:cxnLst>
    <dgm:cxn modelId="{B884590B-EFB0-490F-BFFE-5B634B30A5A4}" srcId="{F898FB5B-5A08-4D2B-A42E-E661D6655748}" destId="{74459136-FE3D-409F-B3B6-12037CC3669A}" srcOrd="1" destOrd="0" parTransId="{F6F74461-E3F4-448F-8154-6D864A05116B}" sibTransId="{C61EBF8C-0A93-4934-A684-FE61A911F8B9}"/>
    <dgm:cxn modelId="{7A84CB20-7DCC-4C3E-AA2A-BDF052C48F0B}" srcId="{98EDDB88-C05C-45AA-8A6F-28441ECC5F33}" destId="{91D6F8B2-786D-49FF-B556-D6A31A23416A}" srcOrd="0" destOrd="0" parTransId="{86F00CAC-D3A2-4EA1-995C-6995EF4D916A}" sibTransId="{DEE94C10-B1EC-41B1-BE83-5A7B8E0C9D8D}"/>
    <dgm:cxn modelId="{21D7C722-B0C5-43DA-8777-AD8936371434}" srcId="{7B1FCC22-503C-4547-9B82-5AB22E655CA5}" destId="{F898FB5B-5A08-4D2B-A42E-E661D6655748}" srcOrd="1" destOrd="0" parTransId="{F124378B-F89C-4B90-9AEE-EAFDC59810F1}" sibTransId="{B9A2A4AB-69CA-4945-B51E-36B9347541D8}"/>
    <dgm:cxn modelId="{5833ED44-32D5-4C1C-9C93-459ABD328C69}" type="presOf" srcId="{91D6F8B2-786D-49FF-B556-D6A31A23416A}" destId="{290D97F5-E571-4BFC-9ADC-2688B7D76D70}" srcOrd="0" destOrd="0" presId="urn:microsoft.com/office/officeart/2005/8/layout/list1"/>
    <dgm:cxn modelId="{47F0734C-144B-43B4-AEB1-5D4CD6FE87A3}" srcId="{F898FB5B-5A08-4D2B-A42E-E661D6655748}" destId="{CD65561E-ED4F-44B9-98CA-F703F3411801}" srcOrd="0" destOrd="0" parTransId="{E311C4CE-73D2-4397-AC28-413C8C220AD2}" sibTransId="{16765EA2-26D1-48B1-AAE7-E2E37B33862C}"/>
    <dgm:cxn modelId="{3154AB53-1CB0-46C7-95EC-20A1C5D61651}" srcId="{7B1FCC22-503C-4547-9B82-5AB22E655CA5}" destId="{81DEAC8C-1AF7-4BB3-981B-B98B61AE4BE9}" srcOrd="2" destOrd="0" parTransId="{150A78A9-15A3-47E5-A031-BD700C503B4A}" sibTransId="{58D2B684-CCB9-4BBE-832E-C9FF8A39A038}"/>
    <dgm:cxn modelId="{42E1F457-4A32-4856-8A12-2CDE90455FA9}" type="presOf" srcId="{81DEAC8C-1AF7-4BB3-981B-B98B61AE4BE9}" destId="{30BE05C7-993E-4408-B74A-071FC3B1FBAD}" srcOrd="1" destOrd="0" presId="urn:microsoft.com/office/officeart/2005/8/layout/list1"/>
    <dgm:cxn modelId="{9005D086-463D-4D3E-AF72-C55904FC66A0}" type="presOf" srcId="{98EDDB88-C05C-45AA-8A6F-28441ECC5F33}" destId="{DC618E6F-E5DB-4C3F-8A8C-AC33F0A92FB4}" srcOrd="0" destOrd="0" presId="urn:microsoft.com/office/officeart/2005/8/layout/list1"/>
    <dgm:cxn modelId="{01B33F92-E382-413A-B341-D938EA7AD1CF}" srcId="{81DEAC8C-1AF7-4BB3-981B-B98B61AE4BE9}" destId="{6F7F59A2-7A88-4F73-9E22-74507AC13550}" srcOrd="0" destOrd="0" parTransId="{83A8D949-18EB-408D-875D-12944DEF41D0}" sibTransId="{1AE50825-7845-4B8F-9C02-38718C711DFA}"/>
    <dgm:cxn modelId="{B096ED94-D1CD-43F4-8533-AA6F80042284}" srcId="{7B1FCC22-503C-4547-9B82-5AB22E655CA5}" destId="{98EDDB88-C05C-45AA-8A6F-28441ECC5F33}" srcOrd="0" destOrd="0" parTransId="{DCF62C00-245E-4119-839A-230F1F77150D}" sibTransId="{9A7E7CE2-6F15-4F17-8D40-50B678A90DAD}"/>
    <dgm:cxn modelId="{F4B96297-1E3E-4C13-AB58-D0D9EC363395}" type="presOf" srcId="{98EDDB88-C05C-45AA-8A6F-28441ECC5F33}" destId="{87BBF1EC-EF44-41D0-AC3F-A8D10E945F78}" srcOrd="1" destOrd="0" presId="urn:microsoft.com/office/officeart/2005/8/layout/list1"/>
    <dgm:cxn modelId="{EB8E8FAB-7966-4A61-A188-0CF381357DC3}" type="presOf" srcId="{CD65561E-ED4F-44B9-98CA-F703F3411801}" destId="{B18948EA-16CF-47BC-9D2A-8A1F2B927308}" srcOrd="0" destOrd="0" presId="urn:microsoft.com/office/officeart/2005/8/layout/list1"/>
    <dgm:cxn modelId="{F93306C8-AC16-4153-9B4E-CDDFF3870186}" type="presOf" srcId="{7B1FCC22-503C-4547-9B82-5AB22E655CA5}" destId="{0396B065-34EB-438F-8C2E-4BCC88442B92}" srcOrd="0" destOrd="0" presId="urn:microsoft.com/office/officeart/2005/8/layout/list1"/>
    <dgm:cxn modelId="{801EBACC-8C3E-4C0A-A57B-AF2F131BA55A}" type="presOf" srcId="{81DEAC8C-1AF7-4BB3-981B-B98B61AE4BE9}" destId="{D8DE6F79-C047-4380-AEDD-23B53442A62D}" srcOrd="0" destOrd="0" presId="urn:microsoft.com/office/officeart/2005/8/layout/list1"/>
    <dgm:cxn modelId="{AEA350CE-C9E2-4272-868F-6D936DDC3338}" type="presOf" srcId="{74459136-FE3D-409F-B3B6-12037CC3669A}" destId="{B18948EA-16CF-47BC-9D2A-8A1F2B927308}" srcOrd="0" destOrd="1" presId="urn:microsoft.com/office/officeart/2005/8/layout/list1"/>
    <dgm:cxn modelId="{A35E85E4-AA3F-4E38-AB7C-1812267C1A71}" type="presOf" srcId="{F898FB5B-5A08-4D2B-A42E-E661D6655748}" destId="{DF9C2642-FAA2-475F-B156-E1466B7A1F90}" srcOrd="1" destOrd="0" presId="urn:microsoft.com/office/officeart/2005/8/layout/list1"/>
    <dgm:cxn modelId="{244E12E6-A024-4E55-8E11-38E96269C190}" type="presOf" srcId="{0BAE955F-2198-460D-9012-89C164890348}" destId="{290D97F5-E571-4BFC-9ADC-2688B7D76D70}" srcOrd="0" destOrd="1" presId="urn:microsoft.com/office/officeart/2005/8/layout/list1"/>
    <dgm:cxn modelId="{10A0F1EC-4C6A-40F4-A2D2-F93EB402D94E}" type="presOf" srcId="{6F7F59A2-7A88-4F73-9E22-74507AC13550}" destId="{0FF40A45-AD54-478E-A6AE-F44E128B1A09}" srcOrd="0" destOrd="0" presId="urn:microsoft.com/office/officeart/2005/8/layout/list1"/>
    <dgm:cxn modelId="{1E19B8F2-28CD-4240-BC00-552A741194FB}" type="presOf" srcId="{F898FB5B-5A08-4D2B-A42E-E661D6655748}" destId="{77892968-BB8F-457A-B635-6B0C88679991}" srcOrd="0" destOrd="0" presId="urn:microsoft.com/office/officeart/2005/8/layout/list1"/>
    <dgm:cxn modelId="{390679F7-72D7-4539-9870-B38DEC954A2A}" srcId="{98EDDB88-C05C-45AA-8A6F-28441ECC5F33}" destId="{0BAE955F-2198-460D-9012-89C164890348}" srcOrd="1" destOrd="0" parTransId="{6E943F16-AB6D-4524-9DAF-CF3B76A06E32}" sibTransId="{E7A5FD20-EA1C-4826-B62D-DF3FE2A47D19}"/>
    <dgm:cxn modelId="{42382ABD-D1B3-4D6F-87E0-89D277BD4175}" type="presParOf" srcId="{0396B065-34EB-438F-8C2E-4BCC88442B92}" destId="{5FB120FD-EBFB-436D-B163-38132C837950}" srcOrd="0" destOrd="0" presId="urn:microsoft.com/office/officeart/2005/8/layout/list1"/>
    <dgm:cxn modelId="{F17736E6-CC39-4390-B1FD-864A1ABA02C8}" type="presParOf" srcId="{5FB120FD-EBFB-436D-B163-38132C837950}" destId="{DC618E6F-E5DB-4C3F-8A8C-AC33F0A92FB4}" srcOrd="0" destOrd="0" presId="urn:microsoft.com/office/officeart/2005/8/layout/list1"/>
    <dgm:cxn modelId="{0EB45643-DD5A-4AB5-A90B-58092E317E42}" type="presParOf" srcId="{5FB120FD-EBFB-436D-B163-38132C837950}" destId="{87BBF1EC-EF44-41D0-AC3F-A8D10E945F78}" srcOrd="1" destOrd="0" presId="urn:microsoft.com/office/officeart/2005/8/layout/list1"/>
    <dgm:cxn modelId="{08028465-E679-43A7-B54E-689A2D68B442}" type="presParOf" srcId="{0396B065-34EB-438F-8C2E-4BCC88442B92}" destId="{E4F8682C-92FB-404F-9475-19D82ABC7CF0}" srcOrd="1" destOrd="0" presId="urn:microsoft.com/office/officeart/2005/8/layout/list1"/>
    <dgm:cxn modelId="{2286873B-D2D2-49A2-AA3E-FE8FCB6B3A6F}" type="presParOf" srcId="{0396B065-34EB-438F-8C2E-4BCC88442B92}" destId="{290D97F5-E571-4BFC-9ADC-2688B7D76D70}" srcOrd="2" destOrd="0" presId="urn:microsoft.com/office/officeart/2005/8/layout/list1"/>
    <dgm:cxn modelId="{B8FF9099-8804-4A40-8720-83E35B259531}" type="presParOf" srcId="{0396B065-34EB-438F-8C2E-4BCC88442B92}" destId="{0620C91A-C17C-4B9D-8928-098D103AD84C}" srcOrd="3" destOrd="0" presId="urn:microsoft.com/office/officeart/2005/8/layout/list1"/>
    <dgm:cxn modelId="{0A30A294-706D-438E-94F1-DC95F34A6843}" type="presParOf" srcId="{0396B065-34EB-438F-8C2E-4BCC88442B92}" destId="{EA79BFF2-883B-4DCF-A597-7C3D53FCDC04}" srcOrd="4" destOrd="0" presId="urn:microsoft.com/office/officeart/2005/8/layout/list1"/>
    <dgm:cxn modelId="{DD775774-8505-4DF4-A324-386AC8C3CB90}" type="presParOf" srcId="{EA79BFF2-883B-4DCF-A597-7C3D53FCDC04}" destId="{77892968-BB8F-457A-B635-6B0C88679991}" srcOrd="0" destOrd="0" presId="urn:microsoft.com/office/officeart/2005/8/layout/list1"/>
    <dgm:cxn modelId="{0ABAB28D-630A-49AB-B8A5-FE4B7A2B2F36}" type="presParOf" srcId="{EA79BFF2-883B-4DCF-A597-7C3D53FCDC04}" destId="{DF9C2642-FAA2-475F-B156-E1466B7A1F90}" srcOrd="1" destOrd="0" presId="urn:microsoft.com/office/officeart/2005/8/layout/list1"/>
    <dgm:cxn modelId="{9B6E9F84-C9AC-4D22-BD31-6CC118DF3144}" type="presParOf" srcId="{0396B065-34EB-438F-8C2E-4BCC88442B92}" destId="{4902052E-10B3-44FB-B9A1-F515D62EA76A}" srcOrd="5" destOrd="0" presId="urn:microsoft.com/office/officeart/2005/8/layout/list1"/>
    <dgm:cxn modelId="{75A56CA0-2F8D-431E-B37A-BF14236F3EDB}" type="presParOf" srcId="{0396B065-34EB-438F-8C2E-4BCC88442B92}" destId="{B18948EA-16CF-47BC-9D2A-8A1F2B927308}" srcOrd="6" destOrd="0" presId="urn:microsoft.com/office/officeart/2005/8/layout/list1"/>
    <dgm:cxn modelId="{24A5D3F2-E4AE-4D77-AE63-DD72F57B2672}" type="presParOf" srcId="{0396B065-34EB-438F-8C2E-4BCC88442B92}" destId="{0C564132-5970-4075-876A-A2FCF5593D9A}" srcOrd="7" destOrd="0" presId="urn:microsoft.com/office/officeart/2005/8/layout/list1"/>
    <dgm:cxn modelId="{5781269B-041F-46F5-8D86-53F9DDF55EC8}" type="presParOf" srcId="{0396B065-34EB-438F-8C2E-4BCC88442B92}" destId="{9D81DD22-0A0A-4903-908C-4E3B03F27B5D}" srcOrd="8" destOrd="0" presId="urn:microsoft.com/office/officeart/2005/8/layout/list1"/>
    <dgm:cxn modelId="{087B26DB-B6E3-478A-B8A6-581215552AB9}" type="presParOf" srcId="{9D81DD22-0A0A-4903-908C-4E3B03F27B5D}" destId="{D8DE6F79-C047-4380-AEDD-23B53442A62D}" srcOrd="0" destOrd="0" presId="urn:microsoft.com/office/officeart/2005/8/layout/list1"/>
    <dgm:cxn modelId="{F7A3B30D-26BA-4B87-83FE-5B0B1DDC81B9}" type="presParOf" srcId="{9D81DD22-0A0A-4903-908C-4E3B03F27B5D}" destId="{30BE05C7-993E-4408-B74A-071FC3B1FBAD}" srcOrd="1" destOrd="0" presId="urn:microsoft.com/office/officeart/2005/8/layout/list1"/>
    <dgm:cxn modelId="{48CDFA16-A1C6-4B6B-B8D2-D5E5E2E76A63}" type="presParOf" srcId="{0396B065-34EB-438F-8C2E-4BCC88442B92}" destId="{4126BF41-2B08-4B9F-8D92-D1170F23D74B}" srcOrd="9" destOrd="0" presId="urn:microsoft.com/office/officeart/2005/8/layout/list1"/>
    <dgm:cxn modelId="{64C3DC80-9F3E-4F68-A4D2-899C99466BEB}" type="presParOf" srcId="{0396B065-34EB-438F-8C2E-4BCC88442B92}" destId="{0FF40A45-AD54-478E-A6AE-F44E128B1A09}"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589B7D0-65BE-4171-8F61-E4C4C873E8B0}"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387B4CF7-7281-4151-9F8B-59EA7FEB2E44}">
      <dgm:prSet/>
      <dgm:spPr/>
      <dgm:t>
        <a:bodyPr/>
        <a:lstStyle/>
        <a:p>
          <a:r>
            <a:rPr lang="en-US" b="1"/>
            <a:t>VM Monitoring and IP Retrieval</a:t>
          </a:r>
          <a:r>
            <a:rPr lang="en-US"/>
            <a:t>:</a:t>
          </a:r>
        </a:p>
      </dgm:t>
    </dgm:pt>
    <dgm:pt modelId="{B94C185B-5C57-42E8-9B7C-C3E84FA4F659}" type="parTrans" cxnId="{26DFCDF9-2EF8-4E71-B79B-889B4B726CF1}">
      <dgm:prSet/>
      <dgm:spPr/>
      <dgm:t>
        <a:bodyPr/>
        <a:lstStyle/>
        <a:p>
          <a:endParaRPr lang="en-US"/>
        </a:p>
      </dgm:t>
    </dgm:pt>
    <dgm:pt modelId="{780A2416-40CA-42BE-94DF-A2F4AD954832}" type="sibTrans" cxnId="{26DFCDF9-2EF8-4E71-B79B-889B4B726CF1}">
      <dgm:prSet/>
      <dgm:spPr/>
      <dgm:t>
        <a:bodyPr/>
        <a:lstStyle/>
        <a:p>
          <a:endParaRPr lang="en-US"/>
        </a:p>
      </dgm:t>
    </dgm:pt>
    <dgm:pt modelId="{B1313CDF-42BD-468E-96C5-F219FDFD4FA5}">
      <dgm:prSet/>
      <dgm:spPr/>
      <dgm:t>
        <a:bodyPr/>
        <a:lstStyle/>
        <a:p>
          <a:r>
            <a:rPr lang="en-US"/>
            <a:t>Retrieves and manages running VMs based on tags.</a:t>
          </a:r>
        </a:p>
      </dgm:t>
    </dgm:pt>
    <dgm:pt modelId="{3A56FF13-4086-4C34-876E-3C8AD82CA086}" type="parTrans" cxnId="{B6373CFA-5AFA-4316-A8C8-593F91948FDF}">
      <dgm:prSet/>
      <dgm:spPr/>
      <dgm:t>
        <a:bodyPr/>
        <a:lstStyle/>
        <a:p>
          <a:endParaRPr lang="en-US"/>
        </a:p>
      </dgm:t>
    </dgm:pt>
    <dgm:pt modelId="{0943F723-CBA0-493B-8B0E-9A1488A45177}" type="sibTrans" cxnId="{B6373CFA-5AFA-4316-A8C8-593F91948FDF}">
      <dgm:prSet/>
      <dgm:spPr/>
      <dgm:t>
        <a:bodyPr/>
        <a:lstStyle/>
        <a:p>
          <a:endParaRPr lang="en-US"/>
        </a:p>
      </dgm:t>
    </dgm:pt>
    <dgm:pt modelId="{1EE9C478-EF2B-4B78-839F-BF0F040D091D}">
      <dgm:prSet/>
      <dgm:spPr/>
      <dgm:t>
        <a:bodyPr/>
        <a:lstStyle/>
        <a:p>
          <a:r>
            <a:rPr lang="en-US"/>
            <a:t>Dynamically updates IP addresses for user-specific sessions.</a:t>
          </a:r>
        </a:p>
      </dgm:t>
    </dgm:pt>
    <dgm:pt modelId="{6259F55D-A102-4DFC-AF4C-BC8B6B913D82}" type="parTrans" cxnId="{E78BF823-3DA8-45C9-B9D0-37E2CADEE8E0}">
      <dgm:prSet/>
      <dgm:spPr/>
      <dgm:t>
        <a:bodyPr/>
        <a:lstStyle/>
        <a:p>
          <a:endParaRPr lang="en-US"/>
        </a:p>
      </dgm:t>
    </dgm:pt>
    <dgm:pt modelId="{4A58F39C-9290-4BB8-A7D2-2274C0CB922A}" type="sibTrans" cxnId="{E78BF823-3DA8-45C9-B9D0-37E2CADEE8E0}">
      <dgm:prSet/>
      <dgm:spPr/>
      <dgm:t>
        <a:bodyPr/>
        <a:lstStyle/>
        <a:p>
          <a:endParaRPr lang="en-US"/>
        </a:p>
      </dgm:t>
    </dgm:pt>
    <dgm:pt modelId="{FB0C31AD-B64E-4FE7-9595-3D076BB35653}">
      <dgm:prSet/>
      <dgm:spPr/>
      <dgm:t>
        <a:bodyPr/>
        <a:lstStyle/>
        <a:p>
          <a:r>
            <a:rPr lang="en-US" b="1"/>
            <a:t>User Interface</a:t>
          </a:r>
          <a:r>
            <a:rPr lang="en-US"/>
            <a:t>:</a:t>
          </a:r>
        </a:p>
      </dgm:t>
    </dgm:pt>
    <dgm:pt modelId="{C2C40BFE-BBCA-4149-BC04-45178751FD81}" type="parTrans" cxnId="{BCC608BD-018E-41E5-A2A4-F4B853AE49FB}">
      <dgm:prSet/>
      <dgm:spPr/>
      <dgm:t>
        <a:bodyPr/>
        <a:lstStyle/>
        <a:p>
          <a:endParaRPr lang="en-US"/>
        </a:p>
      </dgm:t>
    </dgm:pt>
    <dgm:pt modelId="{6F6EA4A4-62CB-411A-BFF9-49B8DB6DC3F2}" type="sibTrans" cxnId="{BCC608BD-018E-41E5-A2A4-F4B853AE49FB}">
      <dgm:prSet/>
      <dgm:spPr/>
      <dgm:t>
        <a:bodyPr/>
        <a:lstStyle/>
        <a:p>
          <a:endParaRPr lang="en-US"/>
        </a:p>
      </dgm:t>
    </dgm:pt>
    <dgm:pt modelId="{0BABC1FB-A6E7-49A4-A8F0-CD63F0167399}">
      <dgm:prSet/>
      <dgm:spPr/>
      <dgm:t>
        <a:bodyPr/>
        <a:lstStyle/>
        <a:p>
          <a:r>
            <a:rPr lang="en-US"/>
            <a:t>HTML templates (launch-labs.html, shelly.html) for user interaction and VM launch workflows.</a:t>
          </a:r>
        </a:p>
      </dgm:t>
    </dgm:pt>
    <dgm:pt modelId="{8063EFFA-5139-48D2-B982-B9D9348336CE}" type="parTrans" cxnId="{172BF42B-65E1-41E5-8596-61B60B5B7AB4}">
      <dgm:prSet/>
      <dgm:spPr/>
      <dgm:t>
        <a:bodyPr/>
        <a:lstStyle/>
        <a:p>
          <a:endParaRPr lang="en-US"/>
        </a:p>
      </dgm:t>
    </dgm:pt>
    <dgm:pt modelId="{8C4B5F7A-97DE-4FF6-AA5E-08383CCAE101}" type="sibTrans" cxnId="{172BF42B-65E1-41E5-8596-61B60B5B7AB4}">
      <dgm:prSet/>
      <dgm:spPr/>
      <dgm:t>
        <a:bodyPr/>
        <a:lstStyle/>
        <a:p>
          <a:endParaRPr lang="en-US"/>
        </a:p>
      </dgm:t>
    </dgm:pt>
    <dgm:pt modelId="{99D7DB36-A093-4D31-AE5D-FDB9EB94B0B8}">
      <dgm:prSet/>
      <dgm:spPr/>
      <dgm:t>
        <a:bodyPr/>
        <a:lstStyle/>
        <a:p>
          <a:r>
            <a:rPr lang="en-US" b="1"/>
            <a:t>Error Handling</a:t>
          </a:r>
          <a:r>
            <a:rPr lang="en-US"/>
            <a:t>:</a:t>
          </a:r>
        </a:p>
      </dgm:t>
    </dgm:pt>
    <dgm:pt modelId="{7F75342E-7FAA-4193-A978-2145496F0B9E}" type="parTrans" cxnId="{DE56B993-7F8B-4BF8-B1D7-D98623CE4538}">
      <dgm:prSet/>
      <dgm:spPr/>
      <dgm:t>
        <a:bodyPr/>
        <a:lstStyle/>
        <a:p>
          <a:endParaRPr lang="en-US"/>
        </a:p>
      </dgm:t>
    </dgm:pt>
    <dgm:pt modelId="{6134FF27-956E-425C-8C1A-A775C4CF7835}" type="sibTrans" cxnId="{DE56B993-7F8B-4BF8-B1D7-D98623CE4538}">
      <dgm:prSet/>
      <dgm:spPr/>
      <dgm:t>
        <a:bodyPr/>
        <a:lstStyle/>
        <a:p>
          <a:endParaRPr lang="en-US"/>
        </a:p>
      </dgm:t>
    </dgm:pt>
    <dgm:pt modelId="{D811465F-0779-4ED8-86A6-B6470A0F2A5E}">
      <dgm:prSet/>
      <dgm:spPr/>
      <dgm:t>
        <a:bodyPr/>
        <a:lstStyle/>
        <a:p>
          <a:r>
            <a:rPr lang="en-US"/>
            <a:t>Manages and logs issues during VM provisioning.</a:t>
          </a:r>
        </a:p>
      </dgm:t>
    </dgm:pt>
    <dgm:pt modelId="{510218C1-DC54-47A2-9CE9-2B007B934FFA}" type="parTrans" cxnId="{1E01455E-D148-4FC2-B110-4917BEC0D243}">
      <dgm:prSet/>
      <dgm:spPr/>
      <dgm:t>
        <a:bodyPr/>
        <a:lstStyle/>
        <a:p>
          <a:endParaRPr lang="en-US"/>
        </a:p>
      </dgm:t>
    </dgm:pt>
    <dgm:pt modelId="{7917C564-DC6C-4CC3-9552-6D68B43E2C86}" type="sibTrans" cxnId="{1E01455E-D148-4FC2-B110-4917BEC0D243}">
      <dgm:prSet/>
      <dgm:spPr/>
      <dgm:t>
        <a:bodyPr/>
        <a:lstStyle/>
        <a:p>
          <a:endParaRPr lang="en-US"/>
        </a:p>
      </dgm:t>
    </dgm:pt>
    <dgm:pt modelId="{6DF65412-19A5-44B4-9486-F98230E87A9D}">
      <dgm:prSet/>
      <dgm:spPr/>
      <dgm:t>
        <a:bodyPr/>
        <a:lstStyle/>
        <a:p>
          <a:r>
            <a:rPr lang="en-US"/>
            <a:t>Safeguards session data and refreshes expired tokens.</a:t>
          </a:r>
        </a:p>
      </dgm:t>
    </dgm:pt>
    <dgm:pt modelId="{1170551A-12DB-45E3-9834-F86D3568F96B}" type="parTrans" cxnId="{1BE38BD7-DB8E-47DF-9BBC-5AC64E79EA2D}">
      <dgm:prSet/>
      <dgm:spPr/>
      <dgm:t>
        <a:bodyPr/>
        <a:lstStyle/>
        <a:p>
          <a:endParaRPr lang="en-US"/>
        </a:p>
      </dgm:t>
    </dgm:pt>
    <dgm:pt modelId="{82199E4F-EE07-4DBC-85EF-88D356090E13}" type="sibTrans" cxnId="{1BE38BD7-DB8E-47DF-9BBC-5AC64E79EA2D}">
      <dgm:prSet/>
      <dgm:spPr/>
      <dgm:t>
        <a:bodyPr/>
        <a:lstStyle/>
        <a:p>
          <a:endParaRPr lang="en-US"/>
        </a:p>
      </dgm:t>
    </dgm:pt>
    <dgm:pt modelId="{87147A75-09DD-4FBD-AD7B-678F0BED94D5}">
      <dgm:prSet/>
      <dgm:spPr/>
      <dgm:t>
        <a:bodyPr/>
        <a:lstStyle/>
        <a:p>
          <a:r>
            <a:rPr lang="en-US" b="1"/>
            <a:t>Security</a:t>
          </a:r>
          <a:r>
            <a:rPr lang="en-US"/>
            <a:t>:</a:t>
          </a:r>
        </a:p>
      </dgm:t>
    </dgm:pt>
    <dgm:pt modelId="{64FE9822-A4A3-45D0-9D46-DE3FA5B24AA6}" type="parTrans" cxnId="{A7BFF1C9-2A60-46D0-9393-F50018A404F5}">
      <dgm:prSet/>
      <dgm:spPr/>
      <dgm:t>
        <a:bodyPr/>
        <a:lstStyle/>
        <a:p>
          <a:endParaRPr lang="en-US"/>
        </a:p>
      </dgm:t>
    </dgm:pt>
    <dgm:pt modelId="{5BD55275-861C-4EF5-8B04-303F82E4D63C}" type="sibTrans" cxnId="{A7BFF1C9-2A60-46D0-9393-F50018A404F5}">
      <dgm:prSet/>
      <dgm:spPr/>
      <dgm:t>
        <a:bodyPr/>
        <a:lstStyle/>
        <a:p>
          <a:endParaRPr lang="en-US"/>
        </a:p>
      </dgm:t>
    </dgm:pt>
    <dgm:pt modelId="{00DC8AEA-E61F-4BD0-8A8A-41DF66885A4D}">
      <dgm:prSet/>
      <dgm:spPr/>
      <dgm:t>
        <a:bodyPr/>
        <a:lstStyle/>
        <a:p>
          <a:r>
            <a:rPr lang="en-US"/>
            <a:t>Environment variables for sensitive data.</a:t>
          </a:r>
        </a:p>
      </dgm:t>
    </dgm:pt>
    <dgm:pt modelId="{BED1D847-59D7-4469-B8E8-E17759ADD46C}" type="parTrans" cxnId="{19CF916A-C1A9-4DF2-8F03-CE550D56C273}">
      <dgm:prSet/>
      <dgm:spPr/>
      <dgm:t>
        <a:bodyPr/>
        <a:lstStyle/>
        <a:p>
          <a:endParaRPr lang="en-US"/>
        </a:p>
      </dgm:t>
    </dgm:pt>
    <dgm:pt modelId="{967D4D98-FD80-407D-8F6B-249FEF004485}" type="sibTrans" cxnId="{19CF916A-C1A9-4DF2-8F03-CE550D56C273}">
      <dgm:prSet/>
      <dgm:spPr/>
      <dgm:t>
        <a:bodyPr/>
        <a:lstStyle/>
        <a:p>
          <a:endParaRPr lang="en-US"/>
        </a:p>
      </dgm:t>
    </dgm:pt>
    <dgm:pt modelId="{46D54DF8-0F36-4FAC-A625-1F8D1AF30B7C}">
      <dgm:prSet/>
      <dgm:spPr/>
      <dgm:t>
        <a:bodyPr/>
        <a:lstStyle/>
        <a:p>
          <a:r>
            <a:rPr lang="en-US"/>
            <a:t>Secure SSH connections for server commands.</a:t>
          </a:r>
        </a:p>
      </dgm:t>
    </dgm:pt>
    <dgm:pt modelId="{11FDA6DA-19E5-4605-83C5-AB2C5703C2D3}" type="parTrans" cxnId="{C1EE0A25-EA6E-41EB-8FF6-29FAC933D8C9}">
      <dgm:prSet/>
      <dgm:spPr/>
      <dgm:t>
        <a:bodyPr/>
        <a:lstStyle/>
        <a:p>
          <a:endParaRPr lang="en-US"/>
        </a:p>
      </dgm:t>
    </dgm:pt>
    <dgm:pt modelId="{98DD1860-B513-485D-9D0F-E9E0394317FB}" type="sibTrans" cxnId="{C1EE0A25-EA6E-41EB-8FF6-29FAC933D8C9}">
      <dgm:prSet/>
      <dgm:spPr/>
      <dgm:t>
        <a:bodyPr/>
        <a:lstStyle/>
        <a:p>
          <a:endParaRPr lang="en-US"/>
        </a:p>
      </dgm:t>
    </dgm:pt>
    <dgm:pt modelId="{5FE8249A-AE90-4DBD-A03F-309F48A1F27A}" type="pres">
      <dgm:prSet presAssocID="{F589B7D0-65BE-4171-8F61-E4C4C873E8B0}" presName="root" presStyleCnt="0">
        <dgm:presLayoutVars>
          <dgm:dir/>
          <dgm:resizeHandles val="exact"/>
        </dgm:presLayoutVars>
      </dgm:prSet>
      <dgm:spPr/>
    </dgm:pt>
    <dgm:pt modelId="{2A400196-D861-4E1C-A7CC-17C83222EE49}" type="pres">
      <dgm:prSet presAssocID="{387B4CF7-7281-4151-9F8B-59EA7FEB2E44}" presName="compNode" presStyleCnt="0"/>
      <dgm:spPr/>
    </dgm:pt>
    <dgm:pt modelId="{051A2D1F-8A6D-474D-B098-FF65817ECAEB}" type="pres">
      <dgm:prSet presAssocID="{387B4CF7-7281-4151-9F8B-59EA7FEB2E44}" presName="bgRect" presStyleLbl="bgShp" presStyleIdx="0" presStyleCnt="4"/>
      <dgm:spPr/>
    </dgm:pt>
    <dgm:pt modelId="{E0B69BC0-3C7F-4E08-BF60-1E5915804D16}" type="pres">
      <dgm:prSet presAssocID="{387B4CF7-7281-4151-9F8B-59EA7FEB2E4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70C33D5F-C780-4D13-8F24-EDDE6172B960}" type="pres">
      <dgm:prSet presAssocID="{387B4CF7-7281-4151-9F8B-59EA7FEB2E44}" presName="spaceRect" presStyleCnt="0"/>
      <dgm:spPr/>
    </dgm:pt>
    <dgm:pt modelId="{2D17C3C3-2F90-406E-97DF-39523E12E45B}" type="pres">
      <dgm:prSet presAssocID="{387B4CF7-7281-4151-9F8B-59EA7FEB2E44}" presName="parTx" presStyleLbl="revTx" presStyleIdx="0" presStyleCnt="8">
        <dgm:presLayoutVars>
          <dgm:chMax val="0"/>
          <dgm:chPref val="0"/>
        </dgm:presLayoutVars>
      </dgm:prSet>
      <dgm:spPr/>
    </dgm:pt>
    <dgm:pt modelId="{7E597974-7EE1-4A96-A7FD-3E68D3A77BD5}" type="pres">
      <dgm:prSet presAssocID="{387B4CF7-7281-4151-9F8B-59EA7FEB2E44}" presName="desTx" presStyleLbl="revTx" presStyleIdx="1" presStyleCnt="8">
        <dgm:presLayoutVars/>
      </dgm:prSet>
      <dgm:spPr/>
    </dgm:pt>
    <dgm:pt modelId="{D2418149-883F-4846-9076-1B083F4CAC5F}" type="pres">
      <dgm:prSet presAssocID="{780A2416-40CA-42BE-94DF-A2F4AD954832}" presName="sibTrans" presStyleCnt="0"/>
      <dgm:spPr/>
    </dgm:pt>
    <dgm:pt modelId="{23799DB3-0D31-4215-9CA8-8B8CA6769105}" type="pres">
      <dgm:prSet presAssocID="{FB0C31AD-B64E-4FE7-9595-3D076BB35653}" presName="compNode" presStyleCnt="0"/>
      <dgm:spPr/>
    </dgm:pt>
    <dgm:pt modelId="{6C6652EB-6277-4A69-B4D7-66C40FD54D0C}" type="pres">
      <dgm:prSet presAssocID="{FB0C31AD-B64E-4FE7-9595-3D076BB35653}" presName="bgRect" presStyleLbl="bgShp" presStyleIdx="1" presStyleCnt="4"/>
      <dgm:spPr/>
    </dgm:pt>
    <dgm:pt modelId="{CDDBD3A2-9B02-4C4A-96EE-C80ADCE2ABB5}" type="pres">
      <dgm:prSet presAssocID="{FB0C31AD-B64E-4FE7-9595-3D076BB3565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Design"/>
        </a:ext>
      </dgm:extLst>
    </dgm:pt>
    <dgm:pt modelId="{AADE67BC-9637-44CB-A18D-E87DD2D06AD4}" type="pres">
      <dgm:prSet presAssocID="{FB0C31AD-B64E-4FE7-9595-3D076BB35653}" presName="spaceRect" presStyleCnt="0"/>
      <dgm:spPr/>
    </dgm:pt>
    <dgm:pt modelId="{20D311EF-CE4E-4F82-91D0-8B0BF0AB35F2}" type="pres">
      <dgm:prSet presAssocID="{FB0C31AD-B64E-4FE7-9595-3D076BB35653}" presName="parTx" presStyleLbl="revTx" presStyleIdx="2" presStyleCnt="8">
        <dgm:presLayoutVars>
          <dgm:chMax val="0"/>
          <dgm:chPref val="0"/>
        </dgm:presLayoutVars>
      </dgm:prSet>
      <dgm:spPr/>
    </dgm:pt>
    <dgm:pt modelId="{4B1A94F1-ED44-43F9-8697-DAC826F72627}" type="pres">
      <dgm:prSet presAssocID="{FB0C31AD-B64E-4FE7-9595-3D076BB35653}" presName="desTx" presStyleLbl="revTx" presStyleIdx="3" presStyleCnt="8">
        <dgm:presLayoutVars/>
      </dgm:prSet>
      <dgm:spPr/>
    </dgm:pt>
    <dgm:pt modelId="{9DDDFE36-8AA9-4A00-B8B3-F20575A61685}" type="pres">
      <dgm:prSet presAssocID="{6F6EA4A4-62CB-411A-BFF9-49B8DB6DC3F2}" presName="sibTrans" presStyleCnt="0"/>
      <dgm:spPr/>
    </dgm:pt>
    <dgm:pt modelId="{D83C7B60-0B85-4CB6-A3B6-D775ABF83ADE}" type="pres">
      <dgm:prSet presAssocID="{99D7DB36-A093-4D31-AE5D-FDB9EB94B0B8}" presName="compNode" presStyleCnt="0"/>
      <dgm:spPr/>
    </dgm:pt>
    <dgm:pt modelId="{91C68C68-6509-4400-BC7C-4687F13B6077}" type="pres">
      <dgm:prSet presAssocID="{99D7DB36-A093-4D31-AE5D-FDB9EB94B0B8}" presName="bgRect" presStyleLbl="bgShp" presStyleIdx="2" presStyleCnt="4"/>
      <dgm:spPr/>
    </dgm:pt>
    <dgm:pt modelId="{B02A706B-A990-4541-8F9D-CA79FD5AD9C7}" type="pres">
      <dgm:prSet presAssocID="{99D7DB36-A093-4D31-AE5D-FDB9EB94B0B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afe"/>
        </a:ext>
      </dgm:extLst>
    </dgm:pt>
    <dgm:pt modelId="{AA851B43-2D0B-48B8-8B10-C9B630EE3FEF}" type="pres">
      <dgm:prSet presAssocID="{99D7DB36-A093-4D31-AE5D-FDB9EB94B0B8}" presName="spaceRect" presStyleCnt="0"/>
      <dgm:spPr/>
    </dgm:pt>
    <dgm:pt modelId="{6FAD5681-92A0-4D3E-BB64-9B424B43DB28}" type="pres">
      <dgm:prSet presAssocID="{99D7DB36-A093-4D31-AE5D-FDB9EB94B0B8}" presName="parTx" presStyleLbl="revTx" presStyleIdx="4" presStyleCnt="8">
        <dgm:presLayoutVars>
          <dgm:chMax val="0"/>
          <dgm:chPref val="0"/>
        </dgm:presLayoutVars>
      </dgm:prSet>
      <dgm:spPr/>
    </dgm:pt>
    <dgm:pt modelId="{1A79BC3C-C50C-445C-9C61-A696D6EA904A}" type="pres">
      <dgm:prSet presAssocID="{99D7DB36-A093-4D31-AE5D-FDB9EB94B0B8}" presName="desTx" presStyleLbl="revTx" presStyleIdx="5" presStyleCnt="8">
        <dgm:presLayoutVars/>
      </dgm:prSet>
      <dgm:spPr/>
    </dgm:pt>
    <dgm:pt modelId="{3B22227E-FA7B-454C-B696-E6E827933F21}" type="pres">
      <dgm:prSet presAssocID="{6134FF27-956E-425C-8C1A-A775C4CF7835}" presName="sibTrans" presStyleCnt="0"/>
      <dgm:spPr/>
    </dgm:pt>
    <dgm:pt modelId="{AB57FF99-10E7-4455-8CC3-46B3A37A02CC}" type="pres">
      <dgm:prSet presAssocID="{87147A75-09DD-4FBD-AD7B-678F0BED94D5}" presName="compNode" presStyleCnt="0"/>
      <dgm:spPr/>
    </dgm:pt>
    <dgm:pt modelId="{23F89853-E585-4DA6-9C90-DB226940737A}" type="pres">
      <dgm:prSet presAssocID="{87147A75-09DD-4FBD-AD7B-678F0BED94D5}" presName="bgRect" presStyleLbl="bgShp" presStyleIdx="3" presStyleCnt="4"/>
      <dgm:spPr/>
    </dgm:pt>
    <dgm:pt modelId="{023183F8-0654-4958-A780-D96B20308C7C}" type="pres">
      <dgm:prSet presAssocID="{87147A75-09DD-4FBD-AD7B-678F0BED94D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9781BAF9-F482-4E12-A199-B928D823C43F}" type="pres">
      <dgm:prSet presAssocID="{87147A75-09DD-4FBD-AD7B-678F0BED94D5}" presName="spaceRect" presStyleCnt="0"/>
      <dgm:spPr/>
    </dgm:pt>
    <dgm:pt modelId="{143EAF9D-D47C-4656-873D-983D2EC77ECE}" type="pres">
      <dgm:prSet presAssocID="{87147A75-09DD-4FBD-AD7B-678F0BED94D5}" presName="parTx" presStyleLbl="revTx" presStyleIdx="6" presStyleCnt="8">
        <dgm:presLayoutVars>
          <dgm:chMax val="0"/>
          <dgm:chPref val="0"/>
        </dgm:presLayoutVars>
      </dgm:prSet>
      <dgm:spPr/>
    </dgm:pt>
    <dgm:pt modelId="{08019335-348C-4ADE-BF98-903707CF8645}" type="pres">
      <dgm:prSet presAssocID="{87147A75-09DD-4FBD-AD7B-678F0BED94D5}" presName="desTx" presStyleLbl="revTx" presStyleIdx="7" presStyleCnt="8">
        <dgm:presLayoutVars/>
      </dgm:prSet>
      <dgm:spPr/>
    </dgm:pt>
  </dgm:ptLst>
  <dgm:cxnLst>
    <dgm:cxn modelId="{0C6AB40D-7B80-42FE-A531-A84996E888F3}" type="presOf" srcId="{6DF65412-19A5-44B4-9486-F98230E87A9D}" destId="{1A79BC3C-C50C-445C-9C61-A696D6EA904A}" srcOrd="0" destOrd="1" presId="urn:microsoft.com/office/officeart/2018/2/layout/IconVerticalSolidList"/>
    <dgm:cxn modelId="{6EC73718-124D-4163-AEA7-211E6AD62020}" type="presOf" srcId="{D811465F-0779-4ED8-86A6-B6470A0F2A5E}" destId="{1A79BC3C-C50C-445C-9C61-A696D6EA904A}" srcOrd="0" destOrd="0" presId="urn:microsoft.com/office/officeart/2018/2/layout/IconVerticalSolidList"/>
    <dgm:cxn modelId="{E78BF823-3DA8-45C9-B9D0-37E2CADEE8E0}" srcId="{387B4CF7-7281-4151-9F8B-59EA7FEB2E44}" destId="{1EE9C478-EF2B-4B78-839F-BF0F040D091D}" srcOrd="1" destOrd="0" parTransId="{6259F55D-A102-4DFC-AF4C-BC8B6B913D82}" sibTransId="{4A58F39C-9290-4BB8-A7D2-2274C0CB922A}"/>
    <dgm:cxn modelId="{C1EE0A25-EA6E-41EB-8FF6-29FAC933D8C9}" srcId="{87147A75-09DD-4FBD-AD7B-678F0BED94D5}" destId="{46D54DF8-0F36-4FAC-A625-1F8D1AF30B7C}" srcOrd="1" destOrd="0" parTransId="{11FDA6DA-19E5-4605-83C5-AB2C5703C2D3}" sibTransId="{98DD1860-B513-485D-9D0F-E9E0394317FB}"/>
    <dgm:cxn modelId="{172BF42B-65E1-41E5-8596-61B60B5B7AB4}" srcId="{FB0C31AD-B64E-4FE7-9595-3D076BB35653}" destId="{0BABC1FB-A6E7-49A4-A8F0-CD63F0167399}" srcOrd="0" destOrd="0" parTransId="{8063EFFA-5139-48D2-B982-B9D9348336CE}" sibTransId="{8C4B5F7A-97DE-4FF6-AA5E-08383CCAE101}"/>
    <dgm:cxn modelId="{1E01455E-D148-4FC2-B110-4917BEC0D243}" srcId="{99D7DB36-A093-4D31-AE5D-FDB9EB94B0B8}" destId="{D811465F-0779-4ED8-86A6-B6470A0F2A5E}" srcOrd="0" destOrd="0" parTransId="{510218C1-DC54-47A2-9CE9-2B007B934FFA}" sibTransId="{7917C564-DC6C-4CC3-9552-6D68B43E2C86}"/>
    <dgm:cxn modelId="{EEB8CB61-42EF-4F9C-8841-A9F16814C4FB}" type="presOf" srcId="{B1313CDF-42BD-468E-96C5-F219FDFD4FA5}" destId="{7E597974-7EE1-4A96-A7FD-3E68D3A77BD5}" srcOrd="0" destOrd="0" presId="urn:microsoft.com/office/officeart/2018/2/layout/IconVerticalSolidList"/>
    <dgm:cxn modelId="{0E7F3963-9C0E-493C-BBEE-CBDFBC9CD38E}" type="presOf" srcId="{FB0C31AD-B64E-4FE7-9595-3D076BB35653}" destId="{20D311EF-CE4E-4F82-91D0-8B0BF0AB35F2}" srcOrd="0" destOrd="0" presId="urn:microsoft.com/office/officeart/2018/2/layout/IconVerticalSolidList"/>
    <dgm:cxn modelId="{19CF916A-C1A9-4DF2-8F03-CE550D56C273}" srcId="{87147A75-09DD-4FBD-AD7B-678F0BED94D5}" destId="{00DC8AEA-E61F-4BD0-8A8A-41DF66885A4D}" srcOrd="0" destOrd="0" parTransId="{BED1D847-59D7-4469-B8E8-E17759ADD46C}" sibTransId="{967D4D98-FD80-407D-8F6B-249FEF004485}"/>
    <dgm:cxn modelId="{5241BF73-F9CD-4A4D-9EC2-19C851BED394}" type="presOf" srcId="{0BABC1FB-A6E7-49A4-A8F0-CD63F0167399}" destId="{4B1A94F1-ED44-43F9-8697-DAC826F72627}" srcOrd="0" destOrd="0" presId="urn:microsoft.com/office/officeart/2018/2/layout/IconVerticalSolidList"/>
    <dgm:cxn modelId="{37D6CE7B-36C2-49FB-863E-319492FA0090}" type="presOf" srcId="{87147A75-09DD-4FBD-AD7B-678F0BED94D5}" destId="{143EAF9D-D47C-4656-873D-983D2EC77ECE}" srcOrd="0" destOrd="0" presId="urn:microsoft.com/office/officeart/2018/2/layout/IconVerticalSolidList"/>
    <dgm:cxn modelId="{042D4D7E-B689-4C64-9967-03E6DD6C7AE8}" type="presOf" srcId="{387B4CF7-7281-4151-9F8B-59EA7FEB2E44}" destId="{2D17C3C3-2F90-406E-97DF-39523E12E45B}" srcOrd="0" destOrd="0" presId="urn:microsoft.com/office/officeart/2018/2/layout/IconVerticalSolidList"/>
    <dgm:cxn modelId="{DE56B993-7F8B-4BF8-B1D7-D98623CE4538}" srcId="{F589B7D0-65BE-4171-8F61-E4C4C873E8B0}" destId="{99D7DB36-A093-4D31-AE5D-FDB9EB94B0B8}" srcOrd="2" destOrd="0" parTransId="{7F75342E-7FAA-4193-A978-2145496F0B9E}" sibTransId="{6134FF27-956E-425C-8C1A-A775C4CF7835}"/>
    <dgm:cxn modelId="{C2CC7598-7091-4505-A783-C75D53E6850A}" type="presOf" srcId="{1EE9C478-EF2B-4B78-839F-BF0F040D091D}" destId="{7E597974-7EE1-4A96-A7FD-3E68D3A77BD5}" srcOrd="0" destOrd="1" presId="urn:microsoft.com/office/officeart/2018/2/layout/IconVerticalSolidList"/>
    <dgm:cxn modelId="{B1E99299-1B81-413A-9337-FEC130C60AA9}" type="presOf" srcId="{99D7DB36-A093-4D31-AE5D-FDB9EB94B0B8}" destId="{6FAD5681-92A0-4D3E-BB64-9B424B43DB28}" srcOrd="0" destOrd="0" presId="urn:microsoft.com/office/officeart/2018/2/layout/IconVerticalSolidList"/>
    <dgm:cxn modelId="{5BC9BE9A-E942-4218-920D-24E012103330}" type="presOf" srcId="{F589B7D0-65BE-4171-8F61-E4C4C873E8B0}" destId="{5FE8249A-AE90-4DBD-A03F-309F48A1F27A}" srcOrd="0" destOrd="0" presId="urn:microsoft.com/office/officeart/2018/2/layout/IconVerticalSolidList"/>
    <dgm:cxn modelId="{8FEBB4A1-C106-4AE5-B8D1-B1D216777E5E}" type="presOf" srcId="{46D54DF8-0F36-4FAC-A625-1F8D1AF30B7C}" destId="{08019335-348C-4ADE-BF98-903707CF8645}" srcOrd="0" destOrd="1" presId="urn:microsoft.com/office/officeart/2018/2/layout/IconVerticalSolidList"/>
    <dgm:cxn modelId="{BCC608BD-018E-41E5-A2A4-F4B853AE49FB}" srcId="{F589B7D0-65BE-4171-8F61-E4C4C873E8B0}" destId="{FB0C31AD-B64E-4FE7-9595-3D076BB35653}" srcOrd="1" destOrd="0" parTransId="{C2C40BFE-BBCA-4149-BC04-45178751FD81}" sibTransId="{6F6EA4A4-62CB-411A-BFF9-49B8DB6DC3F2}"/>
    <dgm:cxn modelId="{A7BFF1C9-2A60-46D0-9393-F50018A404F5}" srcId="{F589B7D0-65BE-4171-8F61-E4C4C873E8B0}" destId="{87147A75-09DD-4FBD-AD7B-678F0BED94D5}" srcOrd="3" destOrd="0" parTransId="{64FE9822-A4A3-45D0-9D46-DE3FA5B24AA6}" sibTransId="{5BD55275-861C-4EF5-8B04-303F82E4D63C}"/>
    <dgm:cxn modelId="{1BE38BD7-DB8E-47DF-9BBC-5AC64E79EA2D}" srcId="{99D7DB36-A093-4D31-AE5D-FDB9EB94B0B8}" destId="{6DF65412-19A5-44B4-9486-F98230E87A9D}" srcOrd="1" destOrd="0" parTransId="{1170551A-12DB-45E3-9834-F86D3568F96B}" sibTransId="{82199E4F-EE07-4DBC-85EF-88D356090E13}"/>
    <dgm:cxn modelId="{3422EDDA-DB77-43C2-A15E-DE3FB598FC0A}" type="presOf" srcId="{00DC8AEA-E61F-4BD0-8A8A-41DF66885A4D}" destId="{08019335-348C-4ADE-BF98-903707CF8645}" srcOrd="0" destOrd="0" presId="urn:microsoft.com/office/officeart/2018/2/layout/IconVerticalSolidList"/>
    <dgm:cxn modelId="{26DFCDF9-2EF8-4E71-B79B-889B4B726CF1}" srcId="{F589B7D0-65BE-4171-8F61-E4C4C873E8B0}" destId="{387B4CF7-7281-4151-9F8B-59EA7FEB2E44}" srcOrd="0" destOrd="0" parTransId="{B94C185B-5C57-42E8-9B7C-C3E84FA4F659}" sibTransId="{780A2416-40CA-42BE-94DF-A2F4AD954832}"/>
    <dgm:cxn modelId="{B6373CFA-5AFA-4316-A8C8-593F91948FDF}" srcId="{387B4CF7-7281-4151-9F8B-59EA7FEB2E44}" destId="{B1313CDF-42BD-468E-96C5-F219FDFD4FA5}" srcOrd="0" destOrd="0" parTransId="{3A56FF13-4086-4C34-876E-3C8AD82CA086}" sibTransId="{0943F723-CBA0-493B-8B0E-9A1488A45177}"/>
    <dgm:cxn modelId="{9FE95F58-7D8B-4AB1-867D-757A768302A9}" type="presParOf" srcId="{5FE8249A-AE90-4DBD-A03F-309F48A1F27A}" destId="{2A400196-D861-4E1C-A7CC-17C83222EE49}" srcOrd="0" destOrd="0" presId="urn:microsoft.com/office/officeart/2018/2/layout/IconVerticalSolidList"/>
    <dgm:cxn modelId="{66CF6696-938D-4266-9379-C8B029BF0811}" type="presParOf" srcId="{2A400196-D861-4E1C-A7CC-17C83222EE49}" destId="{051A2D1F-8A6D-474D-B098-FF65817ECAEB}" srcOrd="0" destOrd="0" presId="urn:microsoft.com/office/officeart/2018/2/layout/IconVerticalSolidList"/>
    <dgm:cxn modelId="{90008305-1FDE-493D-B07D-66516E779879}" type="presParOf" srcId="{2A400196-D861-4E1C-A7CC-17C83222EE49}" destId="{E0B69BC0-3C7F-4E08-BF60-1E5915804D16}" srcOrd="1" destOrd="0" presId="urn:microsoft.com/office/officeart/2018/2/layout/IconVerticalSolidList"/>
    <dgm:cxn modelId="{50C459C2-6763-48C5-A53C-18EC92DFBAA0}" type="presParOf" srcId="{2A400196-D861-4E1C-A7CC-17C83222EE49}" destId="{70C33D5F-C780-4D13-8F24-EDDE6172B960}" srcOrd="2" destOrd="0" presId="urn:microsoft.com/office/officeart/2018/2/layout/IconVerticalSolidList"/>
    <dgm:cxn modelId="{300BC049-AE73-4026-ADEB-2E4B1CB862D9}" type="presParOf" srcId="{2A400196-D861-4E1C-A7CC-17C83222EE49}" destId="{2D17C3C3-2F90-406E-97DF-39523E12E45B}" srcOrd="3" destOrd="0" presId="urn:microsoft.com/office/officeart/2018/2/layout/IconVerticalSolidList"/>
    <dgm:cxn modelId="{5F636972-547B-4F6F-B66E-11A18E40A8C6}" type="presParOf" srcId="{2A400196-D861-4E1C-A7CC-17C83222EE49}" destId="{7E597974-7EE1-4A96-A7FD-3E68D3A77BD5}" srcOrd="4" destOrd="0" presId="urn:microsoft.com/office/officeart/2018/2/layout/IconVerticalSolidList"/>
    <dgm:cxn modelId="{5C2EE225-CA24-4EB3-8329-A8DFC8ED24C7}" type="presParOf" srcId="{5FE8249A-AE90-4DBD-A03F-309F48A1F27A}" destId="{D2418149-883F-4846-9076-1B083F4CAC5F}" srcOrd="1" destOrd="0" presId="urn:microsoft.com/office/officeart/2018/2/layout/IconVerticalSolidList"/>
    <dgm:cxn modelId="{520309A0-09B5-44B0-8CD7-B9937229C005}" type="presParOf" srcId="{5FE8249A-AE90-4DBD-A03F-309F48A1F27A}" destId="{23799DB3-0D31-4215-9CA8-8B8CA6769105}" srcOrd="2" destOrd="0" presId="urn:microsoft.com/office/officeart/2018/2/layout/IconVerticalSolidList"/>
    <dgm:cxn modelId="{E066A18C-D700-4EFC-A1BC-277116C2B707}" type="presParOf" srcId="{23799DB3-0D31-4215-9CA8-8B8CA6769105}" destId="{6C6652EB-6277-4A69-B4D7-66C40FD54D0C}" srcOrd="0" destOrd="0" presId="urn:microsoft.com/office/officeart/2018/2/layout/IconVerticalSolidList"/>
    <dgm:cxn modelId="{BE10BBCB-9AED-4055-B20B-139C395D0DA7}" type="presParOf" srcId="{23799DB3-0D31-4215-9CA8-8B8CA6769105}" destId="{CDDBD3A2-9B02-4C4A-96EE-C80ADCE2ABB5}" srcOrd="1" destOrd="0" presId="urn:microsoft.com/office/officeart/2018/2/layout/IconVerticalSolidList"/>
    <dgm:cxn modelId="{16358C2D-4181-492D-89BE-4213DFDB8EFE}" type="presParOf" srcId="{23799DB3-0D31-4215-9CA8-8B8CA6769105}" destId="{AADE67BC-9637-44CB-A18D-E87DD2D06AD4}" srcOrd="2" destOrd="0" presId="urn:microsoft.com/office/officeart/2018/2/layout/IconVerticalSolidList"/>
    <dgm:cxn modelId="{0D34B00F-B212-4B4E-B399-5B74BD415F5D}" type="presParOf" srcId="{23799DB3-0D31-4215-9CA8-8B8CA6769105}" destId="{20D311EF-CE4E-4F82-91D0-8B0BF0AB35F2}" srcOrd="3" destOrd="0" presId="urn:microsoft.com/office/officeart/2018/2/layout/IconVerticalSolidList"/>
    <dgm:cxn modelId="{D17985B4-D911-4880-AD8F-AB8AB7E3167E}" type="presParOf" srcId="{23799DB3-0D31-4215-9CA8-8B8CA6769105}" destId="{4B1A94F1-ED44-43F9-8697-DAC826F72627}" srcOrd="4" destOrd="0" presId="urn:microsoft.com/office/officeart/2018/2/layout/IconVerticalSolidList"/>
    <dgm:cxn modelId="{C13DD793-6D3D-4CEF-AA73-C97E8C3636BD}" type="presParOf" srcId="{5FE8249A-AE90-4DBD-A03F-309F48A1F27A}" destId="{9DDDFE36-8AA9-4A00-B8B3-F20575A61685}" srcOrd="3" destOrd="0" presId="urn:microsoft.com/office/officeart/2018/2/layout/IconVerticalSolidList"/>
    <dgm:cxn modelId="{B2686A9A-9202-4692-AEA1-06918E983BF9}" type="presParOf" srcId="{5FE8249A-AE90-4DBD-A03F-309F48A1F27A}" destId="{D83C7B60-0B85-4CB6-A3B6-D775ABF83ADE}" srcOrd="4" destOrd="0" presId="urn:microsoft.com/office/officeart/2018/2/layout/IconVerticalSolidList"/>
    <dgm:cxn modelId="{286DCF60-2FC9-4E51-9853-2659508E1FC4}" type="presParOf" srcId="{D83C7B60-0B85-4CB6-A3B6-D775ABF83ADE}" destId="{91C68C68-6509-4400-BC7C-4687F13B6077}" srcOrd="0" destOrd="0" presId="urn:microsoft.com/office/officeart/2018/2/layout/IconVerticalSolidList"/>
    <dgm:cxn modelId="{BC1D72A7-309A-44C7-B15E-F6CB7103BDAA}" type="presParOf" srcId="{D83C7B60-0B85-4CB6-A3B6-D775ABF83ADE}" destId="{B02A706B-A990-4541-8F9D-CA79FD5AD9C7}" srcOrd="1" destOrd="0" presId="urn:microsoft.com/office/officeart/2018/2/layout/IconVerticalSolidList"/>
    <dgm:cxn modelId="{39080C94-9090-45AE-ABA5-CCFFDB31FD37}" type="presParOf" srcId="{D83C7B60-0B85-4CB6-A3B6-D775ABF83ADE}" destId="{AA851B43-2D0B-48B8-8B10-C9B630EE3FEF}" srcOrd="2" destOrd="0" presId="urn:microsoft.com/office/officeart/2018/2/layout/IconVerticalSolidList"/>
    <dgm:cxn modelId="{62B1680E-4BC8-403C-9509-599BA00A1AD5}" type="presParOf" srcId="{D83C7B60-0B85-4CB6-A3B6-D775ABF83ADE}" destId="{6FAD5681-92A0-4D3E-BB64-9B424B43DB28}" srcOrd="3" destOrd="0" presId="urn:microsoft.com/office/officeart/2018/2/layout/IconVerticalSolidList"/>
    <dgm:cxn modelId="{25966673-3B4B-4138-AD7A-07DA5CB19291}" type="presParOf" srcId="{D83C7B60-0B85-4CB6-A3B6-D775ABF83ADE}" destId="{1A79BC3C-C50C-445C-9C61-A696D6EA904A}" srcOrd="4" destOrd="0" presId="urn:microsoft.com/office/officeart/2018/2/layout/IconVerticalSolidList"/>
    <dgm:cxn modelId="{B55C3541-4CF3-4FA3-BA6B-6B594CAD955A}" type="presParOf" srcId="{5FE8249A-AE90-4DBD-A03F-309F48A1F27A}" destId="{3B22227E-FA7B-454C-B696-E6E827933F21}" srcOrd="5" destOrd="0" presId="urn:microsoft.com/office/officeart/2018/2/layout/IconVerticalSolidList"/>
    <dgm:cxn modelId="{41D4FEAF-5417-4CF1-9DF4-7C38F138B09E}" type="presParOf" srcId="{5FE8249A-AE90-4DBD-A03F-309F48A1F27A}" destId="{AB57FF99-10E7-4455-8CC3-46B3A37A02CC}" srcOrd="6" destOrd="0" presId="urn:microsoft.com/office/officeart/2018/2/layout/IconVerticalSolidList"/>
    <dgm:cxn modelId="{0C5B75CF-C903-4C57-AAEF-FC2A6FF160BF}" type="presParOf" srcId="{AB57FF99-10E7-4455-8CC3-46B3A37A02CC}" destId="{23F89853-E585-4DA6-9C90-DB226940737A}" srcOrd="0" destOrd="0" presId="urn:microsoft.com/office/officeart/2018/2/layout/IconVerticalSolidList"/>
    <dgm:cxn modelId="{60DA22C8-B3A6-424F-A71C-2B78BD87DEA2}" type="presParOf" srcId="{AB57FF99-10E7-4455-8CC3-46B3A37A02CC}" destId="{023183F8-0654-4958-A780-D96B20308C7C}" srcOrd="1" destOrd="0" presId="urn:microsoft.com/office/officeart/2018/2/layout/IconVerticalSolidList"/>
    <dgm:cxn modelId="{4AB071ED-2446-45FC-8E83-F5EBA5526B20}" type="presParOf" srcId="{AB57FF99-10E7-4455-8CC3-46B3A37A02CC}" destId="{9781BAF9-F482-4E12-A199-B928D823C43F}" srcOrd="2" destOrd="0" presId="urn:microsoft.com/office/officeart/2018/2/layout/IconVerticalSolidList"/>
    <dgm:cxn modelId="{1C7AD1BA-A9F8-4F03-8286-50731299F5B6}" type="presParOf" srcId="{AB57FF99-10E7-4455-8CC3-46B3A37A02CC}" destId="{143EAF9D-D47C-4656-873D-983D2EC77ECE}" srcOrd="3" destOrd="0" presId="urn:microsoft.com/office/officeart/2018/2/layout/IconVerticalSolidList"/>
    <dgm:cxn modelId="{325ACB22-3FF6-4F10-9FB9-76FA1EBCE253}" type="presParOf" srcId="{AB57FF99-10E7-4455-8CC3-46B3A37A02CC}" destId="{08019335-348C-4ADE-BF98-903707CF8645}"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D6AB362-3B7D-48B0-8F75-DA83ED22BE3E}"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A852729F-4CE6-45FE-8BC9-1B20D38C481C}">
      <dgm:prSet/>
      <dgm:spPr/>
      <dgm:t>
        <a:bodyPr/>
        <a:lstStyle/>
        <a:p>
          <a:r>
            <a:rPr lang="en-US" b="1"/>
            <a:t>Real-World Applications</a:t>
          </a:r>
          <a:r>
            <a:rPr lang="en-US"/>
            <a:t>:</a:t>
          </a:r>
        </a:p>
      </dgm:t>
    </dgm:pt>
    <dgm:pt modelId="{16A77CDA-0117-4D42-ADBD-56EC0D779F38}" type="parTrans" cxnId="{EB7CAAB7-6BE3-4966-AB6F-433046C75193}">
      <dgm:prSet/>
      <dgm:spPr/>
      <dgm:t>
        <a:bodyPr/>
        <a:lstStyle/>
        <a:p>
          <a:endParaRPr lang="en-US"/>
        </a:p>
      </dgm:t>
    </dgm:pt>
    <dgm:pt modelId="{3A19151F-B56C-4036-B715-7F9C3D1454E0}" type="sibTrans" cxnId="{EB7CAAB7-6BE3-4966-AB6F-433046C75193}">
      <dgm:prSet/>
      <dgm:spPr/>
      <dgm:t>
        <a:bodyPr/>
        <a:lstStyle/>
        <a:p>
          <a:endParaRPr lang="en-US"/>
        </a:p>
      </dgm:t>
    </dgm:pt>
    <dgm:pt modelId="{6A3AADCF-9698-4170-97D1-66B6267F7BBC}">
      <dgm:prSet/>
      <dgm:spPr/>
      <dgm:t>
        <a:bodyPr/>
        <a:lstStyle/>
        <a:p>
          <a:r>
            <a:rPr lang="en-US"/>
            <a:t>Ideal for cybersecurity training, educational labs, or cloud-based infrastructure management.</a:t>
          </a:r>
        </a:p>
      </dgm:t>
    </dgm:pt>
    <dgm:pt modelId="{CB288D56-4887-4B85-A2C8-5DE3FDEC7C5F}" type="parTrans" cxnId="{C348D6F8-9982-43C3-87A4-4F17FE3EF509}">
      <dgm:prSet/>
      <dgm:spPr/>
      <dgm:t>
        <a:bodyPr/>
        <a:lstStyle/>
        <a:p>
          <a:endParaRPr lang="en-US"/>
        </a:p>
      </dgm:t>
    </dgm:pt>
    <dgm:pt modelId="{95A085EE-13AA-4183-97B2-140C6EB71536}" type="sibTrans" cxnId="{C348D6F8-9982-43C3-87A4-4F17FE3EF509}">
      <dgm:prSet/>
      <dgm:spPr/>
      <dgm:t>
        <a:bodyPr/>
        <a:lstStyle/>
        <a:p>
          <a:endParaRPr lang="en-US"/>
        </a:p>
      </dgm:t>
    </dgm:pt>
    <dgm:pt modelId="{5355260E-1887-4BA3-A03D-E436025CE456}">
      <dgm:prSet/>
      <dgm:spPr/>
      <dgm:t>
        <a:bodyPr/>
        <a:lstStyle/>
        <a:p>
          <a:r>
            <a:rPr lang="en-US"/>
            <a:t>.</a:t>
          </a:r>
          <a:r>
            <a:rPr lang="en-US" b="1"/>
            <a:t>Collaboration Tools</a:t>
          </a:r>
          <a:r>
            <a:rPr lang="en-US"/>
            <a:t>:</a:t>
          </a:r>
        </a:p>
      </dgm:t>
    </dgm:pt>
    <dgm:pt modelId="{52F78979-2322-4AF9-AF66-751FFA002FD7}" type="parTrans" cxnId="{B3FFEFBB-4269-4C03-AC82-4447A3CAF36C}">
      <dgm:prSet/>
      <dgm:spPr/>
      <dgm:t>
        <a:bodyPr/>
        <a:lstStyle/>
        <a:p>
          <a:endParaRPr lang="en-US"/>
        </a:p>
      </dgm:t>
    </dgm:pt>
    <dgm:pt modelId="{2FC54AE9-EA73-48E0-BE77-3BB833AD0BA1}" type="sibTrans" cxnId="{B3FFEFBB-4269-4C03-AC82-4447A3CAF36C}">
      <dgm:prSet/>
      <dgm:spPr/>
      <dgm:t>
        <a:bodyPr/>
        <a:lstStyle/>
        <a:p>
          <a:endParaRPr lang="en-US"/>
        </a:p>
      </dgm:t>
    </dgm:pt>
    <dgm:pt modelId="{2141A91D-A13E-44F1-B765-5D5336C145BB}">
      <dgm:prSet/>
      <dgm:spPr/>
      <dgm:t>
        <a:bodyPr/>
        <a:lstStyle/>
        <a:p>
          <a:r>
            <a:rPr lang="en-US"/>
            <a:t>OAuth integration simplifies access for team members using their existing Google accounts.</a:t>
          </a:r>
        </a:p>
      </dgm:t>
    </dgm:pt>
    <dgm:pt modelId="{6E7A15BE-558D-42F3-9001-5CE0178493A3}" type="parTrans" cxnId="{7B5EAB09-71D6-4FD6-9421-998F8FC631E5}">
      <dgm:prSet/>
      <dgm:spPr/>
      <dgm:t>
        <a:bodyPr/>
        <a:lstStyle/>
        <a:p>
          <a:endParaRPr lang="en-US"/>
        </a:p>
      </dgm:t>
    </dgm:pt>
    <dgm:pt modelId="{1C35C618-9E1E-4B19-9FBE-D43824C3F6DC}" type="sibTrans" cxnId="{7B5EAB09-71D6-4FD6-9421-998F8FC631E5}">
      <dgm:prSet/>
      <dgm:spPr/>
      <dgm:t>
        <a:bodyPr/>
        <a:lstStyle/>
        <a:p>
          <a:endParaRPr lang="en-US"/>
        </a:p>
      </dgm:t>
    </dgm:pt>
    <dgm:pt modelId="{13D91F53-B28C-4E34-85CC-045FEE8250DC}" type="pres">
      <dgm:prSet presAssocID="{9D6AB362-3B7D-48B0-8F75-DA83ED22BE3E}" presName="linear" presStyleCnt="0">
        <dgm:presLayoutVars>
          <dgm:dir/>
          <dgm:animLvl val="lvl"/>
          <dgm:resizeHandles val="exact"/>
        </dgm:presLayoutVars>
      </dgm:prSet>
      <dgm:spPr/>
    </dgm:pt>
    <dgm:pt modelId="{533458C8-03CF-4D10-A414-03C4499857B1}" type="pres">
      <dgm:prSet presAssocID="{A852729F-4CE6-45FE-8BC9-1B20D38C481C}" presName="parentLin" presStyleCnt="0"/>
      <dgm:spPr/>
    </dgm:pt>
    <dgm:pt modelId="{F5072663-BD69-490D-ADF4-041C49045B58}" type="pres">
      <dgm:prSet presAssocID="{A852729F-4CE6-45FE-8BC9-1B20D38C481C}" presName="parentLeftMargin" presStyleLbl="node1" presStyleIdx="0" presStyleCnt="2"/>
      <dgm:spPr/>
    </dgm:pt>
    <dgm:pt modelId="{0175630F-3C4B-47C9-A6D0-0378CAC5AF62}" type="pres">
      <dgm:prSet presAssocID="{A852729F-4CE6-45FE-8BC9-1B20D38C481C}" presName="parentText" presStyleLbl="node1" presStyleIdx="0" presStyleCnt="2">
        <dgm:presLayoutVars>
          <dgm:chMax val="0"/>
          <dgm:bulletEnabled val="1"/>
        </dgm:presLayoutVars>
      </dgm:prSet>
      <dgm:spPr/>
    </dgm:pt>
    <dgm:pt modelId="{8A4A4A33-9B49-4478-8573-2EFD538B991E}" type="pres">
      <dgm:prSet presAssocID="{A852729F-4CE6-45FE-8BC9-1B20D38C481C}" presName="negativeSpace" presStyleCnt="0"/>
      <dgm:spPr/>
    </dgm:pt>
    <dgm:pt modelId="{0439445E-3995-4DAE-8A2E-98F6FB579397}" type="pres">
      <dgm:prSet presAssocID="{A852729F-4CE6-45FE-8BC9-1B20D38C481C}" presName="childText" presStyleLbl="conFgAcc1" presStyleIdx="0" presStyleCnt="2">
        <dgm:presLayoutVars>
          <dgm:bulletEnabled val="1"/>
        </dgm:presLayoutVars>
      </dgm:prSet>
      <dgm:spPr/>
    </dgm:pt>
    <dgm:pt modelId="{E799E9E2-A3C4-4665-A8D4-A372015F07B0}" type="pres">
      <dgm:prSet presAssocID="{3A19151F-B56C-4036-B715-7F9C3D1454E0}" presName="spaceBetweenRectangles" presStyleCnt="0"/>
      <dgm:spPr/>
    </dgm:pt>
    <dgm:pt modelId="{A7694B35-FA91-4270-9DE9-E48270DDF650}" type="pres">
      <dgm:prSet presAssocID="{5355260E-1887-4BA3-A03D-E436025CE456}" presName="parentLin" presStyleCnt="0"/>
      <dgm:spPr/>
    </dgm:pt>
    <dgm:pt modelId="{989CAF9C-C6E9-4371-B3D3-679344160CBA}" type="pres">
      <dgm:prSet presAssocID="{5355260E-1887-4BA3-A03D-E436025CE456}" presName="parentLeftMargin" presStyleLbl="node1" presStyleIdx="0" presStyleCnt="2"/>
      <dgm:spPr/>
    </dgm:pt>
    <dgm:pt modelId="{AED910FE-4739-4C32-841E-94BB45D30A7B}" type="pres">
      <dgm:prSet presAssocID="{5355260E-1887-4BA3-A03D-E436025CE456}" presName="parentText" presStyleLbl="node1" presStyleIdx="1" presStyleCnt="2">
        <dgm:presLayoutVars>
          <dgm:chMax val="0"/>
          <dgm:bulletEnabled val="1"/>
        </dgm:presLayoutVars>
      </dgm:prSet>
      <dgm:spPr/>
    </dgm:pt>
    <dgm:pt modelId="{7554AFA6-98E5-42CC-BF35-F88C0EFF2DFB}" type="pres">
      <dgm:prSet presAssocID="{5355260E-1887-4BA3-A03D-E436025CE456}" presName="negativeSpace" presStyleCnt="0"/>
      <dgm:spPr/>
    </dgm:pt>
    <dgm:pt modelId="{3EE0BDC2-1257-452A-855C-CA5E0C68547B}" type="pres">
      <dgm:prSet presAssocID="{5355260E-1887-4BA3-A03D-E436025CE456}" presName="childText" presStyleLbl="conFgAcc1" presStyleIdx="1" presStyleCnt="2">
        <dgm:presLayoutVars>
          <dgm:bulletEnabled val="1"/>
        </dgm:presLayoutVars>
      </dgm:prSet>
      <dgm:spPr/>
    </dgm:pt>
  </dgm:ptLst>
  <dgm:cxnLst>
    <dgm:cxn modelId="{7B5EAB09-71D6-4FD6-9421-998F8FC631E5}" srcId="{5355260E-1887-4BA3-A03D-E436025CE456}" destId="{2141A91D-A13E-44F1-B765-5D5336C145BB}" srcOrd="0" destOrd="0" parTransId="{6E7A15BE-558D-42F3-9001-5CE0178493A3}" sibTransId="{1C35C618-9E1E-4B19-9FBE-D43824C3F6DC}"/>
    <dgm:cxn modelId="{933AA722-6151-4D66-B443-F134C2DC2E13}" type="presOf" srcId="{5355260E-1887-4BA3-A03D-E436025CE456}" destId="{989CAF9C-C6E9-4371-B3D3-679344160CBA}" srcOrd="0" destOrd="0" presId="urn:microsoft.com/office/officeart/2005/8/layout/list1"/>
    <dgm:cxn modelId="{64ED5727-CD30-4429-87EB-861A20E2AB76}" type="presOf" srcId="{A852729F-4CE6-45FE-8BC9-1B20D38C481C}" destId="{F5072663-BD69-490D-ADF4-041C49045B58}" srcOrd="0" destOrd="0" presId="urn:microsoft.com/office/officeart/2005/8/layout/list1"/>
    <dgm:cxn modelId="{6596C336-088C-4C61-B1EB-4F6D388C7C79}" type="presOf" srcId="{A852729F-4CE6-45FE-8BC9-1B20D38C481C}" destId="{0175630F-3C4B-47C9-A6D0-0378CAC5AF62}" srcOrd="1" destOrd="0" presId="urn:microsoft.com/office/officeart/2005/8/layout/list1"/>
    <dgm:cxn modelId="{7CD60A67-F286-4E45-B5DA-101F143F71B8}" type="presOf" srcId="{5355260E-1887-4BA3-A03D-E436025CE456}" destId="{AED910FE-4739-4C32-841E-94BB45D30A7B}" srcOrd="1" destOrd="0" presId="urn:microsoft.com/office/officeart/2005/8/layout/list1"/>
    <dgm:cxn modelId="{2FA9D967-6BBD-44D6-B2A3-E4B7595A254D}" type="presOf" srcId="{2141A91D-A13E-44F1-B765-5D5336C145BB}" destId="{3EE0BDC2-1257-452A-855C-CA5E0C68547B}" srcOrd="0" destOrd="0" presId="urn:microsoft.com/office/officeart/2005/8/layout/list1"/>
    <dgm:cxn modelId="{24762750-5FB8-4CD1-83B8-5C22F90473F5}" type="presOf" srcId="{9D6AB362-3B7D-48B0-8F75-DA83ED22BE3E}" destId="{13D91F53-B28C-4E34-85CC-045FEE8250DC}" srcOrd="0" destOrd="0" presId="urn:microsoft.com/office/officeart/2005/8/layout/list1"/>
    <dgm:cxn modelId="{23F34150-6CB9-4096-82D9-BF1797BEC5F8}" type="presOf" srcId="{6A3AADCF-9698-4170-97D1-66B6267F7BBC}" destId="{0439445E-3995-4DAE-8A2E-98F6FB579397}" srcOrd="0" destOrd="0" presId="urn:microsoft.com/office/officeart/2005/8/layout/list1"/>
    <dgm:cxn modelId="{EB7CAAB7-6BE3-4966-AB6F-433046C75193}" srcId="{9D6AB362-3B7D-48B0-8F75-DA83ED22BE3E}" destId="{A852729F-4CE6-45FE-8BC9-1B20D38C481C}" srcOrd="0" destOrd="0" parTransId="{16A77CDA-0117-4D42-ADBD-56EC0D779F38}" sibTransId="{3A19151F-B56C-4036-B715-7F9C3D1454E0}"/>
    <dgm:cxn modelId="{B3FFEFBB-4269-4C03-AC82-4447A3CAF36C}" srcId="{9D6AB362-3B7D-48B0-8F75-DA83ED22BE3E}" destId="{5355260E-1887-4BA3-A03D-E436025CE456}" srcOrd="1" destOrd="0" parTransId="{52F78979-2322-4AF9-AF66-751FFA002FD7}" sibTransId="{2FC54AE9-EA73-48E0-BE77-3BB833AD0BA1}"/>
    <dgm:cxn modelId="{C348D6F8-9982-43C3-87A4-4F17FE3EF509}" srcId="{A852729F-4CE6-45FE-8BC9-1B20D38C481C}" destId="{6A3AADCF-9698-4170-97D1-66B6267F7BBC}" srcOrd="0" destOrd="0" parTransId="{CB288D56-4887-4B85-A2C8-5DE3FDEC7C5F}" sibTransId="{95A085EE-13AA-4183-97B2-140C6EB71536}"/>
    <dgm:cxn modelId="{3B82E891-CAE4-4FA0-9BF0-A90A72CB700A}" type="presParOf" srcId="{13D91F53-B28C-4E34-85CC-045FEE8250DC}" destId="{533458C8-03CF-4D10-A414-03C4499857B1}" srcOrd="0" destOrd="0" presId="urn:microsoft.com/office/officeart/2005/8/layout/list1"/>
    <dgm:cxn modelId="{18BE5BB4-21B8-4DB6-A670-26D2A3891291}" type="presParOf" srcId="{533458C8-03CF-4D10-A414-03C4499857B1}" destId="{F5072663-BD69-490D-ADF4-041C49045B58}" srcOrd="0" destOrd="0" presId="urn:microsoft.com/office/officeart/2005/8/layout/list1"/>
    <dgm:cxn modelId="{0E8E6F55-0FB5-43C4-82F3-364E657AE083}" type="presParOf" srcId="{533458C8-03CF-4D10-A414-03C4499857B1}" destId="{0175630F-3C4B-47C9-A6D0-0378CAC5AF62}" srcOrd="1" destOrd="0" presId="urn:microsoft.com/office/officeart/2005/8/layout/list1"/>
    <dgm:cxn modelId="{C683D49A-79B0-425E-860D-C068B0E391CC}" type="presParOf" srcId="{13D91F53-B28C-4E34-85CC-045FEE8250DC}" destId="{8A4A4A33-9B49-4478-8573-2EFD538B991E}" srcOrd="1" destOrd="0" presId="urn:microsoft.com/office/officeart/2005/8/layout/list1"/>
    <dgm:cxn modelId="{317DE8A8-90A0-42CE-8533-038605A2C2E3}" type="presParOf" srcId="{13D91F53-B28C-4E34-85CC-045FEE8250DC}" destId="{0439445E-3995-4DAE-8A2E-98F6FB579397}" srcOrd="2" destOrd="0" presId="urn:microsoft.com/office/officeart/2005/8/layout/list1"/>
    <dgm:cxn modelId="{3A0F98B7-31E5-4F15-B128-236AB2B38CED}" type="presParOf" srcId="{13D91F53-B28C-4E34-85CC-045FEE8250DC}" destId="{E799E9E2-A3C4-4665-A8D4-A372015F07B0}" srcOrd="3" destOrd="0" presId="urn:microsoft.com/office/officeart/2005/8/layout/list1"/>
    <dgm:cxn modelId="{C3B7C727-AA67-43FD-B225-55D4AD5189DF}" type="presParOf" srcId="{13D91F53-B28C-4E34-85CC-045FEE8250DC}" destId="{A7694B35-FA91-4270-9DE9-E48270DDF650}" srcOrd="4" destOrd="0" presId="urn:microsoft.com/office/officeart/2005/8/layout/list1"/>
    <dgm:cxn modelId="{62BFC94A-2457-47F5-97B6-B1795EE2B738}" type="presParOf" srcId="{A7694B35-FA91-4270-9DE9-E48270DDF650}" destId="{989CAF9C-C6E9-4371-B3D3-679344160CBA}" srcOrd="0" destOrd="0" presId="urn:microsoft.com/office/officeart/2005/8/layout/list1"/>
    <dgm:cxn modelId="{A88881F7-CE22-405B-95A6-0EEA15F46B62}" type="presParOf" srcId="{A7694B35-FA91-4270-9DE9-E48270DDF650}" destId="{AED910FE-4739-4C32-841E-94BB45D30A7B}" srcOrd="1" destOrd="0" presId="urn:microsoft.com/office/officeart/2005/8/layout/list1"/>
    <dgm:cxn modelId="{0FE9F496-D8B9-4B4E-8697-FBCF73E2F057}" type="presParOf" srcId="{13D91F53-B28C-4E34-85CC-045FEE8250DC}" destId="{7554AFA6-98E5-42CC-BF35-F88C0EFF2DFB}" srcOrd="5" destOrd="0" presId="urn:microsoft.com/office/officeart/2005/8/layout/list1"/>
    <dgm:cxn modelId="{7E4BE164-7A1E-4FA2-B4B1-1A335E6FD93F}" type="presParOf" srcId="{13D91F53-B28C-4E34-85CC-045FEE8250DC}" destId="{3EE0BDC2-1257-452A-855C-CA5E0C68547B}"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08B9282-BF16-4D58-B273-E2CE1AEB6073}" type="doc">
      <dgm:prSet loTypeId="urn:microsoft.com/office/officeart/2018/2/layout/IconLabelDescriptionList" loCatId="icon" qsTypeId="urn:microsoft.com/office/officeart/2005/8/quickstyle/simple1" qsCatId="simple" csTypeId="urn:microsoft.com/office/officeart/2005/8/colors/accent3_2" csCatId="accent3" phldr="1"/>
      <dgm:spPr/>
      <dgm:t>
        <a:bodyPr/>
        <a:lstStyle/>
        <a:p>
          <a:endParaRPr lang="en-US"/>
        </a:p>
      </dgm:t>
    </dgm:pt>
    <dgm:pt modelId="{D176CA5D-4762-41FC-A4D8-93001307964A}">
      <dgm:prSet/>
      <dgm:spPr/>
      <dgm:t>
        <a:bodyPr/>
        <a:lstStyle/>
        <a:p>
          <a:pPr>
            <a:defRPr b="1"/>
          </a:pPr>
          <a:r>
            <a:rPr lang="en-US" b="1"/>
            <a:t>Limited Parallel Deployments</a:t>
          </a:r>
          <a:r>
            <a:rPr lang="en-US"/>
            <a:t>:</a:t>
          </a:r>
        </a:p>
      </dgm:t>
    </dgm:pt>
    <dgm:pt modelId="{8CD8955E-ECD1-4DEA-AC28-FFD9CE8DA845}" type="parTrans" cxnId="{C9D2E958-FF76-4D34-897D-4B1948B56D61}">
      <dgm:prSet/>
      <dgm:spPr/>
      <dgm:t>
        <a:bodyPr/>
        <a:lstStyle/>
        <a:p>
          <a:endParaRPr lang="en-US"/>
        </a:p>
      </dgm:t>
    </dgm:pt>
    <dgm:pt modelId="{0A2A4D03-D6E0-4DA1-83B1-38A3E51E166D}" type="sibTrans" cxnId="{C9D2E958-FF76-4D34-897D-4B1948B56D61}">
      <dgm:prSet/>
      <dgm:spPr/>
      <dgm:t>
        <a:bodyPr/>
        <a:lstStyle/>
        <a:p>
          <a:endParaRPr lang="en-US"/>
        </a:p>
      </dgm:t>
    </dgm:pt>
    <dgm:pt modelId="{A6B30D12-F76A-4575-BB0E-DD5FCBDF3F61}">
      <dgm:prSet/>
      <dgm:spPr/>
      <dgm:t>
        <a:bodyPr/>
        <a:lstStyle/>
        <a:p>
          <a:r>
            <a:rPr lang="en-US"/>
            <a:t>Current system struggles to handle multiple lab requests simultaneously due to hardware or Proxmox node constraints.</a:t>
          </a:r>
        </a:p>
      </dgm:t>
    </dgm:pt>
    <dgm:pt modelId="{3F2B4E3C-D821-4090-BD7B-7F6709D59FF5}" type="parTrans" cxnId="{6D7CD9A3-5970-4996-87EB-B8BBF750BB01}">
      <dgm:prSet/>
      <dgm:spPr/>
      <dgm:t>
        <a:bodyPr/>
        <a:lstStyle/>
        <a:p>
          <a:endParaRPr lang="en-US"/>
        </a:p>
      </dgm:t>
    </dgm:pt>
    <dgm:pt modelId="{CA3C9F89-DA1A-4603-A1F7-6945EB5376B9}" type="sibTrans" cxnId="{6D7CD9A3-5970-4996-87EB-B8BBF750BB01}">
      <dgm:prSet/>
      <dgm:spPr/>
      <dgm:t>
        <a:bodyPr/>
        <a:lstStyle/>
        <a:p>
          <a:endParaRPr lang="en-US"/>
        </a:p>
      </dgm:t>
    </dgm:pt>
    <dgm:pt modelId="{2DC91464-80E6-42FB-9546-ADCC930E48AD}">
      <dgm:prSet/>
      <dgm:spPr/>
      <dgm:t>
        <a:bodyPr/>
        <a:lstStyle/>
        <a:p>
          <a:r>
            <a:rPr lang="en-US"/>
            <a:t>Manual intervention required for some scaling tasks</a:t>
          </a:r>
        </a:p>
      </dgm:t>
    </dgm:pt>
    <dgm:pt modelId="{1CD31FAD-0EFD-4402-B9E6-FB76CF9DD17B}" type="parTrans" cxnId="{930584A1-1BF7-41F7-B06B-7D989AC0C2EA}">
      <dgm:prSet/>
      <dgm:spPr/>
      <dgm:t>
        <a:bodyPr/>
        <a:lstStyle/>
        <a:p>
          <a:endParaRPr lang="en-US"/>
        </a:p>
      </dgm:t>
    </dgm:pt>
    <dgm:pt modelId="{356CF96B-B49A-4BA3-B6E4-9F029A620F39}" type="sibTrans" cxnId="{930584A1-1BF7-41F7-B06B-7D989AC0C2EA}">
      <dgm:prSet/>
      <dgm:spPr/>
      <dgm:t>
        <a:bodyPr/>
        <a:lstStyle/>
        <a:p>
          <a:endParaRPr lang="en-US"/>
        </a:p>
      </dgm:t>
    </dgm:pt>
    <dgm:pt modelId="{667534BD-7E62-416E-BDC8-A1B587F32673}">
      <dgm:prSet/>
      <dgm:spPr/>
      <dgm:t>
        <a:bodyPr/>
        <a:lstStyle/>
        <a:p>
          <a:pPr>
            <a:defRPr b="1"/>
          </a:pPr>
          <a:r>
            <a:rPr lang="en-US" b="1"/>
            <a:t>SSH Key Management</a:t>
          </a:r>
          <a:r>
            <a:rPr lang="en-US"/>
            <a:t>:</a:t>
          </a:r>
        </a:p>
      </dgm:t>
    </dgm:pt>
    <dgm:pt modelId="{97904537-313F-4E6A-8AF7-85360EC1B1B5}" type="parTrans" cxnId="{8B61A30D-84DD-4BF9-A24D-6EEB160E1FEB}">
      <dgm:prSet/>
      <dgm:spPr/>
      <dgm:t>
        <a:bodyPr/>
        <a:lstStyle/>
        <a:p>
          <a:endParaRPr lang="en-US"/>
        </a:p>
      </dgm:t>
    </dgm:pt>
    <dgm:pt modelId="{AB2CEA22-2768-4281-90BD-93822F9A3F00}" type="sibTrans" cxnId="{8B61A30D-84DD-4BF9-A24D-6EEB160E1FEB}">
      <dgm:prSet/>
      <dgm:spPr/>
      <dgm:t>
        <a:bodyPr/>
        <a:lstStyle/>
        <a:p>
          <a:endParaRPr lang="en-US"/>
        </a:p>
      </dgm:t>
    </dgm:pt>
    <dgm:pt modelId="{EAE61964-50C2-44DB-8776-2E6386B72F6D}">
      <dgm:prSet/>
      <dgm:spPr/>
      <dgm:t>
        <a:bodyPr/>
        <a:lstStyle/>
        <a:p>
          <a:r>
            <a:rPr lang="en-US"/>
            <a:t>Risk of key misplacement or improper permissions leading to unauthorized access.</a:t>
          </a:r>
        </a:p>
      </dgm:t>
    </dgm:pt>
    <dgm:pt modelId="{8F84DB86-43EE-4EF8-BFC7-783B511C56BB}" type="parTrans" cxnId="{A5C3E3F6-E0C1-4582-9086-CCBA7D3D78C6}">
      <dgm:prSet/>
      <dgm:spPr/>
      <dgm:t>
        <a:bodyPr/>
        <a:lstStyle/>
        <a:p>
          <a:endParaRPr lang="en-US"/>
        </a:p>
      </dgm:t>
    </dgm:pt>
    <dgm:pt modelId="{8EA51362-A02D-4CC1-9B8D-F09CE4F75345}" type="sibTrans" cxnId="{A5C3E3F6-E0C1-4582-9086-CCBA7D3D78C6}">
      <dgm:prSet/>
      <dgm:spPr/>
      <dgm:t>
        <a:bodyPr/>
        <a:lstStyle/>
        <a:p>
          <a:endParaRPr lang="en-US"/>
        </a:p>
      </dgm:t>
    </dgm:pt>
    <dgm:pt modelId="{2F9DCD1D-CD4C-4186-8B51-9460D3E92825}">
      <dgm:prSet/>
      <dgm:spPr/>
      <dgm:t>
        <a:bodyPr/>
        <a:lstStyle/>
        <a:p>
          <a:r>
            <a:rPr lang="en-US"/>
            <a:t>Misconfigured .env files could expose sensitive information like API keys and secrets.</a:t>
          </a:r>
        </a:p>
      </dgm:t>
    </dgm:pt>
    <dgm:pt modelId="{7C69DEE0-5E4E-4763-B896-2717038D5D67}" type="parTrans" cxnId="{A997DDAC-2F5B-4809-873B-8F668C06101F}">
      <dgm:prSet/>
      <dgm:spPr/>
      <dgm:t>
        <a:bodyPr/>
        <a:lstStyle/>
        <a:p>
          <a:endParaRPr lang="en-US"/>
        </a:p>
      </dgm:t>
    </dgm:pt>
    <dgm:pt modelId="{809950B4-FF4C-48B3-8A44-EF0A53D2A4DD}" type="sibTrans" cxnId="{A997DDAC-2F5B-4809-873B-8F668C06101F}">
      <dgm:prSet/>
      <dgm:spPr/>
      <dgm:t>
        <a:bodyPr/>
        <a:lstStyle/>
        <a:p>
          <a:endParaRPr lang="en-US"/>
        </a:p>
      </dgm:t>
    </dgm:pt>
    <dgm:pt modelId="{F1C7CCF7-1EC6-48F5-BC98-5832AA036C71}" type="pres">
      <dgm:prSet presAssocID="{808B9282-BF16-4D58-B273-E2CE1AEB6073}" presName="root" presStyleCnt="0">
        <dgm:presLayoutVars>
          <dgm:dir/>
          <dgm:resizeHandles val="exact"/>
        </dgm:presLayoutVars>
      </dgm:prSet>
      <dgm:spPr/>
    </dgm:pt>
    <dgm:pt modelId="{1FD2501B-6087-4A4C-AE70-274D4C2894B7}" type="pres">
      <dgm:prSet presAssocID="{D176CA5D-4762-41FC-A4D8-93001307964A}" presName="compNode" presStyleCnt="0"/>
      <dgm:spPr/>
    </dgm:pt>
    <dgm:pt modelId="{6108E0E5-88A4-4FE7-958E-687530E4BC19}" type="pres">
      <dgm:prSet presAssocID="{D176CA5D-4762-41FC-A4D8-93001307964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2D29C666-F3FB-4021-BA9F-D52352B0051D}" type="pres">
      <dgm:prSet presAssocID="{D176CA5D-4762-41FC-A4D8-93001307964A}" presName="iconSpace" presStyleCnt="0"/>
      <dgm:spPr/>
    </dgm:pt>
    <dgm:pt modelId="{199F9C4E-1D83-4291-9FC0-97139F5C4343}" type="pres">
      <dgm:prSet presAssocID="{D176CA5D-4762-41FC-A4D8-93001307964A}" presName="parTx" presStyleLbl="revTx" presStyleIdx="0" presStyleCnt="4">
        <dgm:presLayoutVars>
          <dgm:chMax val="0"/>
          <dgm:chPref val="0"/>
        </dgm:presLayoutVars>
      </dgm:prSet>
      <dgm:spPr/>
    </dgm:pt>
    <dgm:pt modelId="{0EA23837-5DD9-4143-9A54-96E82FEA5251}" type="pres">
      <dgm:prSet presAssocID="{D176CA5D-4762-41FC-A4D8-93001307964A}" presName="txSpace" presStyleCnt="0"/>
      <dgm:spPr/>
    </dgm:pt>
    <dgm:pt modelId="{D0F7966F-F029-4E3F-8743-8CE38083817C}" type="pres">
      <dgm:prSet presAssocID="{D176CA5D-4762-41FC-A4D8-93001307964A}" presName="desTx" presStyleLbl="revTx" presStyleIdx="1" presStyleCnt="4">
        <dgm:presLayoutVars/>
      </dgm:prSet>
      <dgm:spPr/>
    </dgm:pt>
    <dgm:pt modelId="{C03132AF-E758-48EB-A6C3-8BD3BC389FF8}" type="pres">
      <dgm:prSet presAssocID="{0A2A4D03-D6E0-4DA1-83B1-38A3E51E166D}" presName="sibTrans" presStyleCnt="0"/>
      <dgm:spPr/>
    </dgm:pt>
    <dgm:pt modelId="{3CA3E11B-BDEC-4F50-BC31-93D6641A25E1}" type="pres">
      <dgm:prSet presAssocID="{667534BD-7E62-416E-BDC8-A1B587F32673}" presName="compNode" presStyleCnt="0"/>
      <dgm:spPr/>
    </dgm:pt>
    <dgm:pt modelId="{EBF0D4A8-E1BA-4BE5-A49C-DB0AC0E44DBC}" type="pres">
      <dgm:prSet presAssocID="{667534BD-7E62-416E-BDC8-A1B587F3267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nlock"/>
        </a:ext>
      </dgm:extLst>
    </dgm:pt>
    <dgm:pt modelId="{5BC11258-5847-4184-8680-FB973F2EE909}" type="pres">
      <dgm:prSet presAssocID="{667534BD-7E62-416E-BDC8-A1B587F32673}" presName="iconSpace" presStyleCnt="0"/>
      <dgm:spPr/>
    </dgm:pt>
    <dgm:pt modelId="{40D382D0-3C7F-4B39-A196-41932A054A65}" type="pres">
      <dgm:prSet presAssocID="{667534BD-7E62-416E-BDC8-A1B587F32673}" presName="parTx" presStyleLbl="revTx" presStyleIdx="2" presStyleCnt="4">
        <dgm:presLayoutVars>
          <dgm:chMax val="0"/>
          <dgm:chPref val="0"/>
        </dgm:presLayoutVars>
      </dgm:prSet>
      <dgm:spPr/>
    </dgm:pt>
    <dgm:pt modelId="{8FD4A6AE-DB9B-48EB-A586-6030FCBD45BF}" type="pres">
      <dgm:prSet presAssocID="{667534BD-7E62-416E-BDC8-A1B587F32673}" presName="txSpace" presStyleCnt="0"/>
      <dgm:spPr/>
    </dgm:pt>
    <dgm:pt modelId="{17D4BF03-2AA2-43A2-AD90-E6246814F6CC}" type="pres">
      <dgm:prSet presAssocID="{667534BD-7E62-416E-BDC8-A1B587F32673}" presName="desTx" presStyleLbl="revTx" presStyleIdx="3" presStyleCnt="4">
        <dgm:presLayoutVars/>
      </dgm:prSet>
      <dgm:spPr/>
    </dgm:pt>
  </dgm:ptLst>
  <dgm:cxnLst>
    <dgm:cxn modelId="{8B61A30D-84DD-4BF9-A24D-6EEB160E1FEB}" srcId="{808B9282-BF16-4D58-B273-E2CE1AEB6073}" destId="{667534BD-7E62-416E-BDC8-A1B587F32673}" srcOrd="1" destOrd="0" parTransId="{97904537-313F-4E6A-8AF7-85360EC1B1B5}" sibTransId="{AB2CEA22-2768-4281-90BD-93822F9A3F00}"/>
    <dgm:cxn modelId="{7636B227-411E-4A0C-8310-2475FEFBF16F}" type="presOf" srcId="{667534BD-7E62-416E-BDC8-A1B587F32673}" destId="{40D382D0-3C7F-4B39-A196-41932A054A65}" srcOrd="0" destOrd="0" presId="urn:microsoft.com/office/officeart/2018/2/layout/IconLabelDescriptionList"/>
    <dgm:cxn modelId="{7E2AE341-44EC-4DA3-A84B-0C9A5FA428EF}" type="presOf" srcId="{2F9DCD1D-CD4C-4186-8B51-9460D3E92825}" destId="{17D4BF03-2AA2-43A2-AD90-E6246814F6CC}" srcOrd="0" destOrd="1" presId="urn:microsoft.com/office/officeart/2018/2/layout/IconLabelDescriptionList"/>
    <dgm:cxn modelId="{8998A14A-6567-461E-B09F-C896134D6CD1}" type="presOf" srcId="{2DC91464-80E6-42FB-9546-ADCC930E48AD}" destId="{D0F7966F-F029-4E3F-8743-8CE38083817C}" srcOrd="0" destOrd="1" presId="urn:microsoft.com/office/officeart/2018/2/layout/IconLabelDescriptionList"/>
    <dgm:cxn modelId="{ED509873-DA1F-4A93-9B26-648DB126EF16}" type="presOf" srcId="{808B9282-BF16-4D58-B273-E2CE1AEB6073}" destId="{F1C7CCF7-1EC6-48F5-BC98-5832AA036C71}" srcOrd="0" destOrd="0" presId="urn:microsoft.com/office/officeart/2018/2/layout/IconLabelDescriptionList"/>
    <dgm:cxn modelId="{C9D2E958-FF76-4D34-897D-4B1948B56D61}" srcId="{808B9282-BF16-4D58-B273-E2CE1AEB6073}" destId="{D176CA5D-4762-41FC-A4D8-93001307964A}" srcOrd="0" destOrd="0" parTransId="{8CD8955E-ECD1-4DEA-AC28-FFD9CE8DA845}" sibTransId="{0A2A4D03-D6E0-4DA1-83B1-38A3E51E166D}"/>
    <dgm:cxn modelId="{930584A1-1BF7-41F7-B06B-7D989AC0C2EA}" srcId="{D176CA5D-4762-41FC-A4D8-93001307964A}" destId="{2DC91464-80E6-42FB-9546-ADCC930E48AD}" srcOrd="1" destOrd="0" parTransId="{1CD31FAD-0EFD-4402-B9E6-FB76CF9DD17B}" sibTransId="{356CF96B-B49A-4BA3-B6E4-9F029A620F39}"/>
    <dgm:cxn modelId="{6D7CD9A3-5970-4996-87EB-B8BBF750BB01}" srcId="{D176CA5D-4762-41FC-A4D8-93001307964A}" destId="{A6B30D12-F76A-4575-BB0E-DD5FCBDF3F61}" srcOrd="0" destOrd="0" parTransId="{3F2B4E3C-D821-4090-BD7B-7F6709D59FF5}" sibTransId="{CA3C9F89-DA1A-4603-A1F7-6945EB5376B9}"/>
    <dgm:cxn modelId="{A997DDAC-2F5B-4809-873B-8F668C06101F}" srcId="{667534BD-7E62-416E-BDC8-A1B587F32673}" destId="{2F9DCD1D-CD4C-4186-8B51-9460D3E92825}" srcOrd="1" destOrd="0" parTransId="{7C69DEE0-5E4E-4763-B896-2717038D5D67}" sibTransId="{809950B4-FF4C-48B3-8A44-EF0A53D2A4DD}"/>
    <dgm:cxn modelId="{18F674BF-A220-4EDA-82D7-157511E12EDE}" type="presOf" srcId="{D176CA5D-4762-41FC-A4D8-93001307964A}" destId="{199F9C4E-1D83-4291-9FC0-97139F5C4343}" srcOrd="0" destOrd="0" presId="urn:microsoft.com/office/officeart/2018/2/layout/IconLabelDescriptionList"/>
    <dgm:cxn modelId="{52175BCC-D127-45DE-A12B-B9B9B3B8C103}" type="presOf" srcId="{A6B30D12-F76A-4575-BB0E-DD5FCBDF3F61}" destId="{D0F7966F-F029-4E3F-8743-8CE38083817C}" srcOrd="0" destOrd="0" presId="urn:microsoft.com/office/officeart/2018/2/layout/IconLabelDescriptionList"/>
    <dgm:cxn modelId="{A9137AD9-D089-4793-A9D3-932E17021955}" type="presOf" srcId="{EAE61964-50C2-44DB-8776-2E6386B72F6D}" destId="{17D4BF03-2AA2-43A2-AD90-E6246814F6CC}" srcOrd="0" destOrd="0" presId="urn:microsoft.com/office/officeart/2018/2/layout/IconLabelDescriptionList"/>
    <dgm:cxn modelId="{A5C3E3F6-E0C1-4582-9086-CCBA7D3D78C6}" srcId="{667534BD-7E62-416E-BDC8-A1B587F32673}" destId="{EAE61964-50C2-44DB-8776-2E6386B72F6D}" srcOrd="0" destOrd="0" parTransId="{8F84DB86-43EE-4EF8-BFC7-783B511C56BB}" sibTransId="{8EA51362-A02D-4CC1-9B8D-F09CE4F75345}"/>
    <dgm:cxn modelId="{39AA4088-74EC-46E7-9686-0D38564F5EBD}" type="presParOf" srcId="{F1C7CCF7-1EC6-48F5-BC98-5832AA036C71}" destId="{1FD2501B-6087-4A4C-AE70-274D4C2894B7}" srcOrd="0" destOrd="0" presId="urn:microsoft.com/office/officeart/2018/2/layout/IconLabelDescriptionList"/>
    <dgm:cxn modelId="{D6B14237-5091-488E-B59D-36A685B08680}" type="presParOf" srcId="{1FD2501B-6087-4A4C-AE70-274D4C2894B7}" destId="{6108E0E5-88A4-4FE7-958E-687530E4BC19}" srcOrd="0" destOrd="0" presId="urn:microsoft.com/office/officeart/2018/2/layout/IconLabelDescriptionList"/>
    <dgm:cxn modelId="{DB4E6876-DD18-415B-857F-2A86A300BF48}" type="presParOf" srcId="{1FD2501B-6087-4A4C-AE70-274D4C2894B7}" destId="{2D29C666-F3FB-4021-BA9F-D52352B0051D}" srcOrd="1" destOrd="0" presId="urn:microsoft.com/office/officeart/2018/2/layout/IconLabelDescriptionList"/>
    <dgm:cxn modelId="{871EC822-6D33-4E95-A37B-83243F78BD75}" type="presParOf" srcId="{1FD2501B-6087-4A4C-AE70-274D4C2894B7}" destId="{199F9C4E-1D83-4291-9FC0-97139F5C4343}" srcOrd="2" destOrd="0" presId="urn:microsoft.com/office/officeart/2018/2/layout/IconLabelDescriptionList"/>
    <dgm:cxn modelId="{2090E963-5276-4A66-AF07-5D3F666FFF61}" type="presParOf" srcId="{1FD2501B-6087-4A4C-AE70-274D4C2894B7}" destId="{0EA23837-5DD9-4143-9A54-96E82FEA5251}" srcOrd="3" destOrd="0" presId="urn:microsoft.com/office/officeart/2018/2/layout/IconLabelDescriptionList"/>
    <dgm:cxn modelId="{A1F11067-7637-4975-9A14-1B43614DBF73}" type="presParOf" srcId="{1FD2501B-6087-4A4C-AE70-274D4C2894B7}" destId="{D0F7966F-F029-4E3F-8743-8CE38083817C}" srcOrd="4" destOrd="0" presId="urn:microsoft.com/office/officeart/2018/2/layout/IconLabelDescriptionList"/>
    <dgm:cxn modelId="{85D1776D-FBA3-4EE7-BF68-B611643F38D7}" type="presParOf" srcId="{F1C7CCF7-1EC6-48F5-BC98-5832AA036C71}" destId="{C03132AF-E758-48EB-A6C3-8BD3BC389FF8}" srcOrd="1" destOrd="0" presId="urn:microsoft.com/office/officeart/2018/2/layout/IconLabelDescriptionList"/>
    <dgm:cxn modelId="{1D1D9B9D-5EEB-47BC-8F3E-6D7061C797A0}" type="presParOf" srcId="{F1C7CCF7-1EC6-48F5-BC98-5832AA036C71}" destId="{3CA3E11B-BDEC-4F50-BC31-93D6641A25E1}" srcOrd="2" destOrd="0" presId="urn:microsoft.com/office/officeart/2018/2/layout/IconLabelDescriptionList"/>
    <dgm:cxn modelId="{27DA6275-9F3B-4D8F-BFE6-55A05047F7BD}" type="presParOf" srcId="{3CA3E11B-BDEC-4F50-BC31-93D6641A25E1}" destId="{EBF0D4A8-E1BA-4BE5-A49C-DB0AC0E44DBC}" srcOrd="0" destOrd="0" presId="urn:microsoft.com/office/officeart/2018/2/layout/IconLabelDescriptionList"/>
    <dgm:cxn modelId="{C741E8C8-485D-419C-BDE0-A4310A228F97}" type="presParOf" srcId="{3CA3E11B-BDEC-4F50-BC31-93D6641A25E1}" destId="{5BC11258-5847-4184-8680-FB973F2EE909}" srcOrd="1" destOrd="0" presId="urn:microsoft.com/office/officeart/2018/2/layout/IconLabelDescriptionList"/>
    <dgm:cxn modelId="{AA9B5C90-ED18-43FF-BFA5-811F1E60B76F}" type="presParOf" srcId="{3CA3E11B-BDEC-4F50-BC31-93D6641A25E1}" destId="{40D382D0-3C7F-4B39-A196-41932A054A65}" srcOrd="2" destOrd="0" presId="urn:microsoft.com/office/officeart/2018/2/layout/IconLabelDescriptionList"/>
    <dgm:cxn modelId="{3F8B710C-E0CF-4BCB-A708-FCF99D172B31}" type="presParOf" srcId="{3CA3E11B-BDEC-4F50-BC31-93D6641A25E1}" destId="{8FD4A6AE-DB9B-48EB-A586-6030FCBD45BF}" srcOrd="3" destOrd="0" presId="urn:microsoft.com/office/officeart/2018/2/layout/IconLabelDescriptionList"/>
    <dgm:cxn modelId="{B6D56DDC-4D3C-4D92-ABEE-6ED4EE0FEAD3}" type="presParOf" srcId="{3CA3E11B-BDEC-4F50-BC31-93D6641A25E1}" destId="{17D4BF03-2AA2-43A2-AD90-E6246814F6CC}"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69FFC8-242D-4A88-B48F-B479C6235E30}">
      <dsp:nvSpPr>
        <dsp:cNvPr id="0" name=""/>
        <dsp:cNvSpPr/>
      </dsp:nvSpPr>
      <dsp:spPr>
        <a:xfrm>
          <a:off x="0" y="0"/>
          <a:ext cx="10168127" cy="369417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004385" tIns="0" rIns="1004385" bIns="330200" numCol="1" spcCol="1270" anchor="t" anchorCtr="0">
          <a:noAutofit/>
        </a:bodyPr>
        <a:lstStyle/>
        <a:p>
          <a:pPr marL="0" lvl="0" indent="0" algn="l" defTabSz="1155700">
            <a:lnSpc>
              <a:spcPct val="90000"/>
            </a:lnSpc>
            <a:spcBef>
              <a:spcPct val="0"/>
            </a:spcBef>
            <a:spcAft>
              <a:spcPct val="35000"/>
            </a:spcAft>
            <a:buNone/>
          </a:pPr>
          <a:r>
            <a:rPr lang="en-US" sz="2600" kern="1200"/>
            <a:t>Cyber security students often need environments running simulated cyber security tests. This prompts them to resort to installing these environments on their local machines.</a:t>
          </a:r>
        </a:p>
      </dsp:txBody>
      <dsp:txXfrm>
        <a:off x="0" y="1477670"/>
        <a:ext cx="10168127" cy="2216505"/>
      </dsp:txXfrm>
    </dsp:sp>
    <dsp:sp modelId="{44337BA8-A18E-4B6C-A748-AFDEA2FA4039}">
      <dsp:nvSpPr>
        <dsp:cNvPr id="0" name=""/>
        <dsp:cNvSpPr/>
      </dsp:nvSpPr>
      <dsp:spPr>
        <a:xfrm>
          <a:off x="0" y="0"/>
          <a:ext cx="10168127" cy="1477670"/>
        </a:xfrm>
        <a:prstGeom prst="rect">
          <a:avLst/>
        </a:prstGeom>
        <a:noFill/>
        <a:ln w="6350" cap="flat" cmpd="sng" algn="ctr">
          <a:noFill/>
          <a:prstDash val="solid"/>
          <a:miter lim="800000"/>
        </a:ln>
        <a:effectLst>
          <a:outerShdw blurRad="57150" dist="19050" dir="5400000" algn="ctr" rotWithShape="0">
            <a:srgbClr val="000000">
              <a:alpha val="63000"/>
            </a:srgbClr>
          </a:outerShdw>
        </a:effectLst>
        <a:sp3d/>
      </dsp:spPr>
      <dsp:style>
        <a:lnRef idx="1">
          <a:scrgbClr r="0" g="0" b="0"/>
        </a:lnRef>
        <a:fillRef idx="3">
          <a:scrgbClr r="0" g="0" b="0"/>
        </a:fillRef>
        <a:effectRef idx="3">
          <a:scrgbClr r="0" g="0" b="0"/>
        </a:effectRef>
        <a:fontRef idx="minor">
          <a:schemeClr val="lt1"/>
        </a:fontRef>
      </dsp:style>
      <dsp:txBody>
        <a:bodyPr spcFirstLastPara="0" vert="horz" wrap="square" lIns="1004385" tIns="165100" rIns="1004385"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0" y="0"/>
        <a:ext cx="10168127" cy="14776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1AED7E-9EEB-49FA-8363-F71D70CFC663}">
      <dsp:nvSpPr>
        <dsp:cNvPr id="0" name=""/>
        <dsp:cNvSpPr/>
      </dsp:nvSpPr>
      <dsp:spPr>
        <a:xfrm>
          <a:off x="0" y="0"/>
          <a:ext cx="10168127" cy="3694176"/>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004385" tIns="0" rIns="1004385" bIns="330200" numCol="1" spcCol="1270" anchor="t" anchorCtr="0">
          <a:noAutofit/>
        </a:bodyPr>
        <a:lstStyle/>
        <a:p>
          <a:pPr marL="0" lvl="0" indent="0" algn="l" defTabSz="1155700">
            <a:lnSpc>
              <a:spcPct val="90000"/>
            </a:lnSpc>
            <a:spcBef>
              <a:spcPct val="0"/>
            </a:spcBef>
            <a:spcAft>
              <a:spcPct val="35000"/>
            </a:spcAft>
            <a:buNone/>
          </a:pPr>
          <a:r>
            <a:rPr lang="en-US" sz="2600" kern="1200"/>
            <a:t>On a good day, for someone familiar with Linux this can take anywhere between 4 hours – weeks to set up these environments that might include </a:t>
          </a:r>
          <a:r>
            <a:rPr lang="en-US" sz="2600" b="1" kern="1200"/>
            <a:t>Kali Linux, OWASP juice shop and other web applications</a:t>
          </a:r>
          <a:r>
            <a:rPr lang="en-US" sz="2600" kern="1200"/>
            <a:t> to be used.</a:t>
          </a:r>
        </a:p>
      </dsp:txBody>
      <dsp:txXfrm>
        <a:off x="0" y="1477670"/>
        <a:ext cx="10168127" cy="2216505"/>
      </dsp:txXfrm>
    </dsp:sp>
    <dsp:sp modelId="{094CC383-81C5-4CB9-8B7C-0289E1DCFF1B}">
      <dsp:nvSpPr>
        <dsp:cNvPr id="0" name=""/>
        <dsp:cNvSpPr/>
      </dsp:nvSpPr>
      <dsp:spPr>
        <a:xfrm>
          <a:off x="0" y="0"/>
          <a:ext cx="10168127" cy="1477670"/>
        </a:xfrm>
        <a:prstGeom prst="rect">
          <a:avLst/>
        </a:prstGeom>
        <a:noFill/>
        <a:ln w="6350" cap="flat" cmpd="sng" algn="ctr">
          <a:noFill/>
          <a:prstDash val="solid"/>
          <a:miter lim="800000"/>
        </a:ln>
        <a:effectLst>
          <a:outerShdw blurRad="57150" dist="19050" dir="5400000" algn="ctr" rotWithShape="0">
            <a:srgbClr val="000000">
              <a:alpha val="63000"/>
            </a:srgbClr>
          </a:outerShdw>
        </a:effectLst>
        <a:sp3d/>
      </dsp:spPr>
      <dsp:style>
        <a:lnRef idx="1">
          <a:scrgbClr r="0" g="0" b="0"/>
        </a:lnRef>
        <a:fillRef idx="3">
          <a:scrgbClr r="0" g="0" b="0"/>
        </a:fillRef>
        <a:effectRef idx="3">
          <a:scrgbClr r="0" g="0" b="0"/>
        </a:effectRef>
        <a:fontRef idx="minor">
          <a:schemeClr val="lt1"/>
        </a:fontRef>
      </dsp:style>
      <dsp:txBody>
        <a:bodyPr spcFirstLastPara="0" vert="horz" wrap="square" lIns="1004385" tIns="165100" rIns="1004385"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0" y="0"/>
        <a:ext cx="10168127" cy="14776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3999E7-135E-483A-A146-EECE1B734561}">
      <dsp:nvSpPr>
        <dsp:cNvPr id="0" name=""/>
        <dsp:cNvSpPr/>
      </dsp:nvSpPr>
      <dsp:spPr>
        <a:xfrm>
          <a:off x="0" y="0"/>
          <a:ext cx="8642908" cy="16623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Other service providers for these services such as </a:t>
          </a:r>
          <a:r>
            <a:rPr lang="en-US" sz="1700" b="1" kern="1200"/>
            <a:t>US Cyber Range, Test Out, Skillable</a:t>
          </a:r>
          <a:r>
            <a:rPr lang="en-US" sz="1700" kern="1200"/>
            <a:t> and others are very costly. </a:t>
          </a:r>
        </a:p>
      </dsp:txBody>
      <dsp:txXfrm>
        <a:off x="48689" y="48689"/>
        <a:ext cx="6924711" cy="1565001"/>
      </dsp:txXfrm>
    </dsp:sp>
    <dsp:sp modelId="{A8C6A057-4F54-4E2F-BE3F-A32A296555A2}">
      <dsp:nvSpPr>
        <dsp:cNvPr id="0" name=""/>
        <dsp:cNvSpPr/>
      </dsp:nvSpPr>
      <dsp:spPr>
        <a:xfrm>
          <a:off x="1525219" y="2031796"/>
          <a:ext cx="8642908" cy="16623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Our solution could over Illinois Tech Cyber security students and professors, a user friendly, consistent, cost effective software platform where students can deploy the lab environment within minutes reducing effort put into setting up lab environments and actually focusing on the skills development</a:t>
          </a:r>
        </a:p>
      </dsp:txBody>
      <dsp:txXfrm>
        <a:off x="1573908" y="2080485"/>
        <a:ext cx="5939765" cy="1565001"/>
      </dsp:txXfrm>
    </dsp:sp>
    <dsp:sp modelId="{35ECFF77-E6A0-4550-8850-079806269351}">
      <dsp:nvSpPr>
        <dsp:cNvPr id="0" name=""/>
        <dsp:cNvSpPr/>
      </dsp:nvSpPr>
      <dsp:spPr>
        <a:xfrm>
          <a:off x="7562362" y="1306814"/>
          <a:ext cx="1080546" cy="1080546"/>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7805485" y="1306814"/>
        <a:ext cx="594300" cy="8131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242846-FD43-402F-96E6-3E8C6E7025C5}">
      <dsp:nvSpPr>
        <dsp:cNvPr id="0" name=""/>
        <dsp:cNvSpPr/>
      </dsp:nvSpPr>
      <dsp:spPr>
        <a:xfrm>
          <a:off x="0" y="84860"/>
          <a:ext cx="6729984" cy="12647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US" sz="2300" b="0" kern="1200">
              <a:latin typeface="Avenir Next LT Pro"/>
            </a:rPr>
            <a:t>Infrastructure as code tool to build, change, and version cloud and on-prem resources safely and efficiently</a:t>
          </a:r>
          <a:endParaRPr lang="en-US" sz="2300" b="0" kern="1200"/>
        </a:p>
      </dsp:txBody>
      <dsp:txXfrm>
        <a:off x="61741" y="146601"/>
        <a:ext cx="6606502" cy="1141288"/>
      </dsp:txXfrm>
    </dsp:sp>
    <dsp:sp modelId="{DFBE59EE-EA64-4E23-AD44-2C559584A63F}">
      <dsp:nvSpPr>
        <dsp:cNvPr id="0" name=""/>
        <dsp:cNvSpPr/>
      </dsp:nvSpPr>
      <dsp:spPr>
        <a:xfrm>
          <a:off x="0" y="1415870"/>
          <a:ext cx="6729984" cy="12647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US" sz="2300" kern="1200">
              <a:latin typeface="Avenir Next LT Pro"/>
            </a:rPr>
            <a:t>Creates and manages resources on cloud platforms and other services through their application programming interfaces (APIs)</a:t>
          </a:r>
          <a:endParaRPr lang="en-US" sz="2300" kern="1200"/>
        </a:p>
      </dsp:txBody>
      <dsp:txXfrm>
        <a:off x="61741" y="1477611"/>
        <a:ext cx="6606502" cy="1141288"/>
      </dsp:txXfrm>
    </dsp:sp>
    <dsp:sp modelId="{622C8CF4-5791-4C2A-B651-310FA41BA71D}">
      <dsp:nvSpPr>
        <dsp:cNvPr id="0" name=""/>
        <dsp:cNvSpPr/>
      </dsp:nvSpPr>
      <dsp:spPr>
        <a:xfrm>
          <a:off x="0" y="2746881"/>
          <a:ext cx="6729984" cy="12647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US" sz="2300" kern="1200">
              <a:latin typeface="Avenir Next LT Pro"/>
            </a:rPr>
            <a:t>Close</a:t>
          </a:r>
          <a:r>
            <a:rPr lang="en-US" sz="2300" kern="1200"/>
            <a:t> </a:t>
          </a:r>
          <a:r>
            <a:rPr lang="en-US" sz="2300" kern="1200">
              <a:latin typeface="Avenir Next LT Pro"/>
            </a:rPr>
            <a:t>to 200 servers</a:t>
          </a:r>
          <a:r>
            <a:rPr lang="en-US" sz="2300" kern="1200"/>
            <a:t> built</a:t>
          </a:r>
          <a:r>
            <a:rPr lang="en-US" sz="2300" kern="1200">
              <a:latin typeface="Avenir Next LT Pro"/>
            </a:rPr>
            <a:t> during the course of the project</a:t>
          </a:r>
          <a:endParaRPr lang="en-US" sz="2300" kern="1200"/>
        </a:p>
      </dsp:txBody>
      <dsp:txXfrm>
        <a:off x="61741" y="2808622"/>
        <a:ext cx="6606502" cy="11412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391356-2CB1-4506-9B1F-80A5184AD642}">
      <dsp:nvSpPr>
        <dsp:cNvPr id="0" name=""/>
        <dsp:cNvSpPr/>
      </dsp:nvSpPr>
      <dsp:spPr>
        <a:xfrm>
          <a:off x="0" y="0"/>
          <a:ext cx="8642908" cy="110825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The lab consists of 3 VMs. One kali workstation, and two intentionally vulnerable ubuntu servers.</a:t>
          </a:r>
        </a:p>
      </dsp:txBody>
      <dsp:txXfrm>
        <a:off x="32460" y="32460"/>
        <a:ext cx="7447016" cy="1043332"/>
      </dsp:txXfrm>
    </dsp:sp>
    <dsp:sp modelId="{3F642864-1E07-43A7-BD96-14729E66E53D}">
      <dsp:nvSpPr>
        <dsp:cNvPr id="0" name=""/>
        <dsp:cNvSpPr/>
      </dsp:nvSpPr>
      <dsp:spPr>
        <a:xfrm>
          <a:off x="762609" y="1292961"/>
          <a:ext cx="8642908" cy="110825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The vulnerable services are ssh and ftp.</a:t>
          </a:r>
        </a:p>
      </dsp:txBody>
      <dsp:txXfrm>
        <a:off x="795069" y="1325421"/>
        <a:ext cx="7095014" cy="1043332"/>
      </dsp:txXfrm>
    </dsp:sp>
    <dsp:sp modelId="{2B0D409A-5E6C-48EE-BB9E-BE5CF17DC6E7}">
      <dsp:nvSpPr>
        <dsp:cNvPr id="0" name=""/>
        <dsp:cNvSpPr/>
      </dsp:nvSpPr>
      <dsp:spPr>
        <a:xfrm>
          <a:off x="1525219" y="2585923"/>
          <a:ext cx="8642908" cy="110825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a:latin typeface="Avenir Next LT Pro"/>
            </a:rPr>
            <a:t>One</a:t>
          </a:r>
          <a:r>
            <a:rPr lang="en-US" sz="1800" kern="1200"/>
            <a:t> </a:t>
          </a:r>
          <a:r>
            <a:rPr lang="en-US" sz="1800" kern="1200">
              <a:latin typeface="Avenir Next LT Pro"/>
            </a:rPr>
            <a:t>of the biggest challenges</a:t>
          </a:r>
          <a:r>
            <a:rPr lang="en-US" sz="1800" kern="1200"/>
            <a:t> was isolate them from the school network, as well as create different zones such that VMs from one users session don't interact with another users session.</a:t>
          </a:r>
        </a:p>
      </dsp:txBody>
      <dsp:txXfrm>
        <a:off x="1557679" y="2618383"/>
        <a:ext cx="7095014" cy="1043332"/>
      </dsp:txXfrm>
    </dsp:sp>
    <dsp:sp modelId="{7F586C86-F0DA-4E7A-91C0-66D3B6F8999E}">
      <dsp:nvSpPr>
        <dsp:cNvPr id="0" name=""/>
        <dsp:cNvSpPr/>
      </dsp:nvSpPr>
      <dsp:spPr>
        <a:xfrm>
          <a:off x="7922544" y="840425"/>
          <a:ext cx="720364" cy="72036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8084626" y="840425"/>
        <a:ext cx="396200" cy="542074"/>
      </dsp:txXfrm>
    </dsp:sp>
    <dsp:sp modelId="{57C355D9-36C6-49D6-AB52-D7D1398A0560}">
      <dsp:nvSpPr>
        <dsp:cNvPr id="0" name=""/>
        <dsp:cNvSpPr/>
      </dsp:nvSpPr>
      <dsp:spPr>
        <a:xfrm>
          <a:off x="8685154" y="2125998"/>
          <a:ext cx="720364" cy="720364"/>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8847236" y="2125998"/>
        <a:ext cx="396200" cy="54207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563F37-71DC-4F4F-B23D-F6D73E1C80B6}">
      <dsp:nvSpPr>
        <dsp:cNvPr id="0" name=""/>
        <dsp:cNvSpPr/>
      </dsp:nvSpPr>
      <dsp:spPr>
        <a:xfrm>
          <a:off x="0" y="1325"/>
          <a:ext cx="6729984" cy="56467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7F928D-E684-4D3A-B26E-5C43A76311F2}">
      <dsp:nvSpPr>
        <dsp:cNvPr id="0" name=""/>
        <dsp:cNvSpPr/>
      </dsp:nvSpPr>
      <dsp:spPr>
        <a:xfrm>
          <a:off x="170812" y="128376"/>
          <a:ext cx="310568" cy="3105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0DAB8A-CDC4-493A-BABC-274796E05331}">
      <dsp:nvSpPr>
        <dsp:cNvPr id="0" name=""/>
        <dsp:cNvSpPr/>
      </dsp:nvSpPr>
      <dsp:spPr>
        <a:xfrm>
          <a:off x="652194" y="1325"/>
          <a:ext cx="6077789" cy="564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61" tIns="59761" rIns="59761" bIns="59761" numCol="1" spcCol="1270" anchor="ctr" anchorCtr="0">
          <a:noAutofit/>
        </a:bodyPr>
        <a:lstStyle/>
        <a:p>
          <a:pPr marL="0" lvl="0" indent="0" algn="l" defTabSz="622300">
            <a:lnSpc>
              <a:spcPct val="100000"/>
            </a:lnSpc>
            <a:spcBef>
              <a:spcPct val="0"/>
            </a:spcBef>
            <a:spcAft>
              <a:spcPct val="35000"/>
            </a:spcAft>
            <a:buNone/>
          </a:pPr>
          <a:r>
            <a:rPr lang="en-US" sz="1400" b="0" kern="1200"/>
            <a:t>Flask: Used for building the web application, handling routing, and HTTP requests.</a:t>
          </a:r>
        </a:p>
      </dsp:txBody>
      <dsp:txXfrm>
        <a:off x="652194" y="1325"/>
        <a:ext cx="6077789" cy="564670"/>
      </dsp:txXfrm>
    </dsp:sp>
    <dsp:sp modelId="{87B4B71E-4283-4E54-97E2-9DEA28A6768B}">
      <dsp:nvSpPr>
        <dsp:cNvPr id="0" name=""/>
        <dsp:cNvSpPr/>
      </dsp:nvSpPr>
      <dsp:spPr>
        <a:xfrm>
          <a:off x="0" y="707163"/>
          <a:ext cx="6729984" cy="56467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4F4F21-9160-4EE9-9AE2-FB6C47026F0A}">
      <dsp:nvSpPr>
        <dsp:cNvPr id="0" name=""/>
        <dsp:cNvSpPr/>
      </dsp:nvSpPr>
      <dsp:spPr>
        <a:xfrm>
          <a:off x="170812" y="834214"/>
          <a:ext cx="310568" cy="3105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F35AED-84A8-4768-B6AB-7533F6DB09BD}">
      <dsp:nvSpPr>
        <dsp:cNvPr id="0" name=""/>
        <dsp:cNvSpPr/>
      </dsp:nvSpPr>
      <dsp:spPr>
        <a:xfrm>
          <a:off x="652194" y="707163"/>
          <a:ext cx="6077789" cy="564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61" tIns="59761" rIns="59761" bIns="59761" numCol="1" spcCol="1270" anchor="ctr" anchorCtr="0">
          <a:noAutofit/>
        </a:bodyPr>
        <a:lstStyle/>
        <a:p>
          <a:pPr marL="0" lvl="0" indent="0" algn="l" defTabSz="622300">
            <a:lnSpc>
              <a:spcPct val="100000"/>
            </a:lnSpc>
            <a:spcBef>
              <a:spcPct val="0"/>
            </a:spcBef>
            <a:spcAft>
              <a:spcPct val="35000"/>
            </a:spcAft>
            <a:buNone/>
          </a:pPr>
          <a:r>
            <a:rPr lang="en-US" sz="1400" kern="1200"/>
            <a:t>Flask-SocketIO: Enables real-time, bidirectional communication between the server and clients.</a:t>
          </a:r>
        </a:p>
      </dsp:txBody>
      <dsp:txXfrm>
        <a:off x="652194" y="707163"/>
        <a:ext cx="6077789" cy="564670"/>
      </dsp:txXfrm>
    </dsp:sp>
    <dsp:sp modelId="{E08A5879-DA56-4402-AF01-719A45D9A0E2}">
      <dsp:nvSpPr>
        <dsp:cNvPr id="0" name=""/>
        <dsp:cNvSpPr/>
      </dsp:nvSpPr>
      <dsp:spPr>
        <a:xfrm>
          <a:off x="0" y="1413001"/>
          <a:ext cx="6729984" cy="56467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641FF3-A7E5-4FB0-AABD-703B9258D9EE}">
      <dsp:nvSpPr>
        <dsp:cNvPr id="0" name=""/>
        <dsp:cNvSpPr/>
      </dsp:nvSpPr>
      <dsp:spPr>
        <a:xfrm>
          <a:off x="170812" y="1540052"/>
          <a:ext cx="310568" cy="31056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29AFFE-DE0D-4253-BF65-BC028CA50E3E}">
      <dsp:nvSpPr>
        <dsp:cNvPr id="0" name=""/>
        <dsp:cNvSpPr/>
      </dsp:nvSpPr>
      <dsp:spPr>
        <a:xfrm>
          <a:off x="652194" y="1413001"/>
          <a:ext cx="6077789" cy="564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61" tIns="59761" rIns="59761" bIns="59761" numCol="1" spcCol="1270" anchor="ctr" anchorCtr="0">
          <a:noAutofit/>
        </a:bodyPr>
        <a:lstStyle/>
        <a:p>
          <a:pPr marL="0" lvl="0" indent="0" algn="l" defTabSz="622300">
            <a:lnSpc>
              <a:spcPct val="100000"/>
            </a:lnSpc>
            <a:spcBef>
              <a:spcPct val="0"/>
            </a:spcBef>
            <a:spcAft>
              <a:spcPct val="35000"/>
            </a:spcAft>
            <a:buNone/>
          </a:pPr>
          <a:r>
            <a:rPr lang="en-US" sz="1400" kern="1200"/>
            <a:t>Flask-Login: Manages user sessions and ensures authentication for protected routes.</a:t>
          </a:r>
          <a:endParaRPr lang="en-US" sz="1400" kern="1200">
            <a:latin typeface="Avenir Next LT Pro"/>
          </a:endParaRPr>
        </a:p>
      </dsp:txBody>
      <dsp:txXfrm>
        <a:off x="652194" y="1413001"/>
        <a:ext cx="6077789" cy="564670"/>
      </dsp:txXfrm>
    </dsp:sp>
    <dsp:sp modelId="{6E9AEAF6-A05B-4AAB-89C4-B8ADFA1B7C35}">
      <dsp:nvSpPr>
        <dsp:cNvPr id="0" name=""/>
        <dsp:cNvSpPr/>
      </dsp:nvSpPr>
      <dsp:spPr>
        <a:xfrm>
          <a:off x="0" y="2118839"/>
          <a:ext cx="6729984" cy="56467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ED81A1-5B68-4F28-903A-5E91567A49C8}">
      <dsp:nvSpPr>
        <dsp:cNvPr id="0" name=""/>
        <dsp:cNvSpPr/>
      </dsp:nvSpPr>
      <dsp:spPr>
        <a:xfrm>
          <a:off x="170812" y="2245890"/>
          <a:ext cx="310568" cy="31056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35EF28-B607-4E75-BD9A-47BD3D61E738}">
      <dsp:nvSpPr>
        <dsp:cNvPr id="0" name=""/>
        <dsp:cNvSpPr/>
      </dsp:nvSpPr>
      <dsp:spPr>
        <a:xfrm>
          <a:off x="652194" y="2118839"/>
          <a:ext cx="6077789" cy="564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61" tIns="59761" rIns="59761" bIns="59761" numCol="1" spcCol="1270" anchor="ctr" anchorCtr="0">
          <a:noAutofit/>
        </a:bodyPr>
        <a:lstStyle/>
        <a:p>
          <a:pPr marL="0" lvl="0" indent="0" algn="l" defTabSz="622300">
            <a:lnSpc>
              <a:spcPct val="100000"/>
            </a:lnSpc>
            <a:spcBef>
              <a:spcPct val="0"/>
            </a:spcBef>
            <a:spcAft>
              <a:spcPct val="35000"/>
            </a:spcAft>
            <a:buNone/>
          </a:pPr>
          <a:r>
            <a:rPr lang="en-US" sz="1400" kern="1200"/>
            <a:t>OAuth2 with </a:t>
          </a:r>
          <a:r>
            <a:rPr lang="en-US" sz="1400" kern="1200">
              <a:latin typeface="Consolas"/>
            </a:rPr>
            <a:t>requests_oauthlib</a:t>
          </a:r>
          <a:r>
            <a:rPr lang="en-US" sz="1400" kern="1200"/>
            <a:t>: Integrates Google OAuth for secure login.</a:t>
          </a:r>
          <a:endParaRPr lang="en-US" sz="1400" kern="1200">
            <a:latin typeface="Avenir Next LT Pro"/>
          </a:endParaRPr>
        </a:p>
      </dsp:txBody>
      <dsp:txXfrm>
        <a:off x="652194" y="2118839"/>
        <a:ext cx="6077789" cy="564670"/>
      </dsp:txXfrm>
    </dsp:sp>
    <dsp:sp modelId="{9BA2199A-5665-4231-80DA-BE6BDB04E40A}">
      <dsp:nvSpPr>
        <dsp:cNvPr id="0" name=""/>
        <dsp:cNvSpPr/>
      </dsp:nvSpPr>
      <dsp:spPr>
        <a:xfrm>
          <a:off x="0" y="2824678"/>
          <a:ext cx="6729984" cy="56467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52A09B-B021-4919-9BCA-AC669CC6D386}">
      <dsp:nvSpPr>
        <dsp:cNvPr id="0" name=""/>
        <dsp:cNvSpPr/>
      </dsp:nvSpPr>
      <dsp:spPr>
        <a:xfrm>
          <a:off x="170812" y="2951728"/>
          <a:ext cx="310568" cy="31056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9B4E73-DE9E-4328-B06E-EE0AC60CA939}">
      <dsp:nvSpPr>
        <dsp:cNvPr id="0" name=""/>
        <dsp:cNvSpPr/>
      </dsp:nvSpPr>
      <dsp:spPr>
        <a:xfrm>
          <a:off x="652194" y="2824678"/>
          <a:ext cx="6077789" cy="564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61" tIns="59761" rIns="59761" bIns="59761" numCol="1" spcCol="1270" anchor="ctr" anchorCtr="0">
          <a:noAutofit/>
        </a:bodyPr>
        <a:lstStyle/>
        <a:p>
          <a:pPr marL="0" lvl="0" indent="0" algn="l" defTabSz="622300" rtl="0">
            <a:lnSpc>
              <a:spcPct val="100000"/>
            </a:lnSpc>
            <a:spcBef>
              <a:spcPct val="0"/>
            </a:spcBef>
            <a:spcAft>
              <a:spcPct val="35000"/>
            </a:spcAft>
            <a:buNone/>
          </a:pPr>
          <a:r>
            <a:rPr lang="en-US" sz="1400" kern="1200" err="1">
              <a:latin typeface="Consolas"/>
            </a:rPr>
            <a:t>Dotenv</a:t>
          </a:r>
          <a:r>
            <a:rPr lang="en-US" sz="1400" kern="1200">
              <a:latin typeface="Consolas"/>
            </a:rPr>
            <a:t> and configparser</a:t>
          </a:r>
          <a:r>
            <a:rPr lang="en-US" sz="1400" kern="1200"/>
            <a:t>: Reads and manages configuration details (e.g., </a:t>
          </a:r>
          <a:r>
            <a:rPr lang="en-US" sz="1400" kern="1200" err="1"/>
            <a:t>Proxmox</a:t>
          </a:r>
          <a:r>
            <a:rPr lang="en-US" sz="1400" kern="1200"/>
            <a:t> API credentials).</a:t>
          </a:r>
          <a:endParaRPr lang="en-US" sz="1400" kern="1200">
            <a:latin typeface="Avenir Next LT Pro"/>
          </a:endParaRPr>
        </a:p>
      </dsp:txBody>
      <dsp:txXfrm>
        <a:off x="652194" y="2824678"/>
        <a:ext cx="6077789" cy="564670"/>
      </dsp:txXfrm>
    </dsp:sp>
    <dsp:sp modelId="{571FC771-CBD4-46B9-842A-26661C1742B5}">
      <dsp:nvSpPr>
        <dsp:cNvPr id="0" name=""/>
        <dsp:cNvSpPr/>
      </dsp:nvSpPr>
      <dsp:spPr>
        <a:xfrm>
          <a:off x="0" y="3530516"/>
          <a:ext cx="6729984" cy="56467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310BCD-C9E3-4B88-AC12-0B90059BE0E1}">
      <dsp:nvSpPr>
        <dsp:cNvPr id="0" name=""/>
        <dsp:cNvSpPr/>
      </dsp:nvSpPr>
      <dsp:spPr>
        <a:xfrm>
          <a:off x="170812" y="3657567"/>
          <a:ext cx="310568" cy="31056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762A21-CAED-49AD-859A-1375C1C25123}">
      <dsp:nvSpPr>
        <dsp:cNvPr id="0" name=""/>
        <dsp:cNvSpPr/>
      </dsp:nvSpPr>
      <dsp:spPr>
        <a:xfrm>
          <a:off x="652194" y="3530516"/>
          <a:ext cx="6077789" cy="564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761" tIns="59761" rIns="59761" bIns="59761" numCol="1" spcCol="1270" anchor="ctr" anchorCtr="0">
          <a:noAutofit/>
        </a:bodyPr>
        <a:lstStyle/>
        <a:p>
          <a:pPr marL="0" lvl="0" indent="0" algn="l" defTabSz="622300" rtl="0">
            <a:lnSpc>
              <a:spcPct val="100000"/>
            </a:lnSpc>
            <a:spcBef>
              <a:spcPct val="0"/>
            </a:spcBef>
            <a:spcAft>
              <a:spcPct val="35000"/>
            </a:spcAft>
            <a:buNone/>
          </a:pPr>
          <a:r>
            <a:rPr lang="en-US" sz="1400" kern="1200" err="1"/>
            <a:t>Paramiko</a:t>
          </a:r>
          <a:r>
            <a:rPr lang="en-US" sz="1400" kern="1200"/>
            <a:t>: Provides SSH functionalities to control remote servers.</a:t>
          </a:r>
          <a:r>
            <a:rPr lang="en-US" sz="1400" kern="1200">
              <a:latin typeface="Avenir Next LT Pro"/>
            </a:rPr>
            <a:t> </a:t>
          </a:r>
          <a:r>
            <a:rPr lang="en-US" sz="1400" kern="1200" err="1"/>
            <a:t>Proxmox</a:t>
          </a:r>
          <a:r>
            <a:rPr lang="en-US" sz="1400" kern="1200"/>
            <a:t> API</a:t>
          </a:r>
          <a:r>
            <a:rPr lang="en-US" sz="1400" kern="1200">
              <a:latin typeface="Avenir Next LT Pro"/>
            </a:rPr>
            <a:t>,</a:t>
          </a:r>
          <a:r>
            <a:rPr lang="en-US" sz="1400" kern="1200"/>
            <a:t> Automates interactions with Proxmox for managing VMs.</a:t>
          </a:r>
        </a:p>
      </dsp:txBody>
      <dsp:txXfrm>
        <a:off x="652194" y="3530516"/>
        <a:ext cx="6077789" cy="56467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0D97F5-E571-4BFC-9ADC-2688B7D76D70}">
      <dsp:nvSpPr>
        <dsp:cNvPr id="0" name=""/>
        <dsp:cNvSpPr/>
      </dsp:nvSpPr>
      <dsp:spPr>
        <a:xfrm>
          <a:off x="0" y="344375"/>
          <a:ext cx="6729984" cy="9324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22322" tIns="333248" rIns="52232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Google OAuth2 login and session management.</a:t>
          </a:r>
        </a:p>
        <a:p>
          <a:pPr marL="171450" lvl="1" indent="-171450" algn="l" defTabSz="711200">
            <a:lnSpc>
              <a:spcPct val="90000"/>
            </a:lnSpc>
            <a:spcBef>
              <a:spcPct val="0"/>
            </a:spcBef>
            <a:spcAft>
              <a:spcPct val="15000"/>
            </a:spcAft>
            <a:buChar char="•"/>
          </a:pPr>
          <a:r>
            <a:rPr lang="en-US" sz="1600" kern="1200"/>
            <a:t>Secure token handling with refresh capabilities.</a:t>
          </a:r>
        </a:p>
      </dsp:txBody>
      <dsp:txXfrm>
        <a:off x="0" y="344375"/>
        <a:ext cx="6729984" cy="932400"/>
      </dsp:txXfrm>
    </dsp:sp>
    <dsp:sp modelId="{87BBF1EC-EF44-41D0-AC3F-A8D10E945F78}">
      <dsp:nvSpPr>
        <dsp:cNvPr id="0" name=""/>
        <dsp:cNvSpPr/>
      </dsp:nvSpPr>
      <dsp:spPr>
        <a:xfrm>
          <a:off x="336499" y="108215"/>
          <a:ext cx="4710988" cy="4723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8064" tIns="0" rIns="178064" bIns="0" numCol="1" spcCol="1270" anchor="ctr" anchorCtr="0">
          <a:noAutofit/>
        </a:bodyPr>
        <a:lstStyle/>
        <a:p>
          <a:pPr marL="0" lvl="0" indent="0" algn="l" defTabSz="711200">
            <a:lnSpc>
              <a:spcPct val="90000"/>
            </a:lnSpc>
            <a:spcBef>
              <a:spcPct val="0"/>
            </a:spcBef>
            <a:spcAft>
              <a:spcPct val="35000"/>
            </a:spcAft>
            <a:buNone/>
          </a:pPr>
          <a:r>
            <a:rPr lang="en-US" sz="1600" b="1" kern="1200"/>
            <a:t>User Authentication</a:t>
          </a:r>
          <a:r>
            <a:rPr lang="en-US" sz="1600" kern="1200"/>
            <a:t>:</a:t>
          </a:r>
        </a:p>
      </dsp:txBody>
      <dsp:txXfrm>
        <a:off x="359556" y="131272"/>
        <a:ext cx="4664874" cy="426206"/>
      </dsp:txXfrm>
    </dsp:sp>
    <dsp:sp modelId="{B18948EA-16CF-47BC-9D2A-8A1F2B927308}">
      <dsp:nvSpPr>
        <dsp:cNvPr id="0" name=""/>
        <dsp:cNvSpPr/>
      </dsp:nvSpPr>
      <dsp:spPr>
        <a:xfrm>
          <a:off x="0" y="1599335"/>
          <a:ext cx="6729984" cy="11592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22322" tIns="333248" rIns="52232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Automates the provisioning and destruction of VMs.</a:t>
          </a:r>
        </a:p>
        <a:p>
          <a:pPr marL="171450" lvl="1" indent="-171450" algn="l" defTabSz="711200">
            <a:lnSpc>
              <a:spcPct val="90000"/>
            </a:lnSpc>
            <a:spcBef>
              <a:spcPct val="0"/>
            </a:spcBef>
            <a:spcAft>
              <a:spcPct val="15000"/>
            </a:spcAft>
            <a:buChar char="•"/>
          </a:pPr>
          <a:r>
            <a:rPr lang="en-US" sz="1600" kern="1200"/>
            <a:t>Lab scripts (lab_launch.sh, lab_destroy.sh) invoked via SSH to manage environments.</a:t>
          </a:r>
        </a:p>
      </dsp:txBody>
      <dsp:txXfrm>
        <a:off x="0" y="1599335"/>
        <a:ext cx="6729984" cy="1159200"/>
      </dsp:txXfrm>
    </dsp:sp>
    <dsp:sp modelId="{DF9C2642-FAA2-475F-B156-E1466B7A1F90}">
      <dsp:nvSpPr>
        <dsp:cNvPr id="0" name=""/>
        <dsp:cNvSpPr/>
      </dsp:nvSpPr>
      <dsp:spPr>
        <a:xfrm>
          <a:off x="336499" y="1363175"/>
          <a:ext cx="4710988" cy="4723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8064" tIns="0" rIns="178064" bIns="0" numCol="1" spcCol="1270" anchor="ctr" anchorCtr="0">
          <a:noAutofit/>
        </a:bodyPr>
        <a:lstStyle/>
        <a:p>
          <a:pPr marL="0" lvl="0" indent="0" algn="l" defTabSz="711200">
            <a:lnSpc>
              <a:spcPct val="90000"/>
            </a:lnSpc>
            <a:spcBef>
              <a:spcPct val="0"/>
            </a:spcBef>
            <a:spcAft>
              <a:spcPct val="35000"/>
            </a:spcAft>
            <a:buNone/>
          </a:pPr>
          <a:r>
            <a:rPr lang="en-US" sz="1600" b="1" kern="1200"/>
            <a:t>Lab Automation</a:t>
          </a:r>
          <a:r>
            <a:rPr lang="en-US" sz="1600" kern="1200"/>
            <a:t>:</a:t>
          </a:r>
        </a:p>
      </dsp:txBody>
      <dsp:txXfrm>
        <a:off x="359556" y="1386232"/>
        <a:ext cx="4664874" cy="426206"/>
      </dsp:txXfrm>
    </dsp:sp>
    <dsp:sp modelId="{0FF40A45-AD54-478E-A6AE-F44E128B1A09}">
      <dsp:nvSpPr>
        <dsp:cNvPr id="0" name=""/>
        <dsp:cNvSpPr/>
      </dsp:nvSpPr>
      <dsp:spPr>
        <a:xfrm>
          <a:off x="0" y="3081096"/>
          <a:ext cx="6729984" cy="9072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22322" tIns="333248" rIns="52232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a:t>Integrated support for dynamic user interaction using Flask-SocketIO.</a:t>
          </a:r>
        </a:p>
      </dsp:txBody>
      <dsp:txXfrm>
        <a:off x="0" y="3081096"/>
        <a:ext cx="6729984" cy="907200"/>
      </dsp:txXfrm>
    </dsp:sp>
    <dsp:sp modelId="{30BE05C7-993E-4408-B74A-071FC3B1FBAD}">
      <dsp:nvSpPr>
        <dsp:cNvPr id="0" name=""/>
        <dsp:cNvSpPr/>
      </dsp:nvSpPr>
      <dsp:spPr>
        <a:xfrm>
          <a:off x="336499" y="2844936"/>
          <a:ext cx="4710988" cy="4723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8064" tIns="0" rIns="178064" bIns="0" numCol="1" spcCol="1270" anchor="ctr" anchorCtr="0">
          <a:noAutofit/>
        </a:bodyPr>
        <a:lstStyle/>
        <a:p>
          <a:pPr marL="0" lvl="0" indent="0" algn="l" defTabSz="711200">
            <a:lnSpc>
              <a:spcPct val="90000"/>
            </a:lnSpc>
            <a:spcBef>
              <a:spcPct val="0"/>
            </a:spcBef>
            <a:spcAft>
              <a:spcPct val="35000"/>
            </a:spcAft>
            <a:buNone/>
          </a:pPr>
          <a:r>
            <a:rPr lang="en-US" sz="1600" b="1" kern="1200"/>
            <a:t>Real-Time Interaction</a:t>
          </a:r>
          <a:r>
            <a:rPr lang="en-US" sz="1600" kern="1200"/>
            <a:t>:</a:t>
          </a:r>
        </a:p>
      </dsp:txBody>
      <dsp:txXfrm>
        <a:off x="359556" y="2867993"/>
        <a:ext cx="4664874" cy="42620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1A2D1F-8A6D-474D-B098-FF65817ECAEB}">
      <dsp:nvSpPr>
        <dsp:cNvPr id="0" name=""/>
        <dsp:cNvSpPr/>
      </dsp:nvSpPr>
      <dsp:spPr>
        <a:xfrm>
          <a:off x="0" y="1533"/>
          <a:ext cx="10168127" cy="777075"/>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B69BC0-3C7F-4E08-BF60-1E5915804D16}">
      <dsp:nvSpPr>
        <dsp:cNvPr id="0" name=""/>
        <dsp:cNvSpPr/>
      </dsp:nvSpPr>
      <dsp:spPr>
        <a:xfrm>
          <a:off x="235065" y="176375"/>
          <a:ext cx="427391" cy="4273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17C3C3-2F90-406E-97DF-39523E12E45B}">
      <dsp:nvSpPr>
        <dsp:cNvPr id="0" name=""/>
        <dsp:cNvSpPr/>
      </dsp:nvSpPr>
      <dsp:spPr>
        <a:xfrm>
          <a:off x="897522" y="1533"/>
          <a:ext cx="4575657" cy="77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241" tIns="82241" rIns="82241" bIns="82241" numCol="1" spcCol="1270" anchor="ctr" anchorCtr="0">
          <a:noAutofit/>
        </a:bodyPr>
        <a:lstStyle/>
        <a:p>
          <a:pPr marL="0" lvl="0" indent="0" algn="l" defTabSz="977900">
            <a:lnSpc>
              <a:spcPct val="90000"/>
            </a:lnSpc>
            <a:spcBef>
              <a:spcPct val="0"/>
            </a:spcBef>
            <a:spcAft>
              <a:spcPct val="35000"/>
            </a:spcAft>
            <a:buNone/>
          </a:pPr>
          <a:r>
            <a:rPr lang="en-US" sz="2200" b="1" kern="1200"/>
            <a:t>VM Monitoring and IP Retrieval</a:t>
          </a:r>
          <a:r>
            <a:rPr lang="en-US" sz="2200" kern="1200"/>
            <a:t>:</a:t>
          </a:r>
        </a:p>
      </dsp:txBody>
      <dsp:txXfrm>
        <a:off x="897522" y="1533"/>
        <a:ext cx="4575657" cy="777075"/>
      </dsp:txXfrm>
    </dsp:sp>
    <dsp:sp modelId="{7E597974-7EE1-4A96-A7FD-3E68D3A77BD5}">
      <dsp:nvSpPr>
        <dsp:cNvPr id="0" name=""/>
        <dsp:cNvSpPr/>
      </dsp:nvSpPr>
      <dsp:spPr>
        <a:xfrm>
          <a:off x="5473180" y="1533"/>
          <a:ext cx="4694947" cy="77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241" tIns="82241" rIns="82241" bIns="82241" numCol="1" spcCol="1270" anchor="ctr" anchorCtr="0">
          <a:noAutofit/>
        </a:bodyPr>
        <a:lstStyle/>
        <a:p>
          <a:pPr marL="0" lvl="0" indent="0" algn="l" defTabSz="577850">
            <a:lnSpc>
              <a:spcPct val="90000"/>
            </a:lnSpc>
            <a:spcBef>
              <a:spcPct val="0"/>
            </a:spcBef>
            <a:spcAft>
              <a:spcPct val="35000"/>
            </a:spcAft>
            <a:buNone/>
          </a:pPr>
          <a:r>
            <a:rPr lang="en-US" sz="1300" kern="1200"/>
            <a:t>Retrieves and manages running VMs based on tags.</a:t>
          </a:r>
        </a:p>
        <a:p>
          <a:pPr marL="0" lvl="0" indent="0" algn="l" defTabSz="577850">
            <a:lnSpc>
              <a:spcPct val="90000"/>
            </a:lnSpc>
            <a:spcBef>
              <a:spcPct val="0"/>
            </a:spcBef>
            <a:spcAft>
              <a:spcPct val="35000"/>
            </a:spcAft>
            <a:buNone/>
          </a:pPr>
          <a:r>
            <a:rPr lang="en-US" sz="1300" kern="1200"/>
            <a:t>Dynamically updates IP addresses for user-specific sessions.</a:t>
          </a:r>
        </a:p>
      </dsp:txBody>
      <dsp:txXfrm>
        <a:off x="5473180" y="1533"/>
        <a:ext cx="4694947" cy="777075"/>
      </dsp:txXfrm>
    </dsp:sp>
    <dsp:sp modelId="{6C6652EB-6277-4A69-B4D7-66C40FD54D0C}">
      <dsp:nvSpPr>
        <dsp:cNvPr id="0" name=""/>
        <dsp:cNvSpPr/>
      </dsp:nvSpPr>
      <dsp:spPr>
        <a:xfrm>
          <a:off x="0" y="972877"/>
          <a:ext cx="10168127" cy="777075"/>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DBD3A2-9B02-4C4A-96EE-C80ADCE2ABB5}">
      <dsp:nvSpPr>
        <dsp:cNvPr id="0" name=""/>
        <dsp:cNvSpPr/>
      </dsp:nvSpPr>
      <dsp:spPr>
        <a:xfrm>
          <a:off x="235065" y="1147719"/>
          <a:ext cx="427391" cy="4273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D311EF-CE4E-4F82-91D0-8B0BF0AB35F2}">
      <dsp:nvSpPr>
        <dsp:cNvPr id="0" name=""/>
        <dsp:cNvSpPr/>
      </dsp:nvSpPr>
      <dsp:spPr>
        <a:xfrm>
          <a:off x="897522" y="972877"/>
          <a:ext cx="4575657" cy="77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241" tIns="82241" rIns="82241" bIns="82241" numCol="1" spcCol="1270" anchor="ctr" anchorCtr="0">
          <a:noAutofit/>
        </a:bodyPr>
        <a:lstStyle/>
        <a:p>
          <a:pPr marL="0" lvl="0" indent="0" algn="l" defTabSz="977900">
            <a:lnSpc>
              <a:spcPct val="90000"/>
            </a:lnSpc>
            <a:spcBef>
              <a:spcPct val="0"/>
            </a:spcBef>
            <a:spcAft>
              <a:spcPct val="35000"/>
            </a:spcAft>
            <a:buNone/>
          </a:pPr>
          <a:r>
            <a:rPr lang="en-US" sz="2200" b="1" kern="1200"/>
            <a:t>User Interface</a:t>
          </a:r>
          <a:r>
            <a:rPr lang="en-US" sz="2200" kern="1200"/>
            <a:t>:</a:t>
          </a:r>
        </a:p>
      </dsp:txBody>
      <dsp:txXfrm>
        <a:off x="897522" y="972877"/>
        <a:ext cx="4575657" cy="777075"/>
      </dsp:txXfrm>
    </dsp:sp>
    <dsp:sp modelId="{4B1A94F1-ED44-43F9-8697-DAC826F72627}">
      <dsp:nvSpPr>
        <dsp:cNvPr id="0" name=""/>
        <dsp:cNvSpPr/>
      </dsp:nvSpPr>
      <dsp:spPr>
        <a:xfrm>
          <a:off x="5473180" y="972877"/>
          <a:ext cx="4694947" cy="77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241" tIns="82241" rIns="82241" bIns="82241" numCol="1" spcCol="1270" anchor="ctr" anchorCtr="0">
          <a:noAutofit/>
        </a:bodyPr>
        <a:lstStyle/>
        <a:p>
          <a:pPr marL="0" lvl="0" indent="0" algn="l" defTabSz="577850">
            <a:lnSpc>
              <a:spcPct val="90000"/>
            </a:lnSpc>
            <a:spcBef>
              <a:spcPct val="0"/>
            </a:spcBef>
            <a:spcAft>
              <a:spcPct val="35000"/>
            </a:spcAft>
            <a:buNone/>
          </a:pPr>
          <a:r>
            <a:rPr lang="en-US" sz="1300" kern="1200"/>
            <a:t>HTML templates (launch-labs.html, shelly.html) for user interaction and VM launch workflows.</a:t>
          </a:r>
        </a:p>
      </dsp:txBody>
      <dsp:txXfrm>
        <a:off x="5473180" y="972877"/>
        <a:ext cx="4694947" cy="777075"/>
      </dsp:txXfrm>
    </dsp:sp>
    <dsp:sp modelId="{91C68C68-6509-4400-BC7C-4687F13B6077}">
      <dsp:nvSpPr>
        <dsp:cNvPr id="0" name=""/>
        <dsp:cNvSpPr/>
      </dsp:nvSpPr>
      <dsp:spPr>
        <a:xfrm>
          <a:off x="0" y="1944222"/>
          <a:ext cx="10168127" cy="777075"/>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2A706B-A990-4541-8F9D-CA79FD5AD9C7}">
      <dsp:nvSpPr>
        <dsp:cNvPr id="0" name=""/>
        <dsp:cNvSpPr/>
      </dsp:nvSpPr>
      <dsp:spPr>
        <a:xfrm>
          <a:off x="235065" y="2119064"/>
          <a:ext cx="427391" cy="42739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AD5681-92A0-4D3E-BB64-9B424B43DB28}">
      <dsp:nvSpPr>
        <dsp:cNvPr id="0" name=""/>
        <dsp:cNvSpPr/>
      </dsp:nvSpPr>
      <dsp:spPr>
        <a:xfrm>
          <a:off x="897522" y="1944222"/>
          <a:ext cx="4575657" cy="77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241" tIns="82241" rIns="82241" bIns="82241" numCol="1" spcCol="1270" anchor="ctr" anchorCtr="0">
          <a:noAutofit/>
        </a:bodyPr>
        <a:lstStyle/>
        <a:p>
          <a:pPr marL="0" lvl="0" indent="0" algn="l" defTabSz="977900">
            <a:lnSpc>
              <a:spcPct val="90000"/>
            </a:lnSpc>
            <a:spcBef>
              <a:spcPct val="0"/>
            </a:spcBef>
            <a:spcAft>
              <a:spcPct val="35000"/>
            </a:spcAft>
            <a:buNone/>
          </a:pPr>
          <a:r>
            <a:rPr lang="en-US" sz="2200" b="1" kern="1200"/>
            <a:t>Error Handling</a:t>
          </a:r>
          <a:r>
            <a:rPr lang="en-US" sz="2200" kern="1200"/>
            <a:t>:</a:t>
          </a:r>
        </a:p>
      </dsp:txBody>
      <dsp:txXfrm>
        <a:off x="897522" y="1944222"/>
        <a:ext cx="4575657" cy="777075"/>
      </dsp:txXfrm>
    </dsp:sp>
    <dsp:sp modelId="{1A79BC3C-C50C-445C-9C61-A696D6EA904A}">
      <dsp:nvSpPr>
        <dsp:cNvPr id="0" name=""/>
        <dsp:cNvSpPr/>
      </dsp:nvSpPr>
      <dsp:spPr>
        <a:xfrm>
          <a:off x="5473180" y="1944222"/>
          <a:ext cx="4694947" cy="77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241" tIns="82241" rIns="82241" bIns="82241" numCol="1" spcCol="1270" anchor="ctr" anchorCtr="0">
          <a:noAutofit/>
        </a:bodyPr>
        <a:lstStyle/>
        <a:p>
          <a:pPr marL="0" lvl="0" indent="0" algn="l" defTabSz="577850">
            <a:lnSpc>
              <a:spcPct val="90000"/>
            </a:lnSpc>
            <a:spcBef>
              <a:spcPct val="0"/>
            </a:spcBef>
            <a:spcAft>
              <a:spcPct val="35000"/>
            </a:spcAft>
            <a:buNone/>
          </a:pPr>
          <a:r>
            <a:rPr lang="en-US" sz="1300" kern="1200"/>
            <a:t>Manages and logs issues during VM provisioning.</a:t>
          </a:r>
        </a:p>
        <a:p>
          <a:pPr marL="0" lvl="0" indent="0" algn="l" defTabSz="577850">
            <a:lnSpc>
              <a:spcPct val="90000"/>
            </a:lnSpc>
            <a:spcBef>
              <a:spcPct val="0"/>
            </a:spcBef>
            <a:spcAft>
              <a:spcPct val="35000"/>
            </a:spcAft>
            <a:buNone/>
          </a:pPr>
          <a:r>
            <a:rPr lang="en-US" sz="1300" kern="1200"/>
            <a:t>Safeguards session data and refreshes expired tokens.</a:t>
          </a:r>
        </a:p>
      </dsp:txBody>
      <dsp:txXfrm>
        <a:off x="5473180" y="1944222"/>
        <a:ext cx="4694947" cy="777075"/>
      </dsp:txXfrm>
    </dsp:sp>
    <dsp:sp modelId="{23F89853-E585-4DA6-9C90-DB226940737A}">
      <dsp:nvSpPr>
        <dsp:cNvPr id="0" name=""/>
        <dsp:cNvSpPr/>
      </dsp:nvSpPr>
      <dsp:spPr>
        <a:xfrm>
          <a:off x="0" y="2915567"/>
          <a:ext cx="10168127" cy="777075"/>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3183F8-0654-4958-A780-D96B20308C7C}">
      <dsp:nvSpPr>
        <dsp:cNvPr id="0" name=""/>
        <dsp:cNvSpPr/>
      </dsp:nvSpPr>
      <dsp:spPr>
        <a:xfrm>
          <a:off x="235065" y="3090409"/>
          <a:ext cx="427391" cy="42739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3EAF9D-D47C-4656-873D-983D2EC77ECE}">
      <dsp:nvSpPr>
        <dsp:cNvPr id="0" name=""/>
        <dsp:cNvSpPr/>
      </dsp:nvSpPr>
      <dsp:spPr>
        <a:xfrm>
          <a:off x="897522" y="2915567"/>
          <a:ext cx="4575657" cy="77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241" tIns="82241" rIns="82241" bIns="82241" numCol="1" spcCol="1270" anchor="ctr" anchorCtr="0">
          <a:noAutofit/>
        </a:bodyPr>
        <a:lstStyle/>
        <a:p>
          <a:pPr marL="0" lvl="0" indent="0" algn="l" defTabSz="977900">
            <a:lnSpc>
              <a:spcPct val="90000"/>
            </a:lnSpc>
            <a:spcBef>
              <a:spcPct val="0"/>
            </a:spcBef>
            <a:spcAft>
              <a:spcPct val="35000"/>
            </a:spcAft>
            <a:buNone/>
          </a:pPr>
          <a:r>
            <a:rPr lang="en-US" sz="2200" b="1" kern="1200"/>
            <a:t>Security</a:t>
          </a:r>
          <a:r>
            <a:rPr lang="en-US" sz="2200" kern="1200"/>
            <a:t>:</a:t>
          </a:r>
        </a:p>
      </dsp:txBody>
      <dsp:txXfrm>
        <a:off x="897522" y="2915567"/>
        <a:ext cx="4575657" cy="777075"/>
      </dsp:txXfrm>
    </dsp:sp>
    <dsp:sp modelId="{08019335-348C-4ADE-BF98-903707CF8645}">
      <dsp:nvSpPr>
        <dsp:cNvPr id="0" name=""/>
        <dsp:cNvSpPr/>
      </dsp:nvSpPr>
      <dsp:spPr>
        <a:xfrm>
          <a:off x="5473180" y="2915567"/>
          <a:ext cx="4694947" cy="7770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241" tIns="82241" rIns="82241" bIns="82241" numCol="1" spcCol="1270" anchor="ctr" anchorCtr="0">
          <a:noAutofit/>
        </a:bodyPr>
        <a:lstStyle/>
        <a:p>
          <a:pPr marL="0" lvl="0" indent="0" algn="l" defTabSz="577850">
            <a:lnSpc>
              <a:spcPct val="90000"/>
            </a:lnSpc>
            <a:spcBef>
              <a:spcPct val="0"/>
            </a:spcBef>
            <a:spcAft>
              <a:spcPct val="35000"/>
            </a:spcAft>
            <a:buNone/>
          </a:pPr>
          <a:r>
            <a:rPr lang="en-US" sz="1300" kern="1200"/>
            <a:t>Environment variables for sensitive data.</a:t>
          </a:r>
        </a:p>
        <a:p>
          <a:pPr marL="0" lvl="0" indent="0" algn="l" defTabSz="577850">
            <a:lnSpc>
              <a:spcPct val="90000"/>
            </a:lnSpc>
            <a:spcBef>
              <a:spcPct val="0"/>
            </a:spcBef>
            <a:spcAft>
              <a:spcPct val="35000"/>
            </a:spcAft>
            <a:buNone/>
          </a:pPr>
          <a:r>
            <a:rPr lang="en-US" sz="1300" kern="1200"/>
            <a:t>Secure SSH connections for server commands.</a:t>
          </a:r>
        </a:p>
      </dsp:txBody>
      <dsp:txXfrm>
        <a:off x="5473180" y="2915567"/>
        <a:ext cx="4694947" cy="77707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39445E-3995-4DAE-8A2E-98F6FB579397}">
      <dsp:nvSpPr>
        <dsp:cNvPr id="0" name=""/>
        <dsp:cNvSpPr/>
      </dsp:nvSpPr>
      <dsp:spPr>
        <a:xfrm>
          <a:off x="0" y="356031"/>
          <a:ext cx="6729984" cy="16301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22322" tIns="479044" rIns="522322" bIns="163576" numCol="1" spcCol="1270" anchor="t" anchorCtr="0">
          <a:noAutofit/>
        </a:bodyPr>
        <a:lstStyle/>
        <a:p>
          <a:pPr marL="228600" lvl="1" indent="-228600" algn="l" defTabSz="1022350">
            <a:lnSpc>
              <a:spcPct val="90000"/>
            </a:lnSpc>
            <a:spcBef>
              <a:spcPct val="0"/>
            </a:spcBef>
            <a:spcAft>
              <a:spcPct val="15000"/>
            </a:spcAft>
            <a:buChar char="•"/>
          </a:pPr>
          <a:r>
            <a:rPr lang="en-US" sz="2300" kern="1200"/>
            <a:t>Ideal for cybersecurity training, educational labs, or cloud-based infrastructure management.</a:t>
          </a:r>
        </a:p>
      </dsp:txBody>
      <dsp:txXfrm>
        <a:off x="0" y="356031"/>
        <a:ext cx="6729984" cy="1630125"/>
      </dsp:txXfrm>
    </dsp:sp>
    <dsp:sp modelId="{0175630F-3C4B-47C9-A6D0-0378CAC5AF62}">
      <dsp:nvSpPr>
        <dsp:cNvPr id="0" name=""/>
        <dsp:cNvSpPr/>
      </dsp:nvSpPr>
      <dsp:spPr>
        <a:xfrm>
          <a:off x="336499" y="16550"/>
          <a:ext cx="4710988" cy="6789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8064" tIns="0" rIns="178064" bIns="0" numCol="1" spcCol="1270" anchor="ctr" anchorCtr="0">
          <a:noAutofit/>
        </a:bodyPr>
        <a:lstStyle/>
        <a:p>
          <a:pPr marL="0" lvl="0" indent="0" algn="l" defTabSz="1022350">
            <a:lnSpc>
              <a:spcPct val="90000"/>
            </a:lnSpc>
            <a:spcBef>
              <a:spcPct val="0"/>
            </a:spcBef>
            <a:spcAft>
              <a:spcPct val="35000"/>
            </a:spcAft>
            <a:buNone/>
          </a:pPr>
          <a:r>
            <a:rPr lang="en-US" sz="2300" b="1" kern="1200"/>
            <a:t>Real-World Applications</a:t>
          </a:r>
          <a:r>
            <a:rPr lang="en-US" sz="2300" kern="1200"/>
            <a:t>:</a:t>
          </a:r>
        </a:p>
      </dsp:txBody>
      <dsp:txXfrm>
        <a:off x="369643" y="49694"/>
        <a:ext cx="4644700" cy="612672"/>
      </dsp:txXfrm>
    </dsp:sp>
    <dsp:sp modelId="{3EE0BDC2-1257-452A-855C-CA5E0C68547B}">
      <dsp:nvSpPr>
        <dsp:cNvPr id="0" name=""/>
        <dsp:cNvSpPr/>
      </dsp:nvSpPr>
      <dsp:spPr>
        <a:xfrm>
          <a:off x="0" y="2449836"/>
          <a:ext cx="6729984" cy="16301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22322" tIns="479044" rIns="522322" bIns="163576" numCol="1" spcCol="1270" anchor="t" anchorCtr="0">
          <a:noAutofit/>
        </a:bodyPr>
        <a:lstStyle/>
        <a:p>
          <a:pPr marL="228600" lvl="1" indent="-228600" algn="l" defTabSz="1022350">
            <a:lnSpc>
              <a:spcPct val="90000"/>
            </a:lnSpc>
            <a:spcBef>
              <a:spcPct val="0"/>
            </a:spcBef>
            <a:spcAft>
              <a:spcPct val="15000"/>
            </a:spcAft>
            <a:buChar char="•"/>
          </a:pPr>
          <a:r>
            <a:rPr lang="en-US" sz="2300" kern="1200"/>
            <a:t>OAuth integration simplifies access for team members using their existing Google accounts.</a:t>
          </a:r>
        </a:p>
      </dsp:txBody>
      <dsp:txXfrm>
        <a:off x="0" y="2449836"/>
        <a:ext cx="6729984" cy="1630125"/>
      </dsp:txXfrm>
    </dsp:sp>
    <dsp:sp modelId="{AED910FE-4739-4C32-841E-94BB45D30A7B}">
      <dsp:nvSpPr>
        <dsp:cNvPr id="0" name=""/>
        <dsp:cNvSpPr/>
      </dsp:nvSpPr>
      <dsp:spPr>
        <a:xfrm>
          <a:off x="336499" y="2110356"/>
          <a:ext cx="4710988" cy="6789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8064" tIns="0" rIns="178064" bIns="0" numCol="1" spcCol="1270" anchor="ctr" anchorCtr="0">
          <a:noAutofit/>
        </a:bodyPr>
        <a:lstStyle/>
        <a:p>
          <a:pPr marL="0" lvl="0" indent="0" algn="l" defTabSz="1022350">
            <a:lnSpc>
              <a:spcPct val="90000"/>
            </a:lnSpc>
            <a:spcBef>
              <a:spcPct val="0"/>
            </a:spcBef>
            <a:spcAft>
              <a:spcPct val="35000"/>
            </a:spcAft>
            <a:buNone/>
          </a:pPr>
          <a:r>
            <a:rPr lang="en-US" sz="2300" kern="1200"/>
            <a:t>.</a:t>
          </a:r>
          <a:r>
            <a:rPr lang="en-US" sz="2300" b="1" kern="1200"/>
            <a:t>Collaboration Tools</a:t>
          </a:r>
          <a:r>
            <a:rPr lang="en-US" sz="2300" kern="1200"/>
            <a:t>:</a:t>
          </a:r>
        </a:p>
      </dsp:txBody>
      <dsp:txXfrm>
        <a:off x="369643" y="2143500"/>
        <a:ext cx="4644700" cy="61267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08E0E5-88A4-4FE7-958E-687530E4BC19}">
      <dsp:nvSpPr>
        <dsp:cNvPr id="0" name=""/>
        <dsp:cNvSpPr/>
      </dsp:nvSpPr>
      <dsp:spPr>
        <a:xfrm>
          <a:off x="395235" y="96518"/>
          <a:ext cx="1509048" cy="14315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99F9C4E-1D83-4291-9FC0-97139F5C4343}">
      <dsp:nvSpPr>
        <dsp:cNvPr id="0" name=""/>
        <dsp:cNvSpPr/>
      </dsp:nvSpPr>
      <dsp:spPr>
        <a:xfrm>
          <a:off x="395235" y="1678659"/>
          <a:ext cx="4311566" cy="613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90000"/>
            </a:lnSpc>
            <a:spcBef>
              <a:spcPct val="0"/>
            </a:spcBef>
            <a:spcAft>
              <a:spcPct val="35000"/>
            </a:spcAft>
            <a:buNone/>
            <a:defRPr b="1"/>
          </a:pPr>
          <a:r>
            <a:rPr lang="en-US" sz="2300" b="1" kern="1200"/>
            <a:t>Limited Parallel Deployments</a:t>
          </a:r>
          <a:r>
            <a:rPr lang="en-US" sz="2300" kern="1200"/>
            <a:t>:</a:t>
          </a:r>
        </a:p>
      </dsp:txBody>
      <dsp:txXfrm>
        <a:off x="395235" y="1678659"/>
        <a:ext cx="4311566" cy="613539"/>
      </dsp:txXfrm>
    </dsp:sp>
    <dsp:sp modelId="{D0F7966F-F029-4E3F-8743-8CE38083817C}">
      <dsp:nvSpPr>
        <dsp:cNvPr id="0" name=""/>
        <dsp:cNvSpPr/>
      </dsp:nvSpPr>
      <dsp:spPr>
        <a:xfrm>
          <a:off x="395235" y="2362221"/>
          <a:ext cx="4311566" cy="1235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Current system struggles to handle multiple lab requests simultaneously due to hardware or Proxmox node constraints.</a:t>
          </a:r>
        </a:p>
        <a:p>
          <a:pPr marL="0" lvl="0" indent="0" algn="l" defTabSz="755650">
            <a:lnSpc>
              <a:spcPct val="90000"/>
            </a:lnSpc>
            <a:spcBef>
              <a:spcPct val="0"/>
            </a:spcBef>
            <a:spcAft>
              <a:spcPct val="35000"/>
            </a:spcAft>
            <a:buNone/>
          </a:pPr>
          <a:r>
            <a:rPr lang="en-US" sz="1700" kern="1200"/>
            <a:t>Manual intervention required for some scaling tasks</a:t>
          </a:r>
        </a:p>
      </dsp:txBody>
      <dsp:txXfrm>
        <a:off x="395235" y="2362221"/>
        <a:ext cx="4311566" cy="1235435"/>
      </dsp:txXfrm>
    </dsp:sp>
    <dsp:sp modelId="{EBF0D4A8-E1BA-4BE5-A49C-DB0AC0E44DBC}">
      <dsp:nvSpPr>
        <dsp:cNvPr id="0" name=""/>
        <dsp:cNvSpPr/>
      </dsp:nvSpPr>
      <dsp:spPr>
        <a:xfrm>
          <a:off x="5461326" y="96518"/>
          <a:ext cx="1509048" cy="14315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0D382D0-3C7F-4B39-A196-41932A054A65}">
      <dsp:nvSpPr>
        <dsp:cNvPr id="0" name=""/>
        <dsp:cNvSpPr/>
      </dsp:nvSpPr>
      <dsp:spPr>
        <a:xfrm>
          <a:off x="5461326" y="1678659"/>
          <a:ext cx="4311566" cy="613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90000"/>
            </a:lnSpc>
            <a:spcBef>
              <a:spcPct val="0"/>
            </a:spcBef>
            <a:spcAft>
              <a:spcPct val="35000"/>
            </a:spcAft>
            <a:buNone/>
            <a:defRPr b="1"/>
          </a:pPr>
          <a:r>
            <a:rPr lang="en-US" sz="2300" b="1" kern="1200"/>
            <a:t>SSH Key Management</a:t>
          </a:r>
          <a:r>
            <a:rPr lang="en-US" sz="2300" kern="1200"/>
            <a:t>:</a:t>
          </a:r>
        </a:p>
      </dsp:txBody>
      <dsp:txXfrm>
        <a:off x="5461326" y="1678659"/>
        <a:ext cx="4311566" cy="613539"/>
      </dsp:txXfrm>
    </dsp:sp>
    <dsp:sp modelId="{17D4BF03-2AA2-43A2-AD90-E6246814F6CC}">
      <dsp:nvSpPr>
        <dsp:cNvPr id="0" name=""/>
        <dsp:cNvSpPr/>
      </dsp:nvSpPr>
      <dsp:spPr>
        <a:xfrm>
          <a:off x="5461326" y="2362221"/>
          <a:ext cx="4311566" cy="1235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US" sz="1700" kern="1200"/>
            <a:t>Risk of key misplacement or improper permissions leading to unauthorized access.</a:t>
          </a:r>
        </a:p>
        <a:p>
          <a:pPr marL="0" lvl="0" indent="0" algn="l" defTabSz="755650">
            <a:lnSpc>
              <a:spcPct val="90000"/>
            </a:lnSpc>
            <a:spcBef>
              <a:spcPct val="0"/>
            </a:spcBef>
            <a:spcAft>
              <a:spcPct val="35000"/>
            </a:spcAft>
            <a:buNone/>
          </a:pPr>
          <a:r>
            <a:rPr lang="en-US" sz="1700" kern="1200"/>
            <a:t>Misconfigured .env files could expose sensitive information like API keys and secrets.</a:t>
          </a:r>
        </a:p>
      </dsp:txBody>
      <dsp:txXfrm>
        <a:off x="5461326" y="2362221"/>
        <a:ext cx="4311566" cy="1235435"/>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26394F-15F9-C447-A6BD-C242AD2A61CD}" type="datetimeFigureOut">
              <a:rPr lang="en-US" smtClean="0"/>
              <a:t>6/13/2025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1385F3-0603-534E-AA72-1C49A7C7815F}" type="slidenum">
              <a:rPr lang="en-US" smtClean="0"/>
              <a:t>‹#›</a:t>
            </a:fld>
            <a:endParaRPr lang="en-US"/>
          </a:p>
        </p:txBody>
      </p:sp>
    </p:spTree>
    <p:extLst>
      <p:ext uri="{BB962C8B-B14F-4D97-AF65-F5344CB8AC3E}">
        <p14:creationId xmlns:p14="http://schemas.microsoft.com/office/powerpoint/2010/main" val="36275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6/13/2025</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27519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6/13/2025</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601532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6/13/2025</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124409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6/13/2025</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980757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6/13/2025</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651036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6/13/2025</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854403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6/13/2025</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747655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6/13/2025</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592020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6/13/2025</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582896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6/13/2025</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925650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6/13/2025</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419591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6/13/2025</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a:p>
        </p:txBody>
      </p:sp>
    </p:spTree>
    <p:extLst>
      <p:ext uri="{BB962C8B-B14F-4D97-AF65-F5344CB8AC3E}">
        <p14:creationId xmlns:p14="http://schemas.microsoft.com/office/powerpoint/2010/main" val="5673402"/>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proxmox.com" TargetMode="External"/><Relationship Id="rId2" Type="http://schemas.openxmlformats.org/officeDocument/2006/relationships/hyperlink" Target="https://github.com/illinoistech-itm/jhajek/tree/master/See-Through-Cloud-Lab" TargetMode="External"/><Relationship Id="rId1" Type="http://schemas.openxmlformats.org/officeDocument/2006/relationships/slideLayout" Target="../slideLayouts/slideLayout2.xml"/><Relationship Id="rId6" Type="http://schemas.openxmlformats.org/officeDocument/2006/relationships/hyperlink" Target="https://www.hashicorp.com/products/vault" TargetMode="External"/><Relationship Id="rId5" Type="http://schemas.openxmlformats.org/officeDocument/2006/relationships/hyperlink" Target="https://www.hashicorp.com/products/consul" TargetMode="External"/><Relationship Id="rId4" Type="http://schemas.openxmlformats.org/officeDocument/2006/relationships/hyperlink" Target="https://www.hashicorp.com/products/terraform" TargetMode="External"/></Relationships>
</file>

<file path=ppt/slides/_rels/slide6.xml.rels><?xml version="1.0" encoding="UTF-8" standalone="yes"?>
<Relationships xmlns="http://schemas.openxmlformats.org/package/2006/relationships"><Relationship Id="rId2" Type="http://schemas.openxmlformats.org/officeDocument/2006/relationships/hyperlink" Target="https://en.wikipedia.org/wiki/Software-defined_networkin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linkedin.com/in/aditya-c-waghmare/" TargetMode="External"/><Relationship Id="rId2" Type="http://schemas.openxmlformats.org/officeDocument/2006/relationships/hyperlink" Target="https://www.linkedin.com/in/anthoinette-ilolo/" TargetMode="External"/><Relationship Id="rId1" Type="http://schemas.openxmlformats.org/officeDocument/2006/relationships/slideLayout" Target="../slideLayouts/slideLayout2.xml"/><Relationship Id="rId5" Type="http://schemas.openxmlformats.org/officeDocument/2006/relationships/hyperlink" Target="https://www.linkedin.com/in/jacob-holtz/" TargetMode="External"/><Relationship Id="rId4" Type="http://schemas.openxmlformats.org/officeDocument/2006/relationships/hyperlink" Target="https://www.linkedin.com/in/ivanlivingston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2.png"/><Relationship Id="rId2" Type="http://schemas.openxmlformats.org/officeDocument/2006/relationships/diagramData" Target="../diagrams/data4.xml"/><Relationship Id="rId1" Type="http://schemas.openxmlformats.org/officeDocument/2006/relationships/slideLayout" Target="../slideLayouts/slideLayout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8.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8.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29.jpeg"/><Relationship Id="rId2" Type="http://schemas.openxmlformats.org/officeDocument/2006/relationships/diagramData" Target="../diagrams/data9.xml"/><Relationship Id="rId1" Type="http://schemas.openxmlformats.org/officeDocument/2006/relationships/slideLayout" Target="../slideLayouts/slideLayout8.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76123-833F-9A4C-1912-FEE942B5A45D}"/>
              </a:ext>
            </a:extLst>
          </p:cNvPr>
          <p:cNvSpPr>
            <a:spLocks noGrp="1"/>
          </p:cNvSpPr>
          <p:nvPr>
            <p:ph type="ctrTitle"/>
          </p:nvPr>
        </p:nvSpPr>
        <p:spPr>
          <a:xfrm>
            <a:off x="4739751" y="768334"/>
            <a:ext cx="6479629" cy="2866405"/>
          </a:xfrm>
        </p:spPr>
        <p:txBody>
          <a:bodyPr>
            <a:normAutofit fontScale="90000"/>
          </a:bodyPr>
          <a:lstStyle/>
          <a:p>
            <a:r>
              <a:rPr lang="en-US"/>
              <a:t>A </a:t>
            </a:r>
            <a:br>
              <a:rPr lang="en-US"/>
            </a:br>
            <a:r>
              <a:rPr lang="en-US"/>
              <a:t>Cyber Range is Born! </a:t>
            </a:r>
          </a:p>
        </p:txBody>
      </p:sp>
      <p:sp>
        <p:nvSpPr>
          <p:cNvPr id="3" name="Subtitle 2">
            <a:extLst>
              <a:ext uri="{FF2B5EF4-FFF2-40B4-BE49-F238E27FC236}">
                <a16:creationId xmlns:a16="http://schemas.microsoft.com/office/drawing/2014/main" id="{836FB8BE-4BB7-6A9D-FA52-E13C6E309E00}"/>
              </a:ext>
            </a:extLst>
          </p:cNvPr>
          <p:cNvSpPr>
            <a:spLocks noGrp="1"/>
          </p:cNvSpPr>
          <p:nvPr>
            <p:ph type="subTitle" idx="1"/>
          </p:nvPr>
        </p:nvSpPr>
        <p:spPr>
          <a:xfrm>
            <a:off x="4739751" y="4561799"/>
            <a:ext cx="6479629" cy="1475177"/>
          </a:xfrm>
        </p:spPr>
        <p:txBody>
          <a:bodyPr vert="horz" lIns="91440" tIns="45720" rIns="91440" bIns="45720" rtlCol="0" anchor="t">
            <a:normAutofit/>
          </a:bodyPr>
          <a:lstStyle/>
          <a:p>
            <a:r>
              <a:rPr lang="en-US"/>
              <a:t>A study in Cloud Computing </a:t>
            </a:r>
            <a:br>
              <a:rPr lang="en-US"/>
            </a:br>
            <a:r>
              <a:rPr lang="en-US"/>
              <a:t>by ITMT 497/597</a:t>
            </a:r>
          </a:p>
        </p:txBody>
      </p:sp>
      <p:pic>
        <p:nvPicPr>
          <p:cNvPr id="4" name="Picture 3" descr="Network Technology Background">
            <a:extLst>
              <a:ext uri="{FF2B5EF4-FFF2-40B4-BE49-F238E27FC236}">
                <a16:creationId xmlns:a16="http://schemas.microsoft.com/office/drawing/2014/main" id="{8E259CE9-558A-59F7-F8FB-8B1947A14927}"/>
              </a:ext>
            </a:extLst>
          </p:cNvPr>
          <p:cNvPicPr>
            <a:picLocks noChangeAspect="1"/>
          </p:cNvPicPr>
          <p:nvPr/>
        </p:nvPicPr>
        <p:blipFill>
          <a:blip r:embed="rId2"/>
          <a:srcRect l="49437" r="15115" b="-2"/>
          <a:stretch/>
        </p:blipFill>
        <p:spPr>
          <a:xfrm>
            <a:off x="20" y="1"/>
            <a:ext cx="4173349" cy="6857999"/>
          </a:xfrm>
          <a:prstGeom prst="rect">
            <a:avLst/>
          </a:prstGeom>
        </p:spPr>
      </p:pic>
    </p:spTree>
    <p:extLst>
      <p:ext uri="{BB962C8B-B14F-4D97-AF65-F5344CB8AC3E}">
        <p14:creationId xmlns:p14="http://schemas.microsoft.com/office/powerpoint/2010/main" val="390115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F7EEF-322B-9ED6-211B-DA4B2DC325E6}"/>
              </a:ext>
            </a:extLst>
          </p:cNvPr>
          <p:cNvSpPr>
            <a:spLocks noGrp="1"/>
          </p:cNvSpPr>
          <p:nvPr>
            <p:ph type="title"/>
          </p:nvPr>
        </p:nvSpPr>
        <p:spPr/>
        <p:txBody>
          <a:bodyPr/>
          <a:lstStyle/>
          <a:p>
            <a:r>
              <a:rPr lang="en-US"/>
              <a:t>What we set out to do...</a:t>
            </a:r>
          </a:p>
        </p:txBody>
      </p:sp>
      <p:sp>
        <p:nvSpPr>
          <p:cNvPr id="3" name="Content Placeholder 2">
            <a:extLst>
              <a:ext uri="{FF2B5EF4-FFF2-40B4-BE49-F238E27FC236}">
                <a16:creationId xmlns:a16="http://schemas.microsoft.com/office/drawing/2014/main" id="{0463F2B5-1871-0820-C006-F6FE7FBDFF5B}"/>
              </a:ext>
            </a:extLst>
          </p:cNvPr>
          <p:cNvSpPr>
            <a:spLocks noGrp="1"/>
          </p:cNvSpPr>
          <p:nvPr>
            <p:ph idx="1"/>
          </p:nvPr>
        </p:nvSpPr>
        <p:spPr/>
        <p:txBody>
          <a:bodyPr vert="horz" lIns="91440" tIns="45720" rIns="91440" bIns="45720" rtlCol="0" anchor="t">
            <a:normAutofit/>
          </a:bodyPr>
          <a:lstStyle/>
          <a:p>
            <a:r>
              <a:rPr lang="en-US"/>
              <a:t>The human mind has a desire to explore...</a:t>
            </a:r>
          </a:p>
          <a:p>
            <a:pPr lvl="1">
              <a:buFont typeface="Courier New" panose="020B0604020202020204" pitchFamily="34" charset="0"/>
              <a:buChar char="o"/>
            </a:pPr>
            <a:r>
              <a:rPr lang="en-US"/>
              <a:t>Rule over and subdue their environment...</a:t>
            </a:r>
          </a:p>
          <a:p>
            <a:r>
              <a:rPr lang="en-US"/>
              <a:t>This group of elite ITM students set out to do just that...</a:t>
            </a:r>
          </a:p>
          <a:p>
            <a:r>
              <a:rPr lang="en-US"/>
              <a:t>We set out to build a Cyber Range!</a:t>
            </a:r>
          </a:p>
        </p:txBody>
      </p:sp>
    </p:spTree>
    <p:extLst>
      <p:ext uri="{BB962C8B-B14F-4D97-AF65-F5344CB8AC3E}">
        <p14:creationId xmlns:p14="http://schemas.microsoft.com/office/powerpoint/2010/main" val="1107452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B69AC-83E4-8C33-928F-496132EF267E}"/>
              </a:ext>
            </a:extLst>
          </p:cNvPr>
          <p:cNvSpPr>
            <a:spLocks noGrp="1"/>
          </p:cNvSpPr>
          <p:nvPr>
            <p:ph type="title"/>
          </p:nvPr>
        </p:nvSpPr>
        <p:spPr/>
        <p:txBody>
          <a:bodyPr/>
          <a:lstStyle/>
          <a:p>
            <a:r>
              <a:rPr lang="en-US"/>
              <a:t>Build a Cyber Range</a:t>
            </a:r>
          </a:p>
        </p:txBody>
      </p:sp>
      <p:sp>
        <p:nvSpPr>
          <p:cNvPr id="3" name="Content Placeholder 2">
            <a:extLst>
              <a:ext uri="{FF2B5EF4-FFF2-40B4-BE49-F238E27FC236}">
                <a16:creationId xmlns:a16="http://schemas.microsoft.com/office/drawing/2014/main" id="{E8274B38-9450-877F-7565-DA7F82A59F5D}"/>
              </a:ext>
            </a:extLst>
          </p:cNvPr>
          <p:cNvSpPr>
            <a:spLocks noGrp="1"/>
          </p:cNvSpPr>
          <p:nvPr>
            <p:ph idx="1"/>
          </p:nvPr>
        </p:nvSpPr>
        <p:spPr/>
        <p:txBody>
          <a:bodyPr vert="horz" lIns="91440" tIns="45720" rIns="91440" bIns="45720" rtlCol="0" anchor="t">
            <a:normAutofit/>
          </a:bodyPr>
          <a:lstStyle/>
          <a:p>
            <a:r>
              <a:rPr lang="en-US"/>
              <a:t>Not just building a few VMs on a laptop...</a:t>
            </a:r>
          </a:p>
          <a:p>
            <a:r>
              <a:rPr lang="en-US"/>
              <a:t>We decided to build the entire thing...</a:t>
            </a:r>
          </a:p>
          <a:p>
            <a:pPr lvl="1">
              <a:buFont typeface="Courier New" panose="020B0604020202020204" pitchFamily="34" charset="0"/>
              <a:buChar char="o"/>
            </a:pPr>
            <a:r>
              <a:rPr lang="en-US"/>
              <a:t>From first principles</a:t>
            </a:r>
          </a:p>
          <a:p>
            <a:pPr lvl="1">
              <a:buFont typeface="Courier New" panose="020B0604020202020204" pitchFamily="34" charset="0"/>
              <a:buChar char="o"/>
            </a:pPr>
            <a:r>
              <a:rPr lang="en-US"/>
              <a:t>Using our bare hands, and Opensource</a:t>
            </a:r>
          </a:p>
          <a:p>
            <a:pPr lvl="1">
              <a:buFont typeface="Courier New" panose="020B0604020202020204" pitchFamily="34" charset="0"/>
              <a:buChar char="o"/>
            </a:pPr>
            <a:r>
              <a:rPr lang="en-US"/>
              <a:t>Not because it was easy, but because it was hard</a:t>
            </a:r>
          </a:p>
        </p:txBody>
      </p:sp>
    </p:spTree>
    <p:extLst>
      <p:ext uri="{BB962C8B-B14F-4D97-AF65-F5344CB8AC3E}">
        <p14:creationId xmlns:p14="http://schemas.microsoft.com/office/powerpoint/2010/main" val="545834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BACD1-3717-6C67-D259-29BFD9F7951A}"/>
              </a:ext>
            </a:extLst>
          </p:cNvPr>
          <p:cNvSpPr>
            <a:spLocks noGrp="1"/>
          </p:cNvSpPr>
          <p:nvPr>
            <p:ph type="title"/>
          </p:nvPr>
        </p:nvSpPr>
        <p:spPr/>
        <p:txBody>
          <a:bodyPr>
            <a:normAutofit/>
          </a:bodyPr>
          <a:lstStyle/>
          <a:p>
            <a:r>
              <a:rPr lang="en-US"/>
              <a:t>Definitely Not Built From Random Scripts...</a:t>
            </a:r>
          </a:p>
        </p:txBody>
      </p:sp>
      <p:pic>
        <p:nvPicPr>
          <p:cNvPr id="7" name="Content Placeholder 6" descr="A cartoon of stick figures&#10;&#10;Description automatically generated">
            <a:extLst>
              <a:ext uri="{FF2B5EF4-FFF2-40B4-BE49-F238E27FC236}">
                <a16:creationId xmlns:a16="http://schemas.microsoft.com/office/drawing/2014/main" id="{1492023B-AFC4-A553-8E66-63E8A3730776}"/>
              </a:ext>
            </a:extLst>
          </p:cNvPr>
          <p:cNvPicPr>
            <a:picLocks noGrp="1" noChangeAspect="1"/>
          </p:cNvPicPr>
          <p:nvPr>
            <p:ph idx="1"/>
          </p:nvPr>
        </p:nvPicPr>
        <p:blipFill>
          <a:blip r:embed="rId2"/>
          <a:stretch>
            <a:fillRect/>
          </a:stretch>
        </p:blipFill>
        <p:spPr>
          <a:xfrm>
            <a:off x="647936" y="2257906"/>
            <a:ext cx="10632662" cy="4017556"/>
          </a:xfrm>
        </p:spPr>
      </p:pic>
    </p:spTree>
    <p:extLst>
      <p:ext uri="{BB962C8B-B14F-4D97-AF65-F5344CB8AC3E}">
        <p14:creationId xmlns:p14="http://schemas.microsoft.com/office/powerpoint/2010/main" val="2309515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8EC3B-93C2-D804-35F0-B19EFC08F26A}"/>
              </a:ext>
            </a:extLst>
          </p:cNvPr>
          <p:cNvSpPr>
            <a:spLocks noGrp="1"/>
          </p:cNvSpPr>
          <p:nvPr>
            <p:ph type="title"/>
          </p:nvPr>
        </p:nvSpPr>
        <p:spPr/>
        <p:txBody>
          <a:bodyPr/>
          <a:lstStyle/>
          <a:p>
            <a:r>
              <a:rPr lang="en-US"/>
              <a:t>What Hath We Wrought...</a:t>
            </a:r>
          </a:p>
        </p:txBody>
      </p:sp>
      <p:sp>
        <p:nvSpPr>
          <p:cNvPr id="3" name="Content Placeholder 2">
            <a:extLst>
              <a:ext uri="{FF2B5EF4-FFF2-40B4-BE49-F238E27FC236}">
                <a16:creationId xmlns:a16="http://schemas.microsoft.com/office/drawing/2014/main" id="{C1DC52C9-1136-8DE8-0A9D-CB779AC0D576}"/>
              </a:ext>
            </a:extLst>
          </p:cNvPr>
          <p:cNvSpPr>
            <a:spLocks noGrp="1"/>
          </p:cNvSpPr>
          <p:nvPr>
            <p:ph idx="1"/>
          </p:nvPr>
        </p:nvSpPr>
        <p:spPr/>
        <p:txBody>
          <a:bodyPr vert="horz" lIns="91440" tIns="45720" rIns="91440" bIns="45720" rtlCol="0" anchor="t">
            <a:normAutofit/>
          </a:bodyPr>
          <a:lstStyle/>
          <a:p>
            <a:r>
              <a:rPr lang="en-US"/>
              <a:t>We made use of the </a:t>
            </a:r>
            <a:r>
              <a:rPr lang="en-US">
                <a:hlinkClick r:id="rId2"/>
              </a:rPr>
              <a:t>See-Through-Cloud Platform</a:t>
            </a:r>
            <a:endParaRPr lang="en-US"/>
          </a:p>
          <a:p>
            <a:pPr lvl="1">
              <a:buFont typeface="Courier New" panose="020B0604020202020204" pitchFamily="34" charset="0"/>
              <a:buChar char="o"/>
            </a:pPr>
            <a:r>
              <a:rPr lang="en-US"/>
              <a:t>ITM Department Internal Cloud Platform</a:t>
            </a:r>
          </a:p>
          <a:p>
            <a:r>
              <a:rPr lang="en-US"/>
              <a:t>Based on </a:t>
            </a:r>
            <a:r>
              <a:rPr lang="en-US">
                <a:hlinkClick r:id="rId3"/>
              </a:rPr>
              <a:t>Proxmox</a:t>
            </a:r>
            <a:r>
              <a:rPr lang="en-US"/>
              <a:t> - Linux based KVM platform</a:t>
            </a:r>
          </a:p>
          <a:p>
            <a:pPr lvl="1">
              <a:buFont typeface="Courier New" panose="020B0604020202020204" pitchFamily="34" charset="0"/>
              <a:buChar char="o"/>
            </a:pPr>
            <a:r>
              <a:rPr lang="en-US"/>
              <a:t>Using </a:t>
            </a:r>
            <a:r>
              <a:rPr lang="en-US">
                <a:hlinkClick r:id="rId4"/>
              </a:rPr>
              <a:t>HashiCorp Terraform</a:t>
            </a:r>
            <a:r>
              <a:rPr lang="en-US"/>
              <a:t> (for automating cloud infrastructure) </a:t>
            </a:r>
          </a:p>
          <a:p>
            <a:pPr lvl="1">
              <a:buFont typeface="Courier New" panose="020B0604020202020204" pitchFamily="34" charset="0"/>
              <a:buChar char="o"/>
            </a:pPr>
            <a:r>
              <a:rPr lang="en-US"/>
              <a:t>Using </a:t>
            </a:r>
            <a:r>
              <a:rPr lang="en-US">
                <a:hlinkClick r:id="rId5"/>
              </a:rPr>
              <a:t>HashiCorp Consul</a:t>
            </a:r>
            <a:r>
              <a:rPr lang="en-US"/>
              <a:t> (for service discovery)</a:t>
            </a:r>
          </a:p>
          <a:p>
            <a:pPr lvl="1">
              <a:buFont typeface="Courier New" panose="020B0604020202020204" pitchFamily="34" charset="0"/>
              <a:buChar char="o"/>
            </a:pPr>
            <a:r>
              <a:rPr lang="en-US"/>
              <a:t>Using </a:t>
            </a:r>
            <a:r>
              <a:rPr lang="en-US">
                <a:hlinkClick r:id="rId6"/>
              </a:rPr>
              <a:t>HashiCorp Vault</a:t>
            </a:r>
            <a:r>
              <a:rPr lang="en-US"/>
              <a:t> (for secrets management)</a:t>
            </a:r>
          </a:p>
          <a:p>
            <a:pPr lvl="1">
              <a:buFont typeface="Courier New" panose="020B0604020202020204" pitchFamily="34" charset="0"/>
              <a:buChar char="o"/>
            </a:pPr>
            <a:r>
              <a:rPr lang="en-US"/>
              <a:t>Using IIT VPN/VLAN and multiple internal networks for security</a:t>
            </a:r>
          </a:p>
        </p:txBody>
      </p:sp>
      <p:sp>
        <p:nvSpPr>
          <p:cNvPr id="4" name="Date Placeholder 3">
            <a:extLst>
              <a:ext uri="{FF2B5EF4-FFF2-40B4-BE49-F238E27FC236}">
                <a16:creationId xmlns:a16="http://schemas.microsoft.com/office/drawing/2014/main" id="{76401861-57F1-1BAA-B8A6-1C92ADE12606}"/>
              </a:ext>
            </a:extLst>
          </p:cNvPr>
          <p:cNvSpPr>
            <a:spLocks noGrp="1"/>
          </p:cNvSpPr>
          <p:nvPr>
            <p:ph type="dt" sz="half" idx="10"/>
          </p:nvPr>
        </p:nvSpPr>
        <p:spPr/>
        <p:txBody>
          <a:bodyPr/>
          <a:lstStyle/>
          <a:p>
            <a:fld id="{42959D33-BEDB-46C6-9B3C-515E445E453F}" type="datetime1">
              <a:rPr lang="en-US"/>
              <a:t>6/13/2025</a:t>
            </a:fld>
            <a:endParaRPr lang="en-US"/>
          </a:p>
        </p:txBody>
      </p:sp>
      <p:sp>
        <p:nvSpPr>
          <p:cNvPr id="5" name="Footer Placeholder 4">
            <a:extLst>
              <a:ext uri="{FF2B5EF4-FFF2-40B4-BE49-F238E27FC236}">
                <a16:creationId xmlns:a16="http://schemas.microsoft.com/office/drawing/2014/main" id="{8AA39039-EBC1-AF55-1FCF-E8BB662629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77929E-3237-DCCC-3670-E437047DD989}"/>
              </a:ext>
            </a:extLst>
          </p:cNvPr>
          <p:cNvSpPr>
            <a:spLocks noGrp="1"/>
          </p:cNvSpPr>
          <p:nvPr>
            <p:ph type="sldNum" sz="quarter" idx="12"/>
          </p:nvPr>
        </p:nvSpPr>
        <p:spPr/>
        <p:txBody>
          <a:bodyPr/>
          <a:lstStyle/>
          <a:p>
            <a:fld id="{A65A5C87-DF58-40C8-B092-1DE63DB4547E}" type="slidenum">
              <a:rPr lang="en-US" dirty="0"/>
              <a:t>5</a:t>
            </a:fld>
            <a:endParaRPr lang="en-US"/>
          </a:p>
        </p:txBody>
      </p:sp>
    </p:spTree>
    <p:extLst>
      <p:ext uri="{BB962C8B-B14F-4D97-AF65-F5344CB8AC3E}">
        <p14:creationId xmlns:p14="http://schemas.microsoft.com/office/powerpoint/2010/main" val="3397133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D149F-52DF-3E2E-E00D-7C258F3FE5EB}"/>
              </a:ext>
            </a:extLst>
          </p:cNvPr>
          <p:cNvSpPr>
            <a:spLocks noGrp="1"/>
          </p:cNvSpPr>
          <p:nvPr>
            <p:ph type="title"/>
          </p:nvPr>
        </p:nvSpPr>
        <p:spPr/>
        <p:txBody>
          <a:bodyPr/>
          <a:lstStyle/>
          <a:p>
            <a:r>
              <a:rPr lang="en-US"/>
              <a:t>A Journey of a thousand miles...</a:t>
            </a:r>
          </a:p>
        </p:txBody>
      </p:sp>
      <p:sp>
        <p:nvSpPr>
          <p:cNvPr id="3" name="Content Placeholder 2">
            <a:extLst>
              <a:ext uri="{FF2B5EF4-FFF2-40B4-BE49-F238E27FC236}">
                <a16:creationId xmlns:a16="http://schemas.microsoft.com/office/drawing/2014/main" id="{682986AF-B70C-D07B-CC31-57938B3149EB}"/>
              </a:ext>
            </a:extLst>
          </p:cNvPr>
          <p:cNvSpPr>
            <a:spLocks noGrp="1"/>
          </p:cNvSpPr>
          <p:nvPr>
            <p:ph idx="1"/>
          </p:nvPr>
        </p:nvSpPr>
        <p:spPr/>
        <p:txBody>
          <a:bodyPr vert="horz" lIns="91440" tIns="45720" rIns="91440" bIns="45720" rtlCol="0" anchor="t">
            <a:normAutofit/>
          </a:bodyPr>
          <a:lstStyle/>
          <a:p>
            <a:r>
              <a:rPr lang="en-US"/>
              <a:t>On top of our cloud platform, we built/integrated software</a:t>
            </a:r>
          </a:p>
          <a:p>
            <a:pPr lvl="1">
              <a:buFont typeface="Courier New" panose="020B0604020202020204" pitchFamily="34" charset="0"/>
              <a:buChar char="o"/>
            </a:pPr>
            <a:r>
              <a:rPr lang="en-US"/>
              <a:t>The Cyber Range web application was developed -&gt; Clinic++</a:t>
            </a:r>
          </a:p>
          <a:p>
            <a:pPr lvl="1">
              <a:buFont typeface="Courier New" panose="020B0604020202020204" pitchFamily="34" charset="0"/>
              <a:buChar char="o"/>
            </a:pPr>
            <a:r>
              <a:rPr lang="en-US"/>
              <a:t>Users can login and choose from an array of "tests"</a:t>
            </a:r>
          </a:p>
          <a:p>
            <a:pPr lvl="2">
              <a:buFont typeface="Wingdings" panose="020B0604020202020204" pitchFamily="34" charset="0"/>
              <a:buChar char="§"/>
            </a:pPr>
            <a:r>
              <a:rPr lang="en-US"/>
              <a:t>Capture the flag, pen-testing, and other hacking scenarios</a:t>
            </a:r>
          </a:p>
          <a:p>
            <a:pPr lvl="1">
              <a:buFont typeface="Courier New" panose="020B0604020202020204" pitchFamily="34" charset="0"/>
              <a:buChar char="o"/>
            </a:pPr>
            <a:r>
              <a:rPr lang="en-US"/>
              <a:t>Each "test" launches its own set of prepared and isolated VMs</a:t>
            </a:r>
          </a:p>
          <a:p>
            <a:pPr lvl="1">
              <a:buFont typeface="Courier New" panose="020B0604020202020204" pitchFamily="34" charset="0"/>
              <a:buChar char="o"/>
            </a:pPr>
            <a:r>
              <a:rPr lang="en-US"/>
              <a:t>Each "test" is separated via </a:t>
            </a:r>
            <a:r>
              <a:rPr lang="en-US">
                <a:hlinkClick r:id="rId2"/>
              </a:rPr>
              <a:t>SDN</a:t>
            </a:r>
            <a:r>
              <a:rPr lang="en-US"/>
              <a:t>: we can isolate each user's "test"</a:t>
            </a:r>
          </a:p>
          <a:p>
            <a:pPr lvl="1">
              <a:buFont typeface="Courier New" panose="020B0604020202020204" pitchFamily="34" charset="0"/>
              <a:buChar char="o"/>
            </a:pPr>
            <a:r>
              <a:rPr lang="en-US"/>
              <a:t>Scalable to multiple users via the Clinic++ web portal</a:t>
            </a:r>
          </a:p>
        </p:txBody>
      </p:sp>
      <p:sp>
        <p:nvSpPr>
          <p:cNvPr id="4" name="Date Placeholder 3">
            <a:extLst>
              <a:ext uri="{FF2B5EF4-FFF2-40B4-BE49-F238E27FC236}">
                <a16:creationId xmlns:a16="http://schemas.microsoft.com/office/drawing/2014/main" id="{AC9DD46D-649B-8F42-1590-CB0A335205D2}"/>
              </a:ext>
            </a:extLst>
          </p:cNvPr>
          <p:cNvSpPr>
            <a:spLocks noGrp="1"/>
          </p:cNvSpPr>
          <p:nvPr>
            <p:ph type="dt" sz="half" idx="10"/>
          </p:nvPr>
        </p:nvSpPr>
        <p:spPr/>
        <p:txBody>
          <a:bodyPr/>
          <a:lstStyle/>
          <a:p>
            <a:fld id="{B9E58E8A-48EB-4AF2-A825-7B76AF9C2F6F}" type="datetime1">
              <a:rPr lang="en-US"/>
              <a:t>6/13/2025</a:t>
            </a:fld>
            <a:endParaRPr lang="en-US"/>
          </a:p>
        </p:txBody>
      </p:sp>
      <p:sp>
        <p:nvSpPr>
          <p:cNvPr id="5" name="Footer Placeholder 4">
            <a:extLst>
              <a:ext uri="{FF2B5EF4-FFF2-40B4-BE49-F238E27FC236}">
                <a16:creationId xmlns:a16="http://schemas.microsoft.com/office/drawing/2014/main" id="{29FB7DF7-255B-9D5B-0C6F-4664FCB4F4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C46133-A7D0-3BC1-6BD4-88FE02E3B127}"/>
              </a:ext>
            </a:extLst>
          </p:cNvPr>
          <p:cNvSpPr>
            <a:spLocks noGrp="1"/>
          </p:cNvSpPr>
          <p:nvPr>
            <p:ph type="sldNum" sz="quarter" idx="12"/>
          </p:nvPr>
        </p:nvSpPr>
        <p:spPr/>
        <p:txBody>
          <a:bodyPr/>
          <a:lstStyle/>
          <a:p>
            <a:fld id="{A65A5C87-DF58-40C8-B092-1DE63DB4547E}" type="slidenum">
              <a:rPr lang="en-US" dirty="0"/>
              <a:t>6</a:t>
            </a:fld>
            <a:endParaRPr lang="en-US"/>
          </a:p>
        </p:txBody>
      </p:sp>
    </p:spTree>
    <p:extLst>
      <p:ext uri="{BB962C8B-B14F-4D97-AF65-F5344CB8AC3E}">
        <p14:creationId xmlns:p14="http://schemas.microsoft.com/office/powerpoint/2010/main" val="234314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D4F31-9C4E-C77F-295A-18790BE908A5}"/>
              </a:ext>
            </a:extLst>
          </p:cNvPr>
          <p:cNvSpPr>
            <a:spLocks noGrp="1"/>
          </p:cNvSpPr>
          <p:nvPr>
            <p:ph type="title"/>
          </p:nvPr>
        </p:nvSpPr>
        <p:spPr/>
        <p:txBody>
          <a:bodyPr/>
          <a:lstStyle/>
          <a:p>
            <a:r>
              <a:rPr lang="en-US"/>
              <a:t>There is method to the madness...</a:t>
            </a:r>
          </a:p>
        </p:txBody>
      </p:sp>
      <p:sp>
        <p:nvSpPr>
          <p:cNvPr id="3" name="Content Placeholder 2">
            <a:extLst>
              <a:ext uri="{FF2B5EF4-FFF2-40B4-BE49-F238E27FC236}">
                <a16:creationId xmlns:a16="http://schemas.microsoft.com/office/drawing/2014/main" id="{7E89B4C7-B043-FE19-435C-3B921ED8F75D}"/>
              </a:ext>
            </a:extLst>
          </p:cNvPr>
          <p:cNvSpPr>
            <a:spLocks noGrp="1"/>
          </p:cNvSpPr>
          <p:nvPr>
            <p:ph idx="1"/>
          </p:nvPr>
        </p:nvSpPr>
        <p:spPr/>
        <p:txBody>
          <a:bodyPr vert="horz" lIns="91440" tIns="45720" rIns="91440" bIns="45720" rtlCol="0" anchor="t">
            <a:normAutofit/>
          </a:bodyPr>
          <a:lstStyle/>
          <a:p>
            <a:r>
              <a:rPr lang="en-US"/>
              <a:t>Technical details - three short presentations</a:t>
            </a:r>
          </a:p>
          <a:p>
            <a:pPr lvl="1">
              <a:buFont typeface="Courier New" panose="020B0604020202020204" pitchFamily="34" charset="0"/>
              <a:buChar char="o"/>
            </a:pPr>
            <a:r>
              <a:rPr lang="en-US">
                <a:hlinkClick r:id="rId2"/>
              </a:rPr>
              <a:t>Anthoinette Ilolo</a:t>
            </a:r>
            <a:endParaRPr lang="en-US"/>
          </a:p>
          <a:p>
            <a:pPr lvl="2">
              <a:buFont typeface="Wingdings" panose="020B0604020202020204" pitchFamily="34" charset="0"/>
              <a:buChar char="§"/>
            </a:pPr>
            <a:r>
              <a:rPr lang="en-US"/>
              <a:t>Secrets management</a:t>
            </a:r>
          </a:p>
          <a:p>
            <a:pPr lvl="1">
              <a:buFont typeface="Courier New" panose="020B0604020202020204" pitchFamily="34" charset="0"/>
              <a:buChar char="o"/>
            </a:pPr>
            <a:r>
              <a:rPr lang="en-US">
                <a:hlinkClick r:id="rId3"/>
              </a:rPr>
              <a:t>Aditya Waghmare</a:t>
            </a:r>
          </a:p>
          <a:p>
            <a:pPr lvl="2">
              <a:buFont typeface="Wingdings" panose="020B0604020202020204" pitchFamily="34" charset="0"/>
              <a:buChar char="§"/>
            </a:pPr>
            <a:r>
              <a:rPr lang="en-US"/>
              <a:t>Network Isolation via SDN on the </a:t>
            </a:r>
            <a:r>
              <a:rPr lang="en-US" err="1"/>
              <a:t>Proxmox</a:t>
            </a:r>
            <a:r>
              <a:rPr lang="en-US"/>
              <a:t> Cloud Platform</a:t>
            </a:r>
            <a:endParaRPr lang="en-US" sz="2400"/>
          </a:p>
          <a:p>
            <a:pPr lvl="1">
              <a:buFont typeface="Courier New" panose="020B0604020202020204" pitchFamily="34" charset="0"/>
              <a:buChar char="o"/>
            </a:pPr>
            <a:r>
              <a:rPr lang="en-US">
                <a:hlinkClick r:id="rId4"/>
              </a:rPr>
              <a:t>Ivan Zziwa</a:t>
            </a:r>
            <a:r>
              <a:rPr lang="en-US"/>
              <a:t> and </a:t>
            </a:r>
            <a:r>
              <a:rPr lang="en-US">
                <a:hlinkClick r:id="rId5"/>
              </a:rPr>
              <a:t>Jacob Holtz</a:t>
            </a:r>
          </a:p>
          <a:p>
            <a:pPr lvl="2">
              <a:buFont typeface="Wingdings" panose="020B0604020202020204" pitchFamily="34" charset="0"/>
              <a:buChar char="§"/>
            </a:pPr>
            <a:r>
              <a:rPr lang="en-US"/>
              <a:t>Putting it all together and delivering the working Cyber Range prototype</a:t>
            </a:r>
          </a:p>
        </p:txBody>
      </p:sp>
      <p:sp>
        <p:nvSpPr>
          <p:cNvPr id="4" name="Date Placeholder 3">
            <a:extLst>
              <a:ext uri="{FF2B5EF4-FFF2-40B4-BE49-F238E27FC236}">
                <a16:creationId xmlns:a16="http://schemas.microsoft.com/office/drawing/2014/main" id="{B2E519FA-2373-95EE-7E04-0C33349065C9}"/>
              </a:ext>
            </a:extLst>
          </p:cNvPr>
          <p:cNvSpPr>
            <a:spLocks noGrp="1"/>
          </p:cNvSpPr>
          <p:nvPr>
            <p:ph type="dt" sz="half" idx="10"/>
          </p:nvPr>
        </p:nvSpPr>
        <p:spPr/>
        <p:txBody>
          <a:bodyPr/>
          <a:lstStyle/>
          <a:p>
            <a:fld id="{0E0A3787-016A-433C-BBD0-5A67C10AD380}" type="datetime1">
              <a:rPr lang="en-US"/>
              <a:t>6/13/2025</a:t>
            </a:fld>
            <a:endParaRPr lang="en-US"/>
          </a:p>
        </p:txBody>
      </p:sp>
      <p:sp>
        <p:nvSpPr>
          <p:cNvPr id="5" name="Footer Placeholder 4">
            <a:extLst>
              <a:ext uri="{FF2B5EF4-FFF2-40B4-BE49-F238E27FC236}">
                <a16:creationId xmlns:a16="http://schemas.microsoft.com/office/drawing/2014/main" id="{CC244AAD-A473-7A88-DEFE-405EC351FB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CD686D-0902-06CD-2852-3DA6DD9BBA2B}"/>
              </a:ext>
            </a:extLst>
          </p:cNvPr>
          <p:cNvSpPr>
            <a:spLocks noGrp="1"/>
          </p:cNvSpPr>
          <p:nvPr>
            <p:ph type="sldNum" sz="quarter" idx="12"/>
          </p:nvPr>
        </p:nvSpPr>
        <p:spPr/>
        <p:txBody>
          <a:bodyPr/>
          <a:lstStyle/>
          <a:p>
            <a:fld id="{A65A5C87-DF58-40C8-B092-1DE63DB4547E}" type="slidenum">
              <a:rPr lang="en-US" dirty="0"/>
              <a:t>7</a:t>
            </a:fld>
            <a:endParaRPr lang="en-US"/>
          </a:p>
        </p:txBody>
      </p:sp>
    </p:spTree>
    <p:extLst>
      <p:ext uri="{BB962C8B-B14F-4D97-AF65-F5344CB8AC3E}">
        <p14:creationId xmlns:p14="http://schemas.microsoft.com/office/powerpoint/2010/main" val="4085709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B81FC-1046-A886-56D8-3719E9097C7A}"/>
              </a:ext>
            </a:extLst>
          </p:cNvPr>
          <p:cNvSpPr>
            <a:spLocks noGrp="1"/>
          </p:cNvSpPr>
          <p:nvPr>
            <p:ph type="ctrTitle"/>
          </p:nvPr>
        </p:nvSpPr>
        <p:spPr/>
        <p:txBody>
          <a:bodyPr/>
          <a:lstStyle/>
          <a:p>
            <a:r>
              <a:rPr lang="en-US">
                <a:ea typeface="+mj-lt"/>
                <a:cs typeface="+mj-lt"/>
              </a:rPr>
              <a:t>Secrets Management </a:t>
            </a:r>
            <a:endParaRPr lang="en-US"/>
          </a:p>
        </p:txBody>
      </p:sp>
      <p:sp>
        <p:nvSpPr>
          <p:cNvPr id="3" name="Subtitle 2">
            <a:extLst>
              <a:ext uri="{FF2B5EF4-FFF2-40B4-BE49-F238E27FC236}">
                <a16:creationId xmlns:a16="http://schemas.microsoft.com/office/drawing/2014/main" id="{06F2C18C-89FB-AFB1-61BC-A8E246C32B06}"/>
              </a:ext>
            </a:extLst>
          </p:cNvPr>
          <p:cNvSpPr>
            <a:spLocks noGrp="1"/>
          </p:cNvSpPr>
          <p:nvPr>
            <p:ph type="subTitle" idx="1"/>
          </p:nvPr>
        </p:nvSpPr>
        <p:spPr/>
        <p:txBody>
          <a:bodyPr vert="horz" lIns="91440" tIns="45720" rIns="91440" bIns="45720" rtlCol="0" anchor="t">
            <a:normAutofit/>
          </a:bodyPr>
          <a:lstStyle/>
          <a:p>
            <a:r>
              <a:rPr lang="en-US" err="1"/>
              <a:t>Anthoinette</a:t>
            </a:r>
            <a:r>
              <a:rPr lang="en-US"/>
              <a:t> </a:t>
            </a:r>
            <a:r>
              <a:rPr lang="en-US" err="1"/>
              <a:t>Ilolo</a:t>
            </a:r>
            <a:r>
              <a:rPr lang="en-US"/>
              <a:t> (ITM)</a:t>
            </a:r>
          </a:p>
        </p:txBody>
      </p:sp>
      <p:sp>
        <p:nvSpPr>
          <p:cNvPr id="4" name="Date Placeholder 3">
            <a:extLst>
              <a:ext uri="{FF2B5EF4-FFF2-40B4-BE49-F238E27FC236}">
                <a16:creationId xmlns:a16="http://schemas.microsoft.com/office/drawing/2014/main" id="{02212355-9032-11CE-BFB5-C8D1CB2A71CB}"/>
              </a:ext>
            </a:extLst>
          </p:cNvPr>
          <p:cNvSpPr>
            <a:spLocks noGrp="1"/>
          </p:cNvSpPr>
          <p:nvPr>
            <p:ph type="dt" sz="half" idx="10"/>
          </p:nvPr>
        </p:nvSpPr>
        <p:spPr/>
        <p:txBody>
          <a:bodyPr/>
          <a:lstStyle/>
          <a:p>
            <a:fld id="{30D9C9EB-DA54-473D-A9B2-9646C99D0BD9}" type="datetime1">
              <a:t>6/13/2025</a:t>
            </a:fld>
            <a:endParaRPr lang="en-US"/>
          </a:p>
        </p:txBody>
      </p:sp>
      <p:sp>
        <p:nvSpPr>
          <p:cNvPr id="5" name="Footer Placeholder 4">
            <a:extLst>
              <a:ext uri="{FF2B5EF4-FFF2-40B4-BE49-F238E27FC236}">
                <a16:creationId xmlns:a16="http://schemas.microsoft.com/office/drawing/2014/main" id="{66EB62B0-A9A7-29B6-6C94-1D9E7FF42B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045BAB-896A-E459-EBF3-4B0F99197E44}"/>
              </a:ext>
            </a:extLst>
          </p:cNvPr>
          <p:cNvSpPr>
            <a:spLocks noGrp="1"/>
          </p:cNvSpPr>
          <p:nvPr>
            <p:ph type="sldNum" sz="quarter" idx="12"/>
          </p:nvPr>
        </p:nvSpPr>
        <p:spPr/>
        <p:txBody>
          <a:bodyPr/>
          <a:lstStyle/>
          <a:p>
            <a:fld id="{A65A5C87-DF58-40C8-B092-1DE63DB4547E}" type="slidenum">
              <a:rPr lang="en-US" dirty="0"/>
              <a:t>8</a:t>
            </a:fld>
            <a:endParaRPr lang="en-US"/>
          </a:p>
        </p:txBody>
      </p:sp>
    </p:spTree>
    <p:extLst>
      <p:ext uri="{BB962C8B-B14F-4D97-AF65-F5344CB8AC3E}">
        <p14:creationId xmlns:p14="http://schemas.microsoft.com/office/powerpoint/2010/main" val="2125645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06563-18CF-EE0F-34AC-A76D4577C1C7}"/>
              </a:ext>
            </a:extLst>
          </p:cNvPr>
          <p:cNvSpPr>
            <a:spLocks noGrp="1"/>
          </p:cNvSpPr>
          <p:nvPr>
            <p:ph type="title"/>
          </p:nvPr>
        </p:nvSpPr>
        <p:spPr/>
        <p:txBody>
          <a:bodyPr>
            <a:normAutofit/>
          </a:bodyPr>
          <a:lstStyle/>
          <a:p>
            <a:r>
              <a:rPr lang="en-US"/>
              <a:t>Secrets Management</a:t>
            </a:r>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p:txBody>
          <a:bodyPr/>
          <a:lstStyle/>
          <a:p>
            <a:fld id="{880DDC6F-4FAA-4AF7-A809-1F349EB6C9F1}" type="datetime1">
              <a:rPr lang="en-US"/>
              <a:t>6/13/2025</a:t>
            </a:fld>
            <a:endParaRPr lang="en-US"/>
          </a:p>
        </p:txBody>
      </p:sp>
      <p:sp>
        <p:nvSpPr>
          <p:cNvPr id="5" name="Footer Placeholder 4">
            <a:extLst>
              <a:ext uri="{FF2B5EF4-FFF2-40B4-BE49-F238E27FC236}">
                <a16:creationId xmlns:a16="http://schemas.microsoft.com/office/drawing/2014/main" id="{2C4CBDA2-B0DF-242F-25CA-1231AD0E88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p:txBody>
          <a:bodyPr/>
          <a:lstStyle/>
          <a:p>
            <a:fld id="{A65A5C87-DF58-40C8-B092-1DE63DB4547E}" type="slidenum">
              <a:rPr lang="en-US" dirty="0"/>
              <a:t>9</a:t>
            </a:fld>
            <a:endParaRPr lang="en-US"/>
          </a:p>
        </p:txBody>
      </p:sp>
      <p:sp>
        <p:nvSpPr>
          <p:cNvPr id="9" name="Content Placeholder 8">
            <a:extLst>
              <a:ext uri="{FF2B5EF4-FFF2-40B4-BE49-F238E27FC236}">
                <a16:creationId xmlns:a16="http://schemas.microsoft.com/office/drawing/2014/main" id="{4EF15C6C-7A5D-C627-2928-75067B44D847}"/>
              </a:ext>
            </a:extLst>
          </p:cNvPr>
          <p:cNvSpPr>
            <a:spLocks noGrp="1"/>
          </p:cNvSpPr>
          <p:nvPr>
            <p:ph idx="1"/>
          </p:nvPr>
        </p:nvSpPr>
        <p:spPr/>
        <p:txBody>
          <a:bodyPr vert="horz" lIns="91440" tIns="45720" rIns="91440" bIns="45720" rtlCol="0" anchor="t">
            <a:normAutofit/>
          </a:bodyPr>
          <a:lstStyle/>
          <a:p>
            <a:pPr marL="457200" lvl="1" indent="0">
              <a:buNone/>
            </a:pPr>
            <a:r>
              <a:rPr lang="en-US" i="1"/>
              <a:t>"The process of securely storing, accessing, and managing sensitive information (secrets) like API keys, passwords, certificates, encryption keys, and database credentials used by applications, services, and systems."</a:t>
            </a:r>
            <a:r>
              <a:rPr lang="en-US"/>
              <a:t> </a:t>
            </a:r>
          </a:p>
          <a:p>
            <a:pPr marL="457200" lvl="1" indent="0">
              <a:buNone/>
            </a:pPr>
            <a:endParaRPr lang="en-US"/>
          </a:p>
          <a:p>
            <a:pPr marL="457200" lvl="1" indent="0">
              <a:buNone/>
            </a:pPr>
            <a:endParaRPr lang="en-US"/>
          </a:p>
          <a:p>
            <a:endParaRPr lang="en-US" b="1"/>
          </a:p>
        </p:txBody>
      </p:sp>
    </p:spTree>
    <p:extLst>
      <p:ext uri="{BB962C8B-B14F-4D97-AF65-F5344CB8AC3E}">
        <p14:creationId xmlns:p14="http://schemas.microsoft.com/office/powerpoint/2010/main" val="1522586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0D39B-90BB-3183-131E-432FA5F615CA}"/>
              </a:ext>
            </a:extLst>
          </p:cNvPr>
          <p:cNvSpPr>
            <a:spLocks noGrp="1"/>
          </p:cNvSpPr>
          <p:nvPr>
            <p:ph type="title"/>
          </p:nvPr>
        </p:nvSpPr>
        <p:spPr/>
        <p:txBody>
          <a:bodyPr/>
          <a:lstStyle/>
          <a:p>
            <a:r>
              <a:rPr lang="en-US"/>
              <a:t>Problems with Secrets </a:t>
            </a:r>
          </a:p>
        </p:txBody>
      </p:sp>
      <p:sp>
        <p:nvSpPr>
          <p:cNvPr id="3" name="Content Placeholder 2">
            <a:extLst>
              <a:ext uri="{FF2B5EF4-FFF2-40B4-BE49-F238E27FC236}">
                <a16:creationId xmlns:a16="http://schemas.microsoft.com/office/drawing/2014/main" id="{DCCCF39A-A6DE-D44D-D7FD-7986FC09BDEC}"/>
              </a:ext>
            </a:extLst>
          </p:cNvPr>
          <p:cNvSpPr>
            <a:spLocks noGrp="1"/>
          </p:cNvSpPr>
          <p:nvPr>
            <p:ph idx="1"/>
          </p:nvPr>
        </p:nvSpPr>
        <p:spPr/>
        <p:txBody>
          <a:bodyPr vert="horz" lIns="91440" tIns="45720" rIns="91440" bIns="45720" rtlCol="0" anchor="t">
            <a:normAutofit/>
          </a:bodyPr>
          <a:lstStyle/>
          <a:p>
            <a:r>
              <a:rPr lang="en-US" sz="2600">
                <a:latin typeface="Arial"/>
                <a:cs typeface="Arial"/>
              </a:rPr>
              <a:t>Some major problems with </a:t>
            </a:r>
            <a:r>
              <a:rPr lang="en-US" sz="2600" b="1">
                <a:latin typeface="Arial"/>
                <a:cs typeface="Arial"/>
              </a:rPr>
              <a:t>secrets</a:t>
            </a:r>
            <a:r>
              <a:rPr lang="en-US" sz="2600">
                <a:latin typeface="Arial"/>
                <a:cs typeface="Arial"/>
              </a:rPr>
              <a:t> include the following;</a:t>
            </a:r>
            <a:endParaRPr lang="en-US">
              <a:latin typeface="Avenir Next LT Pro"/>
              <a:cs typeface="Arial"/>
            </a:endParaRPr>
          </a:p>
          <a:p>
            <a:pPr lvl="1"/>
            <a:r>
              <a:rPr lang="en-US" sz="2200">
                <a:latin typeface="Arial"/>
                <a:cs typeface="Arial"/>
              </a:rPr>
              <a:t>Secrets scattered across systems</a:t>
            </a:r>
            <a:endParaRPr lang="en-US" sz="2200">
              <a:latin typeface="Avenir Next LT Pro"/>
              <a:cs typeface="Arial"/>
            </a:endParaRPr>
          </a:p>
          <a:p>
            <a:pPr lvl="1"/>
            <a:r>
              <a:rPr lang="en-US" sz="2200">
                <a:latin typeface="Arial"/>
                <a:cs typeface="Arial"/>
              </a:rPr>
              <a:t>Risk of exposure due to hardcoding</a:t>
            </a:r>
          </a:p>
          <a:p>
            <a:pPr lvl="1"/>
            <a:r>
              <a:rPr lang="en-US" sz="2200">
                <a:latin typeface="Arial"/>
                <a:cs typeface="Arial"/>
              </a:rPr>
              <a:t>Risk of exposure due to mismanagement</a:t>
            </a:r>
            <a:endParaRPr lang="en-US">
              <a:latin typeface="Avenir Next LT Pro"/>
              <a:cs typeface="Arial"/>
            </a:endParaRPr>
          </a:p>
          <a:p>
            <a:pPr lvl="1"/>
            <a:r>
              <a:rPr lang="en-US" sz="2200">
                <a:latin typeface="Arial"/>
                <a:cs typeface="Arial"/>
              </a:rPr>
              <a:t>Lack of centralized control</a:t>
            </a:r>
            <a:endParaRPr lang="en-US"/>
          </a:p>
          <a:p>
            <a:pPr lvl="1"/>
            <a:r>
              <a:rPr lang="en-US" sz="2200">
                <a:latin typeface="Arial"/>
                <a:cs typeface="Arial"/>
              </a:rPr>
              <a:t>Breaches due to compromised credentials or misconfigurations</a:t>
            </a:r>
            <a:endParaRPr lang="en-US"/>
          </a:p>
          <a:p>
            <a:pPr lvl="1"/>
            <a:r>
              <a:rPr lang="en-US" sz="2200">
                <a:latin typeface="Arial"/>
                <a:cs typeface="Arial"/>
              </a:rPr>
              <a:t>They live in email and live beyond your term of employment</a:t>
            </a:r>
          </a:p>
          <a:p>
            <a:pPr marL="0" indent="0">
              <a:buNone/>
            </a:pPr>
            <a:endParaRPr lang="en-US"/>
          </a:p>
        </p:txBody>
      </p:sp>
      <p:sp>
        <p:nvSpPr>
          <p:cNvPr id="4" name="Date Placeholder 3">
            <a:extLst>
              <a:ext uri="{FF2B5EF4-FFF2-40B4-BE49-F238E27FC236}">
                <a16:creationId xmlns:a16="http://schemas.microsoft.com/office/drawing/2014/main" id="{D9A28CD1-904B-5915-6AAD-725D40A195AC}"/>
              </a:ext>
            </a:extLst>
          </p:cNvPr>
          <p:cNvSpPr>
            <a:spLocks noGrp="1"/>
          </p:cNvSpPr>
          <p:nvPr>
            <p:ph type="dt" sz="half" idx="10"/>
          </p:nvPr>
        </p:nvSpPr>
        <p:spPr/>
        <p:txBody>
          <a:bodyPr/>
          <a:lstStyle/>
          <a:p>
            <a:fld id="{5483F84E-4A26-47D8-80C5-9D36219FA9E5}" type="datetime1">
              <a:rPr lang="en-US"/>
              <a:t>6/13/2025</a:t>
            </a:fld>
            <a:endParaRPr lang="en-US"/>
          </a:p>
        </p:txBody>
      </p:sp>
      <p:sp>
        <p:nvSpPr>
          <p:cNvPr id="5" name="Footer Placeholder 4">
            <a:extLst>
              <a:ext uri="{FF2B5EF4-FFF2-40B4-BE49-F238E27FC236}">
                <a16:creationId xmlns:a16="http://schemas.microsoft.com/office/drawing/2014/main" id="{6D539E15-13E4-9135-5B60-CDDCB664A3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F7F316-8F48-AD73-F5A5-178AB8ECBB96}"/>
              </a:ext>
            </a:extLst>
          </p:cNvPr>
          <p:cNvSpPr>
            <a:spLocks noGrp="1"/>
          </p:cNvSpPr>
          <p:nvPr>
            <p:ph type="sldNum" sz="quarter" idx="12"/>
          </p:nvPr>
        </p:nvSpPr>
        <p:spPr/>
        <p:txBody>
          <a:bodyPr/>
          <a:lstStyle/>
          <a:p>
            <a:fld id="{A65A5C87-DF58-40C8-B092-1DE63DB4547E}" type="slidenum">
              <a:rPr lang="en-US" dirty="0"/>
              <a:t>10</a:t>
            </a:fld>
            <a:endParaRPr lang="en-US"/>
          </a:p>
        </p:txBody>
      </p:sp>
    </p:spTree>
    <p:extLst>
      <p:ext uri="{BB962C8B-B14F-4D97-AF65-F5344CB8AC3E}">
        <p14:creationId xmlns:p14="http://schemas.microsoft.com/office/powerpoint/2010/main" val="3234975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06563-18CF-EE0F-34AC-A76D4577C1C7}"/>
              </a:ext>
            </a:extLst>
          </p:cNvPr>
          <p:cNvSpPr>
            <a:spLocks noGrp="1"/>
          </p:cNvSpPr>
          <p:nvPr>
            <p:ph type="title"/>
          </p:nvPr>
        </p:nvSpPr>
        <p:spPr/>
        <p:txBody>
          <a:bodyPr>
            <a:normAutofit/>
          </a:bodyPr>
          <a:lstStyle/>
          <a:p>
            <a:r>
              <a:rPr lang="en-US"/>
              <a:t>Our Solution – </a:t>
            </a:r>
            <a:r>
              <a:rPr lang="en-US" err="1"/>
              <a:t>HashiCorp</a:t>
            </a:r>
            <a:r>
              <a:rPr lang="en-US"/>
              <a:t> Vault</a:t>
            </a:r>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p:txBody>
          <a:bodyPr/>
          <a:lstStyle/>
          <a:p>
            <a:fld id="{880DDC6F-4FAA-4AF7-A809-1F349EB6C9F1}" type="datetime1">
              <a:rPr lang="en-US"/>
              <a:t>6/13/2025</a:t>
            </a:fld>
            <a:endParaRPr lang="en-US"/>
          </a:p>
        </p:txBody>
      </p:sp>
      <p:sp>
        <p:nvSpPr>
          <p:cNvPr id="5" name="Footer Placeholder 4">
            <a:extLst>
              <a:ext uri="{FF2B5EF4-FFF2-40B4-BE49-F238E27FC236}">
                <a16:creationId xmlns:a16="http://schemas.microsoft.com/office/drawing/2014/main" id="{2C4CBDA2-B0DF-242F-25CA-1231AD0E88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p:txBody>
          <a:bodyPr/>
          <a:lstStyle/>
          <a:p>
            <a:fld id="{A65A5C87-DF58-40C8-B092-1DE63DB4547E}" type="slidenum">
              <a:rPr lang="en-US" dirty="0"/>
              <a:t>11</a:t>
            </a:fld>
            <a:endParaRPr lang="en-US"/>
          </a:p>
        </p:txBody>
      </p:sp>
      <p:sp>
        <p:nvSpPr>
          <p:cNvPr id="9" name="Content Placeholder 8">
            <a:extLst>
              <a:ext uri="{FF2B5EF4-FFF2-40B4-BE49-F238E27FC236}">
                <a16:creationId xmlns:a16="http://schemas.microsoft.com/office/drawing/2014/main" id="{4EF15C6C-7A5D-C627-2928-75067B44D847}"/>
              </a:ext>
            </a:extLst>
          </p:cNvPr>
          <p:cNvSpPr>
            <a:spLocks noGrp="1"/>
          </p:cNvSpPr>
          <p:nvPr>
            <p:ph idx="1"/>
          </p:nvPr>
        </p:nvSpPr>
        <p:spPr/>
        <p:txBody>
          <a:bodyPr vert="horz" lIns="91440" tIns="45720" rIns="91440" bIns="45720" rtlCol="0" anchor="t">
            <a:normAutofit/>
          </a:bodyPr>
          <a:lstStyle/>
          <a:p>
            <a:pPr marL="457200" lvl="1" indent="0">
              <a:buNone/>
            </a:pPr>
            <a:endParaRPr lang="en-US"/>
          </a:p>
          <a:p>
            <a:pPr marL="800100" lvl="1" indent="-342900"/>
            <a:endParaRPr lang="en-US"/>
          </a:p>
          <a:p>
            <a:pPr marL="457200" lvl="1" indent="0">
              <a:buNone/>
            </a:pPr>
            <a:endParaRPr lang="en-US"/>
          </a:p>
          <a:p>
            <a:endParaRPr lang="en-US" b="1"/>
          </a:p>
        </p:txBody>
      </p:sp>
      <p:sp>
        <p:nvSpPr>
          <p:cNvPr id="3" name="Content Placeholder 8">
            <a:extLst>
              <a:ext uri="{FF2B5EF4-FFF2-40B4-BE49-F238E27FC236}">
                <a16:creationId xmlns:a16="http://schemas.microsoft.com/office/drawing/2014/main" id="{4EF15C6C-7A5D-C627-2928-75067B44D847}"/>
              </a:ext>
            </a:extLst>
          </p:cNvPr>
          <p:cNvSpPr>
            <a:spLocks noGrp="1"/>
          </p:cNvSpPr>
          <p:nvPr/>
        </p:nvSpPr>
        <p:spPr>
          <a:xfrm>
            <a:off x="1115568" y="2478024"/>
            <a:ext cx="10168128" cy="3694176"/>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a:t>What is Vault?</a:t>
            </a:r>
          </a:p>
          <a:p>
            <a:pPr lvl="1">
              <a:buFont typeface="Courier New" panose="020B0604020202020204" pitchFamily="34" charset="0"/>
              <a:buChar char="o"/>
            </a:pPr>
            <a:r>
              <a:rPr lang="en-US"/>
              <a:t>Like a bank vault, Vault stores</a:t>
            </a:r>
            <a:r>
              <a:rPr lang="en-US">
                <a:ea typeface="+mn-lt"/>
                <a:cs typeface="+mn-lt"/>
              </a:rPr>
              <a:t> our credentials (Encrypted on disk)</a:t>
            </a:r>
          </a:p>
          <a:p>
            <a:pPr lvl="1">
              <a:buFont typeface="Courier New" panose="020B0604020202020204" pitchFamily="34" charset="0"/>
              <a:buChar char="o"/>
            </a:pPr>
            <a:r>
              <a:rPr lang="en-US"/>
              <a:t>Secrets are centrally stored and managed</a:t>
            </a:r>
          </a:p>
          <a:p>
            <a:pPr lvl="1">
              <a:buFont typeface="Courier New" panose="020B0604020202020204" pitchFamily="34" charset="0"/>
              <a:buChar char="o"/>
            </a:pPr>
            <a:r>
              <a:rPr lang="en-US"/>
              <a:t>Using the Network allows any application to access secrets</a:t>
            </a:r>
          </a:p>
          <a:p>
            <a:pPr lvl="1">
              <a:buFont typeface="Courier New" panose="020B0604020202020204" pitchFamily="34" charset="0"/>
              <a:buChar char="o"/>
            </a:pPr>
            <a:r>
              <a:rPr lang="en-US"/>
              <a:t>Users authenticate via tokens (Access Control) </a:t>
            </a:r>
          </a:p>
          <a:p>
            <a:pPr lvl="1">
              <a:buFont typeface="Courier New" panose="020B0604020202020204" pitchFamily="34" charset="0"/>
              <a:buChar char="o"/>
            </a:pPr>
            <a:r>
              <a:rPr lang="en-US"/>
              <a:t>Tokens have a TTL and fine-grained access control</a:t>
            </a:r>
          </a:p>
          <a:p>
            <a:pPr lvl="1">
              <a:buFont typeface="Courier New" panose="020B0604020202020204" pitchFamily="34" charset="0"/>
              <a:buChar char="o"/>
            </a:pPr>
            <a:r>
              <a:rPr lang="en-US"/>
              <a:t>Secrets are accessed via HTTPS</a:t>
            </a:r>
          </a:p>
        </p:txBody>
      </p:sp>
    </p:spTree>
    <p:extLst>
      <p:ext uri="{BB962C8B-B14F-4D97-AF65-F5344CB8AC3E}">
        <p14:creationId xmlns:p14="http://schemas.microsoft.com/office/powerpoint/2010/main" val="2185089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06563-18CF-EE0F-34AC-A76D4577C1C7}"/>
              </a:ext>
            </a:extLst>
          </p:cNvPr>
          <p:cNvSpPr>
            <a:spLocks noGrp="1"/>
          </p:cNvSpPr>
          <p:nvPr>
            <p:ph type="title"/>
          </p:nvPr>
        </p:nvSpPr>
        <p:spPr/>
        <p:txBody>
          <a:bodyPr>
            <a:normAutofit/>
          </a:bodyPr>
          <a:lstStyle/>
          <a:p>
            <a:pPr algn="ctr"/>
            <a:r>
              <a:rPr lang="en-US"/>
              <a:t>Vault in Action</a:t>
            </a:r>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p:txBody>
          <a:bodyPr/>
          <a:lstStyle/>
          <a:p>
            <a:fld id="{880DDC6F-4FAA-4AF7-A809-1F349EB6C9F1}" type="datetime1">
              <a:rPr lang="en-US"/>
              <a:t>6/13/2025</a:t>
            </a:fld>
            <a:endParaRPr lang="en-US"/>
          </a:p>
        </p:txBody>
      </p:sp>
      <p:sp>
        <p:nvSpPr>
          <p:cNvPr id="5" name="Footer Placeholder 4">
            <a:extLst>
              <a:ext uri="{FF2B5EF4-FFF2-40B4-BE49-F238E27FC236}">
                <a16:creationId xmlns:a16="http://schemas.microsoft.com/office/drawing/2014/main" id="{2C4CBDA2-B0DF-242F-25CA-1231AD0E88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p:txBody>
          <a:bodyPr/>
          <a:lstStyle/>
          <a:p>
            <a:fld id="{A65A5C87-DF58-40C8-B092-1DE63DB4547E}" type="slidenum">
              <a:rPr lang="en-US" dirty="0"/>
              <a:t>12</a:t>
            </a:fld>
            <a:endParaRPr lang="en-US"/>
          </a:p>
        </p:txBody>
      </p:sp>
      <p:pic>
        <p:nvPicPr>
          <p:cNvPr id="3" name="Content Placeholder 2" descr="A screenshot of a computer&#10;&#10;Description automatically generated">
            <a:extLst>
              <a:ext uri="{FF2B5EF4-FFF2-40B4-BE49-F238E27FC236}">
                <a16:creationId xmlns:a16="http://schemas.microsoft.com/office/drawing/2014/main" id="{17550D03-EC4B-F065-6B80-2F4B90D26106}"/>
              </a:ext>
            </a:extLst>
          </p:cNvPr>
          <p:cNvPicPr>
            <a:picLocks noGrp="1" noChangeAspect="1"/>
          </p:cNvPicPr>
          <p:nvPr>
            <p:ph idx="1"/>
          </p:nvPr>
        </p:nvPicPr>
        <p:blipFill>
          <a:blip r:embed="rId2"/>
          <a:stretch>
            <a:fillRect/>
          </a:stretch>
        </p:blipFill>
        <p:spPr>
          <a:xfrm>
            <a:off x="3906449" y="2023838"/>
            <a:ext cx="4371471" cy="4106029"/>
          </a:xfrm>
        </p:spPr>
      </p:pic>
    </p:spTree>
    <p:extLst>
      <p:ext uri="{BB962C8B-B14F-4D97-AF65-F5344CB8AC3E}">
        <p14:creationId xmlns:p14="http://schemas.microsoft.com/office/powerpoint/2010/main" val="2472920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06563-18CF-EE0F-34AC-A76D4577C1C7}"/>
              </a:ext>
            </a:extLst>
          </p:cNvPr>
          <p:cNvSpPr>
            <a:spLocks noGrp="1"/>
          </p:cNvSpPr>
          <p:nvPr>
            <p:ph type="title"/>
          </p:nvPr>
        </p:nvSpPr>
        <p:spPr>
          <a:xfrm>
            <a:off x="1115568" y="548640"/>
            <a:ext cx="10168128" cy="1179576"/>
          </a:xfrm>
        </p:spPr>
        <p:txBody>
          <a:bodyPr anchor="ctr">
            <a:normAutofit/>
          </a:bodyPr>
          <a:lstStyle/>
          <a:p>
            <a:r>
              <a:rPr lang="en-US"/>
              <a:t>Packer and Hard-coded variables</a:t>
            </a:r>
          </a:p>
        </p:txBody>
      </p:sp>
      <p:pic>
        <p:nvPicPr>
          <p:cNvPr id="3" name="Picture 2" descr="A screenshot of a computer screen&#10;&#10;Description automatically generated">
            <a:extLst>
              <a:ext uri="{FF2B5EF4-FFF2-40B4-BE49-F238E27FC236}">
                <a16:creationId xmlns:a16="http://schemas.microsoft.com/office/drawing/2014/main" id="{26B3397E-51E0-0818-7905-4EDE8912A25D}"/>
              </a:ext>
            </a:extLst>
          </p:cNvPr>
          <p:cNvPicPr>
            <a:picLocks noChangeAspect="1"/>
          </p:cNvPicPr>
          <p:nvPr/>
        </p:nvPicPr>
        <p:blipFill>
          <a:blip r:embed="rId2"/>
          <a:stretch>
            <a:fillRect/>
          </a:stretch>
        </p:blipFill>
        <p:spPr>
          <a:xfrm>
            <a:off x="913832" y="2481074"/>
            <a:ext cx="4646762" cy="3694176"/>
          </a:xfrm>
          <a:prstGeom prst="rect">
            <a:avLst/>
          </a:prstGeom>
          <a:noFill/>
        </p:spPr>
      </p:pic>
      <p:sp>
        <p:nvSpPr>
          <p:cNvPr id="9" name="Content Placeholder 8">
            <a:extLst>
              <a:ext uri="{FF2B5EF4-FFF2-40B4-BE49-F238E27FC236}">
                <a16:creationId xmlns:a16="http://schemas.microsoft.com/office/drawing/2014/main" id="{4EF15C6C-7A5D-C627-2928-75067B44D847}"/>
              </a:ext>
            </a:extLst>
          </p:cNvPr>
          <p:cNvSpPr>
            <a:spLocks noGrp="1"/>
          </p:cNvSpPr>
          <p:nvPr>
            <p:ph sz="half" idx="2"/>
          </p:nvPr>
        </p:nvSpPr>
        <p:spPr>
          <a:xfrm>
            <a:off x="6345936" y="2478024"/>
            <a:ext cx="4937760" cy="3694176"/>
          </a:xfrm>
        </p:spPr>
        <p:txBody>
          <a:bodyPr vert="horz" lIns="91440" tIns="45720" rIns="91440" bIns="45720" rtlCol="0">
            <a:normAutofit/>
          </a:bodyPr>
          <a:lstStyle/>
          <a:p>
            <a:pPr marL="0" indent="0">
              <a:buNone/>
            </a:pPr>
            <a:endParaRPr lang="en-US"/>
          </a:p>
          <a:p>
            <a:pPr marL="0" indent="0">
              <a:buNone/>
            </a:pPr>
            <a:endParaRPr lang="en-US"/>
          </a:p>
          <a:p>
            <a:pPr lvl="1">
              <a:buFont typeface="Courier New" panose="020B0604020202020204" pitchFamily="34" charset="0"/>
              <a:buChar char="o"/>
            </a:pPr>
            <a:endParaRPr lang="en-US" sz="2800"/>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1115568"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14" name="Footer Placeholder 5">
            <a:extLst>
              <a:ext uri="{FF2B5EF4-FFF2-40B4-BE49-F238E27FC236}">
                <a16:creationId xmlns:a16="http://schemas.microsoft.com/office/drawing/2014/main" id="{92595F27-0F75-9B1C-932A-1DE30563D5A8}"/>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13</a:t>
            </a:fld>
            <a:endParaRPr lang="en-US"/>
          </a:p>
        </p:txBody>
      </p:sp>
      <p:pic>
        <p:nvPicPr>
          <p:cNvPr id="7" name="Picture 6" descr="A screenshot of a computer&#10;&#10;Description automatically generated">
            <a:extLst>
              <a:ext uri="{FF2B5EF4-FFF2-40B4-BE49-F238E27FC236}">
                <a16:creationId xmlns:a16="http://schemas.microsoft.com/office/drawing/2014/main" id="{E422C1D1-58D3-F871-880B-6825BEB6B69E}"/>
              </a:ext>
            </a:extLst>
          </p:cNvPr>
          <p:cNvPicPr>
            <a:picLocks noChangeAspect="1"/>
          </p:cNvPicPr>
          <p:nvPr/>
        </p:nvPicPr>
        <p:blipFill>
          <a:blip r:embed="rId3"/>
          <a:stretch>
            <a:fillRect/>
          </a:stretch>
        </p:blipFill>
        <p:spPr>
          <a:xfrm>
            <a:off x="5779698" y="2471253"/>
            <a:ext cx="6081623" cy="3655154"/>
          </a:xfrm>
          <a:prstGeom prst="rect">
            <a:avLst/>
          </a:prstGeom>
        </p:spPr>
      </p:pic>
      <p:sp>
        <p:nvSpPr>
          <p:cNvPr id="8" name="Rectangle 7">
            <a:extLst>
              <a:ext uri="{FF2B5EF4-FFF2-40B4-BE49-F238E27FC236}">
                <a16:creationId xmlns:a16="http://schemas.microsoft.com/office/drawing/2014/main" id="{76ED486F-4B2B-2E60-930F-9AC976404472}"/>
              </a:ext>
            </a:extLst>
          </p:cNvPr>
          <p:cNvSpPr/>
          <p:nvPr/>
        </p:nvSpPr>
        <p:spPr>
          <a:xfrm>
            <a:off x="1522752" y="3107895"/>
            <a:ext cx="2713226" cy="64719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E814140-9720-2C2F-6D00-EE6B2FA4E7DB}"/>
              </a:ext>
            </a:extLst>
          </p:cNvPr>
          <p:cNvSpPr/>
          <p:nvPr/>
        </p:nvSpPr>
        <p:spPr>
          <a:xfrm>
            <a:off x="1511207" y="3835259"/>
            <a:ext cx="3071134" cy="79728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659BE3B-1CE9-5C32-41F3-D816CFDD8F7B}"/>
              </a:ext>
            </a:extLst>
          </p:cNvPr>
          <p:cNvSpPr/>
          <p:nvPr/>
        </p:nvSpPr>
        <p:spPr>
          <a:xfrm>
            <a:off x="5783024" y="4008440"/>
            <a:ext cx="3683044" cy="101664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958071"/>
      </p:ext>
    </p:extLst>
  </p:cSld>
  <p:clrMapOvr>
    <a:masterClrMapping/>
  </p:clrMapOvr>
  <mc:AlternateContent xmlns:mc="http://schemas.openxmlformats.org/markup-compatibility/2006" xmlns:p14="http://schemas.microsoft.com/office/powerpoint/2010/main">
    <mc:Choice Requires="p14">
      <p:transition spd="slow" p14:dur="1500">
        <p:fad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06563-18CF-EE0F-34AC-A76D4577C1C7}"/>
              </a:ext>
            </a:extLst>
          </p:cNvPr>
          <p:cNvSpPr>
            <a:spLocks noGrp="1"/>
          </p:cNvSpPr>
          <p:nvPr>
            <p:ph type="title"/>
          </p:nvPr>
        </p:nvSpPr>
        <p:spPr>
          <a:xfrm>
            <a:off x="1115568" y="548640"/>
            <a:ext cx="10168128" cy="1179576"/>
          </a:xfrm>
        </p:spPr>
        <p:txBody>
          <a:bodyPr anchor="ctr">
            <a:normAutofit/>
          </a:bodyPr>
          <a:lstStyle/>
          <a:p>
            <a:r>
              <a:rPr lang="en-US"/>
              <a:t>Terraform and Hard-coded variables</a:t>
            </a:r>
          </a:p>
        </p:txBody>
      </p:sp>
      <p:sp>
        <p:nvSpPr>
          <p:cNvPr id="9" name="Content Placeholder 8">
            <a:extLst>
              <a:ext uri="{FF2B5EF4-FFF2-40B4-BE49-F238E27FC236}">
                <a16:creationId xmlns:a16="http://schemas.microsoft.com/office/drawing/2014/main" id="{4EF15C6C-7A5D-C627-2928-75067B44D847}"/>
              </a:ext>
            </a:extLst>
          </p:cNvPr>
          <p:cNvSpPr>
            <a:spLocks noGrp="1"/>
          </p:cNvSpPr>
          <p:nvPr>
            <p:ph sz="half" idx="2"/>
          </p:nvPr>
        </p:nvSpPr>
        <p:spPr>
          <a:xfrm>
            <a:off x="6345936" y="2478024"/>
            <a:ext cx="4937760" cy="3694176"/>
          </a:xfrm>
        </p:spPr>
        <p:txBody>
          <a:bodyPr vert="horz" lIns="91440" tIns="45720" rIns="91440" bIns="45720" rtlCol="0">
            <a:normAutofit/>
          </a:bodyPr>
          <a:lstStyle/>
          <a:p>
            <a:pPr marL="0" indent="0">
              <a:buNone/>
            </a:pPr>
            <a:endParaRPr lang="en-US"/>
          </a:p>
          <a:p>
            <a:pPr lvl="1">
              <a:buFont typeface="Courier New" panose="020B0604020202020204" pitchFamily="34" charset="0"/>
              <a:buChar char="o"/>
            </a:pPr>
            <a:endParaRPr lang="en-US" sz="2800"/>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1115568"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14" name="Footer Placeholder 5">
            <a:extLst>
              <a:ext uri="{FF2B5EF4-FFF2-40B4-BE49-F238E27FC236}">
                <a16:creationId xmlns:a16="http://schemas.microsoft.com/office/drawing/2014/main" id="{B4D53D21-B8C0-6F25-78BD-52EC650AECC3}"/>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14</a:t>
            </a:fld>
            <a:endParaRPr lang="en-US"/>
          </a:p>
        </p:txBody>
      </p:sp>
      <p:pic>
        <p:nvPicPr>
          <p:cNvPr id="3" name="Picture 2" descr="A screen shot of a computer&#10;&#10;Description automatically generated">
            <a:extLst>
              <a:ext uri="{FF2B5EF4-FFF2-40B4-BE49-F238E27FC236}">
                <a16:creationId xmlns:a16="http://schemas.microsoft.com/office/drawing/2014/main" id="{E33043B3-DCFB-FCEB-2127-BD37D881A50F}"/>
              </a:ext>
            </a:extLst>
          </p:cNvPr>
          <p:cNvPicPr>
            <a:picLocks noChangeAspect="1"/>
          </p:cNvPicPr>
          <p:nvPr/>
        </p:nvPicPr>
        <p:blipFill>
          <a:blip r:embed="rId2"/>
          <a:stretch>
            <a:fillRect/>
          </a:stretch>
        </p:blipFill>
        <p:spPr>
          <a:xfrm>
            <a:off x="508000" y="2488395"/>
            <a:ext cx="5842000" cy="3659209"/>
          </a:xfrm>
          <a:prstGeom prst="rect">
            <a:avLst/>
          </a:prstGeom>
        </p:spPr>
      </p:pic>
      <p:sp>
        <p:nvSpPr>
          <p:cNvPr id="11" name="Rectangle 10">
            <a:extLst>
              <a:ext uri="{FF2B5EF4-FFF2-40B4-BE49-F238E27FC236}">
                <a16:creationId xmlns:a16="http://schemas.microsoft.com/office/drawing/2014/main" id="{3C1CF7BF-BB5F-7D68-990B-28CEAA6110A2}"/>
              </a:ext>
            </a:extLst>
          </p:cNvPr>
          <p:cNvSpPr/>
          <p:nvPr/>
        </p:nvSpPr>
        <p:spPr>
          <a:xfrm>
            <a:off x="543506" y="3280631"/>
            <a:ext cx="5807560" cy="67747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mputer screen with white text&#10;&#10;Description automatically generated">
            <a:extLst>
              <a:ext uri="{FF2B5EF4-FFF2-40B4-BE49-F238E27FC236}">
                <a16:creationId xmlns:a16="http://schemas.microsoft.com/office/drawing/2014/main" id="{7E5D2B93-CDE9-AC4E-A1BC-45FBF6EB41BC}"/>
              </a:ext>
            </a:extLst>
          </p:cNvPr>
          <p:cNvPicPr>
            <a:picLocks noChangeAspect="1"/>
          </p:cNvPicPr>
          <p:nvPr/>
        </p:nvPicPr>
        <p:blipFill>
          <a:blip r:embed="rId3"/>
          <a:stretch>
            <a:fillRect/>
          </a:stretch>
        </p:blipFill>
        <p:spPr>
          <a:xfrm>
            <a:off x="6621211" y="2468417"/>
            <a:ext cx="4907035" cy="3676074"/>
          </a:xfrm>
          <a:prstGeom prst="rect">
            <a:avLst/>
          </a:prstGeom>
        </p:spPr>
      </p:pic>
      <p:sp>
        <p:nvSpPr>
          <p:cNvPr id="12" name="Rectangle 11">
            <a:extLst>
              <a:ext uri="{FF2B5EF4-FFF2-40B4-BE49-F238E27FC236}">
                <a16:creationId xmlns:a16="http://schemas.microsoft.com/office/drawing/2014/main" id="{60B32500-E53C-4E59-4AE1-F9D1B4F88A2E}"/>
              </a:ext>
            </a:extLst>
          </p:cNvPr>
          <p:cNvSpPr/>
          <p:nvPr/>
        </p:nvSpPr>
        <p:spPr>
          <a:xfrm>
            <a:off x="6685688" y="3280631"/>
            <a:ext cx="4641468" cy="195901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3845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06563-18CF-EE0F-34AC-A76D4577C1C7}"/>
              </a:ext>
            </a:extLst>
          </p:cNvPr>
          <p:cNvSpPr>
            <a:spLocks noGrp="1"/>
          </p:cNvSpPr>
          <p:nvPr>
            <p:ph type="title"/>
          </p:nvPr>
        </p:nvSpPr>
        <p:spPr>
          <a:xfrm>
            <a:off x="1115568" y="548640"/>
            <a:ext cx="10168128" cy="1179576"/>
          </a:xfrm>
        </p:spPr>
        <p:txBody>
          <a:bodyPr anchor="ctr">
            <a:normAutofit/>
          </a:bodyPr>
          <a:lstStyle/>
          <a:p>
            <a:r>
              <a:rPr lang="en-US"/>
              <a:t>Summary</a:t>
            </a:r>
          </a:p>
        </p:txBody>
      </p:sp>
      <p:sp>
        <p:nvSpPr>
          <p:cNvPr id="9" name="Content Placeholder 8">
            <a:extLst>
              <a:ext uri="{FF2B5EF4-FFF2-40B4-BE49-F238E27FC236}">
                <a16:creationId xmlns:a16="http://schemas.microsoft.com/office/drawing/2014/main" id="{4EF15C6C-7A5D-C627-2928-75067B44D847}"/>
              </a:ext>
            </a:extLst>
          </p:cNvPr>
          <p:cNvSpPr>
            <a:spLocks noGrp="1"/>
          </p:cNvSpPr>
          <p:nvPr>
            <p:ph sz="half" idx="1"/>
          </p:nvPr>
        </p:nvSpPr>
        <p:spPr>
          <a:xfrm>
            <a:off x="1115568" y="2478024"/>
            <a:ext cx="10183650" cy="3878903"/>
          </a:xfrm>
        </p:spPr>
        <p:txBody>
          <a:bodyPr vert="horz" lIns="91440" tIns="45720" rIns="91440" bIns="45720" rtlCol="0" anchor="t">
            <a:normAutofit/>
          </a:bodyPr>
          <a:lstStyle/>
          <a:p>
            <a:pPr marL="0" indent="0">
              <a:lnSpc>
                <a:spcPct val="100000"/>
              </a:lnSpc>
              <a:buNone/>
            </a:pPr>
            <a:r>
              <a:rPr lang="en-US" sz="2200" b="1"/>
              <a:t>Key Achievements</a:t>
            </a:r>
            <a:endParaRPr lang="en-US" b="1"/>
          </a:p>
          <a:p>
            <a:pPr marL="0" indent="0">
              <a:lnSpc>
                <a:spcPct val="100000"/>
              </a:lnSpc>
              <a:buNone/>
            </a:pPr>
            <a:endParaRPr lang="en-US" sz="2200" b="1"/>
          </a:p>
          <a:p>
            <a:pPr marL="342900" indent="-342900">
              <a:lnSpc>
                <a:spcPct val="90000"/>
              </a:lnSpc>
            </a:pPr>
            <a:r>
              <a:rPr lang="en-US" sz="2200"/>
              <a:t>Built and configured a Vault server to securely manage API keys for our cloud platform, handling the creation of over 200 virtual machines.</a:t>
            </a:r>
            <a:endParaRPr lang="en-US"/>
          </a:p>
          <a:p>
            <a:pPr marL="342900" indent="-342900">
              <a:lnSpc>
                <a:spcPct val="90000"/>
              </a:lnSpc>
            </a:pPr>
            <a:r>
              <a:rPr lang="en-US" sz="2200"/>
              <a:t>Centrally managed team credentials for secure and seamless deployments and teardowns.</a:t>
            </a:r>
          </a:p>
          <a:p>
            <a:pPr>
              <a:buFont typeface="Arial"/>
              <a:buChar char="•"/>
            </a:pPr>
            <a:r>
              <a:rPr lang="en-US" sz="2200">
                <a:ea typeface="+mn-lt"/>
                <a:cs typeface="+mn-lt"/>
              </a:rPr>
              <a:t>Team members never saw their passwords but could perform required tasks.</a:t>
            </a:r>
            <a:endParaRPr lang="en-US"/>
          </a:p>
          <a:p>
            <a:pPr marL="0" indent="0">
              <a:buNone/>
            </a:pPr>
            <a:endParaRPr lang="en-US" sz="2200"/>
          </a:p>
          <a:p>
            <a:pPr marL="0" indent="0">
              <a:lnSpc>
                <a:spcPct val="100000"/>
              </a:lnSpc>
              <a:buNone/>
            </a:pPr>
            <a:endParaRPr lang="en-US" sz="2200"/>
          </a:p>
          <a:p>
            <a:pPr marL="0" indent="0">
              <a:lnSpc>
                <a:spcPct val="100000"/>
              </a:lnSpc>
              <a:buNone/>
            </a:pPr>
            <a:endParaRPr lang="en-US" sz="2200"/>
          </a:p>
          <a:p>
            <a:pPr marL="0" indent="0">
              <a:lnSpc>
                <a:spcPct val="100000"/>
              </a:lnSpc>
              <a:buNone/>
            </a:pPr>
            <a:endParaRPr lang="en-US" sz="2200"/>
          </a:p>
          <a:p>
            <a:pPr marL="0" indent="0">
              <a:lnSpc>
                <a:spcPct val="100000"/>
              </a:lnSpc>
              <a:buNone/>
            </a:pPr>
            <a:endParaRPr lang="en-US" sz="2200"/>
          </a:p>
          <a:p>
            <a:pPr marL="0" indent="0">
              <a:lnSpc>
                <a:spcPct val="100000"/>
              </a:lnSpc>
              <a:buNone/>
            </a:pPr>
            <a:endParaRPr lang="en-US" sz="2200"/>
          </a:p>
          <a:p>
            <a:pPr lvl="1">
              <a:lnSpc>
                <a:spcPct val="100000"/>
              </a:lnSpc>
              <a:buFont typeface="Courier New" panose="020B0604020202020204" pitchFamily="34" charset="0"/>
              <a:buChar char="o"/>
            </a:pPr>
            <a:endParaRPr lang="en-US" sz="2200"/>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1115568"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14" name="Footer Placeholder 5">
            <a:extLst>
              <a:ext uri="{FF2B5EF4-FFF2-40B4-BE49-F238E27FC236}">
                <a16:creationId xmlns:a16="http://schemas.microsoft.com/office/drawing/2014/main" id="{0AEB8893-DBF3-2EBA-BAB0-06142239D10A}"/>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15</a:t>
            </a:fld>
            <a:endParaRPr lang="en-US"/>
          </a:p>
        </p:txBody>
      </p:sp>
    </p:spTree>
    <p:extLst>
      <p:ext uri="{BB962C8B-B14F-4D97-AF65-F5344CB8AC3E}">
        <p14:creationId xmlns:p14="http://schemas.microsoft.com/office/powerpoint/2010/main" val="2643450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67E35-E50C-73CD-B424-54B11C3E2B01}"/>
              </a:ext>
            </a:extLst>
          </p:cNvPr>
          <p:cNvSpPr>
            <a:spLocks noGrp="1"/>
          </p:cNvSpPr>
          <p:nvPr>
            <p:ph type="ctrTitle"/>
          </p:nvPr>
        </p:nvSpPr>
        <p:spPr/>
        <p:txBody>
          <a:bodyPr>
            <a:normAutofit fontScale="90000"/>
          </a:bodyPr>
          <a:lstStyle/>
          <a:p>
            <a:r>
              <a:rPr lang="en-US">
                <a:ea typeface="+mj-lt"/>
                <a:cs typeface="+mj-lt"/>
              </a:rPr>
              <a:t>Network Isolation via SDN on the </a:t>
            </a:r>
            <a:r>
              <a:rPr lang="en-US" err="1">
                <a:ea typeface="+mj-lt"/>
                <a:cs typeface="+mj-lt"/>
              </a:rPr>
              <a:t>Proxmox</a:t>
            </a:r>
            <a:r>
              <a:rPr lang="en-US">
                <a:ea typeface="+mj-lt"/>
                <a:cs typeface="+mj-lt"/>
              </a:rPr>
              <a:t> Cloud Platform</a:t>
            </a:r>
            <a:endParaRPr lang="en-US"/>
          </a:p>
        </p:txBody>
      </p:sp>
      <p:sp>
        <p:nvSpPr>
          <p:cNvPr id="3" name="Subtitle 2">
            <a:extLst>
              <a:ext uri="{FF2B5EF4-FFF2-40B4-BE49-F238E27FC236}">
                <a16:creationId xmlns:a16="http://schemas.microsoft.com/office/drawing/2014/main" id="{A4EEB4E5-D686-7FEB-C367-06D73DBDAEA0}"/>
              </a:ext>
            </a:extLst>
          </p:cNvPr>
          <p:cNvSpPr>
            <a:spLocks noGrp="1"/>
          </p:cNvSpPr>
          <p:nvPr>
            <p:ph type="subTitle" idx="1"/>
          </p:nvPr>
        </p:nvSpPr>
        <p:spPr/>
        <p:txBody>
          <a:bodyPr vert="horz" lIns="91440" tIns="45720" rIns="91440" bIns="45720" rtlCol="0" anchor="t">
            <a:normAutofit/>
          </a:bodyPr>
          <a:lstStyle/>
          <a:p>
            <a:r>
              <a:rPr lang="en-US"/>
              <a:t>Aditya Waghmare (ITM)</a:t>
            </a:r>
          </a:p>
        </p:txBody>
      </p:sp>
      <p:sp>
        <p:nvSpPr>
          <p:cNvPr id="4" name="Date Placeholder 3">
            <a:extLst>
              <a:ext uri="{FF2B5EF4-FFF2-40B4-BE49-F238E27FC236}">
                <a16:creationId xmlns:a16="http://schemas.microsoft.com/office/drawing/2014/main" id="{8121F41D-EA52-62C6-8C41-B1258792F9D1}"/>
              </a:ext>
            </a:extLst>
          </p:cNvPr>
          <p:cNvSpPr>
            <a:spLocks noGrp="1"/>
          </p:cNvSpPr>
          <p:nvPr>
            <p:ph type="dt" sz="half" idx="10"/>
          </p:nvPr>
        </p:nvSpPr>
        <p:spPr/>
        <p:txBody>
          <a:bodyPr/>
          <a:lstStyle/>
          <a:p>
            <a:fld id="{747E792F-105E-4174-B21C-4AD0DEEA2597}" type="datetime1">
              <a:t>6/13/2025</a:t>
            </a:fld>
            <a:endParaRPr lang="en-US"/>
          </a:p>
        </p:txBody>
      </p:sp>
      <p:sp>
        <p:nvSpPr>
          <p:cNvPr id="5" name="Footer Placeholder 4">
            <a:extLst>
              <a:ext uri="{FF2B5EF4-FFF2-40B4-BE49-F238E27FC236}">
                <a16:creationId xmlns:a16="http://schemas.microsoft.com/office/drawing/2014/main" id="{C61F564E-227F-398F-8534-0807DFFEEE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51AEB1-3B16-63BA-3719-294162AB5FCE}"/>
              </a:ext>
            </a:extLst>
          </p:cNvPr>
          <p:cNvSpPr>
            <a:spLocks noGrp="1"/>
          </p:cNvSpPr>
          <p:nvPr>
            <p:ph type="sldNum" sz="quarter" idx="12"/>
          </p:nvPr>
        </p:nvSpPr>
        <p:spPr/>
        <p:txBody>
          <a:bodyPr/>
          <a:lstStyle/>
          <a:p>
            <a:fld id="{A65A5C87-DF58-40C8-B092-1DE63DB4547E}" type="slidenum">
              <a:rPr lang="en-US" dirty="0"/>
              <a:t>16</a:t>
            </a:fld>
            <a:endParaRPr lang="en-US"/>
          </a:p>
        </p:txBody>
      </p:sp>
    </p:spTree>
    <p:extLst>
      <p:ext uri="{BB962C8B-B14F-4D97-AF65-F5344CB8AC3E}">
        <p14:creationId xmlns:p14="http://schemas.microsoft.com/office/powerpoint/2010/main" val="2441067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D6EE-3EE1-3E33-8663-EB9FB8725518}"/>
              </a:ext>
            </a:extLst>
          </p:cNvPr>
          <p:cNvSpPr>
            <a:spLocks noGrp="1"/>
          </p:cNvSpPr>
          <p:nvPr>
            <p:ph type="title"/>
          </p:nvPr>
        </p:nvSpPr>
        <p:spPr/>
        <p:txBody>
          <a:bodyPr/>
          <a:lstStyle/>
          <a:p>
            <a:r>
              <a:rPr lang="en-US"/>
              <a:t>The need for Network Isolation</a:t>
            </a:r>
          </a:p>
        </p:txBody>
      </p:sp>
      <p:sp>
        <p:nvSpPr>
          <p:cNvPr id="3" name="Content Placeholder 2">
            <a:extLst>
              <a:ext uri="{FF2B5EF4-FFF2-40B4-BE49-F238E27FC236}">
                <a16:creationId xmlns:a16="http://schemas.microsoft.com/office/drawing/2014/main" id="{7BEAD898-F012-060E-1D31-9E56FC9BBA26}"/>
              </a:ext>
            </a:extLst>
          </p:cNvPr>
          <p:cNvSpPr>
            <a:spLocks noGrp="1"/>
          </p:cNvSpPr>
          <p:nvPr>
            <p:ph idx="1"/>
          </p:nvPr>
        </p:nvSpPr>
        <p:spPr/>
        <p:txBody>
          <a:bodyPr vert="horz" lIns="91440" tIns="45720" rIns="91440" bIns="45720" rtlCol="0" anchor="t">
            <a:normAutofit/>
          </a:bodyPr>
          <a:lstStyle/>
          <a:p>
            <a:r>
              <a:rPr lang="en-US">
                <a:solidFill>
                  <a:srgbClr val="000000"/>
                </a:solidFill>
              </a:rPr>
              <a:t>Real World Analogies...</a:t>
            </a:r>
          </a:p>
          <a:p>
            <a:pPr lvl="1"/>
            <a:r>
              <a:rPr lang="en-US">
                <a:solidFill>
                  <a:srgbClr val="000000"/>
                </a:solidFill>
              </a:rPr>
              <a:t>Think about a gun range and how each person is isolated</a:t>
            </a:r>
          </a:p>
          <a:p>
            <a:pPr lvl="1"/>
            <a:r>
              <a:rPr lang="en-US">
                <a:solidFill>
                  <a:srgbClr val="000000"/>
                </a:solidFill>
              </a:rPr>
              <a:t>Think about a highway and how the lanes are seperated</a:t>
            </a:r>
          </a:p>
          <a:p>
            <a:r>
              <a:rPr lang="en-US">
                <a:solidFill>
                  <a:srgbClr val="000000"/>
                </a:solidFill>
              </a:rPr>
              <a:t>This is the primary concept for a Cyber Range</a:t>
            </a:r>
          </a:p>
          <a:p>
            <a:pPr lvl="1"/>
            <a:r>
              <a:rPr lang="en-US"/>
              <a:t>On a local system you really can't isolate VMs</a:t>
            </a:r>
            <a:endParaRPr lang="en-US">
              <a:effectLst/>
            </a:endParaRPr>
          </a:p>
          <a:p>
            <a:pPr lvl="1"/>
            <a:r>
              <a:rPr lang="en-US"/>
              <a:t>With a cloud paltform you can</a:t>
            </a:r>
          </a:p>
          <a:p>
            <a:pPr lvl="1"/>
            <a:r>
              <a:rPr lang="en-US"/>
              <a:t>Traffic between labs must remain isolated </a:t>
            </a:r>
          </a:p>
          <a:p>
            <a:pPr lvl="1"/>
            <a:endParaRPr lang="en-US"/>
          </a:p>
        </p:txBody>
      </p:sp>
      <p:sp>
        <p:nvSpPr>
          <p:cNvPr id="4" name="Date Placeholder 3">
            <a:extLst>
              <a:ext uri="{FF2B5EF4-FFF2-40B4-BE49-F238E27FC236}">
                <a16:creationId xmlns:a16="http://schemas.microsoft.com/office/drawing/2014/main" id="{51936F1B-D1A2-373C-9CC0-7DD1287FD838}"/>
              </a:ext>
            </a:extLst>
          </p:cNvPr>
          <p:cNvSpPr>
            <a:spLocks noGrp="1"/>
          </p:cNvSpPr>
          <p:nvPr>
            <p:ph type="dt" sz="half" idx="10"/>
          </p:nvPr>
        </p:nvSpPr>
        <p:spPr/>
        <p:txBody>
          <a:bodyPr/>
          <a:lstStyle/>
          <a:p>
            <a:fld id="{852DB947-551B-4C13-B7F9-DC90A5064CAE}" type="datetime1">
              <a:rPr lang="en-US"/>
              <a:t>6/13/2025</a:t>
            </a:fld>
            <a:endParaRPr lang="en-US"/>
          </a:p>
        </p:txBody>
      </p:sp>
      <p:sp>
        <p:nvSpPr>
          <p:cNvPr id="5" name="Footer Placeholder 4">
            <a:extLst>
              <a:ext uri="{FF2B5EF4-FFF2-40B4-BE49-F238E27FC236}">
                <a16:creationId xmlns:a16="http://schemas.microsoft.com/office/drawing/2014/main" id="{83C3FB0B-EE4C-8B0D-A8E8-AC091DD06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6024B-156E-549F-4039-A694F94F3C1B}"/>
              </a:ext>
            </a:extLst>
          </p:cNvPr>
          <p:cNvSpPr>
            <a:spLocks noGrp="1"/>
          </p:cNvSpPr>
          <p:nvPr>
            <p:ph type="sldNum" sz="quarter" idx="12"/>
          </p:nvPr>
        </p:nvSpPr>
        <p:spPr/>
        <p:txBody>
          <a:bodyPr/>
          <a:lstStyle/>
          <a:p>
            <a:fld id="{A65A5C87-DF58-40C8-B092-1DE63DB4547E}" type="slidenum">
              <a:rPr lang="en-US" dirty="0"/>
              <a:t>17</a:t>
            </a:fld>
            <a:endParaRPr lang="en-US"/>
          </a:p>
        </p:txBody>
      </p:sp>
    </p:spTree>
    <p:extLst>
      <p:ext uri="{BB962C8B-B14F-4D97-AF65-F5344CB8AC3E}">
        <p14:creationId xmlns:p14="http://schemas.microsoft.com/office/powerpoint/2010/main" val="2970419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471F6-1AC6-323D-F88E-2014D0113512}"/>
              </a:ext>
            </a:extLst>
          </p:cNvPr>
          <p:cNvSpPr>
            <a:spLocks noGrp="1"/>
          </p:cNvSpPr>
          <p:nvPr>
            <p:ph type="title"/>
          </p:nvPr>
        </p:nvSpPr>
        <p:spPr/>
        <p:txBody>
          <a:bodyPr>
            <a:normAutofit/>
          </a:bodyPr>
          <a:lstStyle/>
          <a:p>
            <a:r>
              <a:rPr lang="en-US"/>
              <a:t>Achieve Network Isolation via SDN</a:t>
            </a:r>
          </a:p>
        </p:txBody>
      </p:sp>
      <p:sp>
        <p:nvSpPr>
          <p:cNvPr id="3" name="Content Placeholder 2">
            <a:extLst>
              <a:ext uri="{FF2B5EF4-FFF2-40B4-BE49-F238E27FC236}">
                <a16:creationId xmlns:a16="http://schemas.microsoft.com/office/drawing/2014/main" id="{1E208D28-6376-FCC5-01FC-DBDFA5FDEBB2}"/>
              </a:ext>
            </a:extLst>
          </p:cNvPr>
          <p:cNvSpPr>
            <a:spLocks noGrp="1"/>
          </p:cNvSpPr>
          <p:nvPr>
            <p:ph idx="1"/>
          </p:nvPr>
        </p:nvSpPr>
        <p:spPr/>
        <p:txBody>
          <a:bodyPr vert="horz" lIns="91440" tIns="45720" rIns="91440" bIns="45720" rtlCol="0" anchor="t">
            <a:normAutofit/>
          </a:bodyPr>
          <a:lstStyle/>
          <a:p>
            <a:r>
              <a:rPr lang="en-US"/>
              <a:t>SDN is a </a:t>
            </a:r>
            <a:r>
              <a:rPr lang="en-US">
                <a:solidFill>
                  <a:srgbClr val="001D35"/>
                </a:solidFill>
              </a:rPr>
              <a:t>network</a:t>
            </a:r>
            <a:r>
              <a:rPr lang="en-US" b="0" i="0" u="none" strike="noStrike">
                <a:solidFill>
                  <a:srgbClr val="001D35"/>
                </a:solidFill>
                <a:effectLst/>
              </a:rPr>
              <a:t> architecture that uses software to manage and control a </a:t>
            </a:r>
            <a:r>
              <a:rPr lang="en-US">
                <a:solidFill>
                  <a:srgbClr val="001D35"/>
                </a:solidFill>
              </a:rPr>
              <a:t>network</a:t>
            </a:r>
            <a:endParaRPr lang="en-US">
              <a:solidFill>
                <a:srgbClr val="000000"/>
              </a:solidFill>
            </a:endParaRPr>
          </a:p>
          <a:p>
            <a:r>
              <a:rPr lang="en-US">
                <a:solidFill>
                  <a:srgbClr val="000000"/>
                </a:solidFill>
              </a:rPr>
              <a:t>SDN transforms</a:t>
            </a:r>
            <a:r>
              <a:rPr lang="en-US" b="0" i="0" u="none" strike="noStrike">
                <a:solidFill>
                  <a:srgbClr val="000000"/>
                </a:solidFill>
                <a:effectLst/>
              </a:rPr>
              <a:t> traditional hardware-based networking into </a:t>
            </a:r>
            <a:r>
              <a:rPr lang="en-US" b="1" i="0" u="none" strike="noStrike">
                <a:solidFill>
                  <a:srgbClr val="000000"/>
                </a:solidFill>
                <a:effectLst/>
              </a:rPr>
              <a:t> software-defined infrastructure</a:t>
            </a:r>
            <a:endParaRPr lang="en-US"/>
          </a:p>
          <a:p>
            <a:pPr lvl="1">
              <a:buFont typeface="Courier New" panose="02070309020205020404" pitchFamily="49" charset="0"/>
              <a:buChar char="o"/>
            </a:pPr>
            <a:endParaRPr lang="en-US"/>
          </a:p>
        </p:txBody>
      </p:sp>
      <p:sp>
        <p:nvSpPr>
          <p:cNvPr id="4" name="Date Placeholder 3">
            <a:extLst>
              <a:ext uri="{FF2B5EF4-FFF2-40B4-BE49-F238E27FC236}">
                <a16:creationId xmlns:a16="http://schemas.microsoft.com/office/drawing/2014/main" id="{83C4B567-0515-2C75-0A62-2A5045F1C0ED}"/>
              </a:ext>
            </a:extLst>
          </p:cNvPr>
          <p:cNvSpPr>
            <a:spLocks noGrp="1"/>
          </p:cNvSpPr>
          <p:nvPr>
            <p:ph type="dt" sz="half" idx="10"/>
          </p:nvPr>
        </p:nvSpPr>
        <p:spPr/>
        <p:txBody>
          <a:bodyPr/>
          <a:lstStyle/>
          <a:p>
            <a:fld id="{5BD6E512-6C0A-8C46-B236-4738BB85B788}" type="datetime1">
              <a:rPr lang="en-US" smtClean="0"/>
              <a:t>6/13/2025</a:t>
            </a:fld>
            <a:endParaRPr lang="en-US"/>
          </a:p>
        </p:txBody>
      </p:sp>
      <p:sp>
        <p:nvSpPr>
          <p:cNvPr id="5" name="Footer Placeholder 4">
            <a:extLst>
              <a:ext uri="{FF2B5EF4-FFF2-40B4-BE49-F238E27FC236}">
                <a16:creationId xmlns:a16="http://schemas.microsoft.com/office/drawing/2014/main" id="{5EA09FC6-2604-834F-6D52-A3B6EB8310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6854B8-5E91-8F7E-1E1F-0D7E553F79F1}"/>
              </a:ext>
            </a:extLst>
          </p:cNvPr>
          <p:cNvSpPr>
            <a:spLocks noGrp="1"/>
          </p:cNvSpPr>
          <p:nvPr>
            <p:ph type="sldNum" sz="quarter" idx="12"/>
          </p:nvPr>
        </p:nvSpPr>
        <p:spPr/>
        <p:txBody>
          <a:bodyPr/>
          <a:lstStyle/>
          <a:p>
            <a:fld id="{A65A5C87-DF58-40C8-B092-1DE63DB4547E}" type="slidenum">
              <a:rPr lang="en-US" smtClean="0"/>
              <a:t>18</a:t>
            </a:fld>
            <a:endParaRPr lang="en-US"/>
          </a:p>
        </p:txBody>
      </p:sp>
    </p:spTree>
    <p:extLst>
      <p:ext uri="{BB962C8B-B14F-4D97-AF65-F5344CB8AC3E}">
        <p14:creationId xmlns:p14="http://schemas.microsoft.com/office/powerpoint/2010/main" val="2890939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EAC8B-DC67-172B-66A1-5B4251138DE8}"/>
              </a:ext>
            </a:extLst>
          </p:cNvPr>
          <p:cNvSpPr>
            <a:spLocks noGrp="1"/>
          </p:cNvSpPr>
          <p:nvPr>
            <p:ph type="title"/>
          </p:nvPr>
        </p:nvSpPr>
        <p:spPr/>
        <p:txBody>
          <a:bodyPr/>
          <a:lstStyle/>
          <a:p>
            <a:r>
              <a:rPr lang="en-US"/>
              <a:t>Hardware vs Software Isolation</a:t>
            </a:r>
          </a:p>
        </p:txBody>
      </p:sp>
      <p:sp>
        <p:nvSpPr>
          <p:cNvPr id="4" name="Date Placeholder 3">
            <a:extLst>
              <a:ext uri="{FF2B5EF4-FFF2-40B4-BE49-F238E27FC236}">
                <a16:creationId xmlns:a16="http://schemas.microsoft.com/office/drawing/2014/main" id="{BF303B4B-2FD0-B7F5-A39F-2FFF1A2693FF}"/>
              </a:ext>
            </a:extLst>
          </p:cNvPr>
          <p:cNvSpPr>
            <a:spLocks noGrp="1"/>
          </p:cNvSpPr>
          <p:nvPr>
            <p:ph type="dt" sz="half" idx="10"/>
          </p:nvPr>
        </p:nvSpPr>
        <p:spPr/>
        <p:txBody>
          <a:bodyPr/>
          <a:lstStyle/>
          <a:p>
            <a:fld id="{E913FF15-DCD7-FF42-9148-76BCE76FC65D}" type="datetime1">
              <a:rPr lang="en-US" smtClean="0"/>
              <a:t>6/13/2025</a:t>
            </a:fld>
            <a:endParaRPr lang="en-US"/>
          </a:p>
        </p:txBody>
      </p:sp>
      <p:sp>
        <p:nvSpPr>
          <p:cNvPr id="5" name="Footer Placeholder 4">
            <a:extLst>
              <a:ext uri="{FF2B5EF4-FFF2-40B4-BE49-F238E27FC236}">
                <a16:creationId xmlns:a16="http://schemas.microsoft.com/office/drawing/2014/main" id="{334485D4-1D79-6CFE-BC9F-5F86B6BEAB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6FB27-B751-F877-8AFD-84FF95204491}"/>
              </a:ext>
            </a:extLst>
          </p:cNvPr>
          <p:cNvSpPr>
            <a:spLocks noGrp="1"/>
          </p:cNvSpPr>
          <p:nvPr>
            <p:ph type="sldNum" sz="quarter" idx="12"/>
          </p:nvPr>
        </p:nvSpPr>
        <p:spPr/>
        <p:txBody>
          <a:bodyPr/>
          <a:lstStyle/>
          <a:p>
            <a:fld id="{A65A5C87-DF58-40C8-B092-1DE63DB4547E}" type="slidenum">
              <a:rPr lang="en-US" smtClean="0"/>
              <a:t>19</a:t>
            </a:fld>
            <a:endParaRPr lang="en-US"/>
          </a:p>
        </p:txBody>
      </p:sp>
      <p:graphicFrame>
        <p:nvGraphicFramePr>
          <p:cNvPr id="10" name="Content Placeholder 9">
            <a:extLst>
              <a:ext uri="{FF2B5EF4-FFF2-40B4-BE49-F238E27FC236}">
                <a16:creationId xmlns:a16="http://schemas.microsoft.com/office/drawing/2014/main" id="{ECC92C07-CCFE-9BD0-940A-49FDCF5EFC44}"/>
              </a:ext>
            </a:extLst>
          </p:cNvPr>
          <p:cNvGraphicFramePr>
            <a:graphicFrameLocks noGrp="1"/>
          </p:cNvGraphicFramePr>
          <p:nvPr>
            <p:ph idx="1"/>
            <p:extLst>
              <p:ext uri="{D42A27DB-BD31-4B8C-83A1-F6EECF244321}">
                <p14:modId xmlns:p14="http://schemas.microsoft.com/office/powerpoint/2010/main" val="7930524"/>
              </p:ext>
            </p:extLst>
          </p:nvPr>
        </p:nvGraphicFramePr>
        <p:xfrm>
          <a:off x="1116013" y="2478088"/>
          <a:ext cx="10167936" cy="2123440"/>
        </p:xfrm>
        <a:graphic>
          <a:graphicData uri="http://schemas.openxmlformats.org/drawingml/2006/table">
            <a:tbl>
              <a:tblPr firstRow="1" bandRow="1">
                <a:tableStyleId>{5C22544A-7EE6-4342-B048-85BDC9FD1C3A}</a:tableStyleId>
              </a:tblPr>
              <a:tblGrid>
                <a:gridCol w="3389312">
                  <a:extLst>
                    <a:ext uri="{9D8B030D-6E8A-4147-A177-3AD203B41FA5}">
                      <a16:colId xmlns:a16="http://schemas.microsoft.com/office/drawing/2014/main" val="4041165066"/>
                    </a:ext>
                  </a:extLst>
                </a:gridCol>
                <a:gridCol w="3389312">
                  <a:extLst>
                    <a:ext uri="{9D8B030D-6E8A-4147-A177-3AD203B41FA5}">
                      <a16:colId xmlns:a16="http://schemas.microsoft.com/office/drawing/2014/main" val="2733854554"/>
                    </a:ext>
                  </a:extLst>
                </a:gridCol>
                <a:gridCol w="3389312">
                  <a:extLst>
                    <a:ext uri="{9D8B030D-6E8A-4147-A177-3AD203B41FA5}">
                      <a16:colId xmlns:a16="http://schemas.microsoft.com/office/drawing/2014/main" val="317484818"/>
                    </a:ext>
                  </a:extLst>
                </a:gridCol>
              </a:tblGrid>
              <a:tr h="370840">
                <a:tc>
                  <a:txBody>
                    <a:bodyPr/>
                    <a:lstStyle/>
                    <a:p>
                      <a:r>
                        <a:rPr lang="en-US"/>
                        <a:t>Features</a:t>
                      </a:r>
                    </a:p>
                  </a:txBody>
                  <a:tcPr/>
                </a:tc>
                <a:tc>
                  <a:txBody>
                    <a:bodyPr/>
                    <a:lstStyle/>
                    <a:p>
                      <a:r>
                        <a:rPr lang="en-US"/>
                        <a:t>Hardware Isolation</a:t>
                      </a:r>
                    </a:p>
                  </a:txBody>
                  <a:tcPr/>
                </a:tc>
                <a:tc>
                  <a:txBody>
                    <a:bodyPr/>
                    <a:lstStyle/>
                    <a:p>
                      <a:r>
                        <a:rPr lang="en-US"/>
                        <a:t>SDN (Software Isolation)</a:t>
                      </a:r>
                    </a:p>
                  </a:txBody>
                  <a:tcPr/>
                </a:tc>
                <a:extLst>
                  <a:ext uri="{0D108BD9-81ED-4DB2-BD59-A6C34878D82A}">
                    <a16:rowId xmlns:a16="http://schemas.microsoft.com/office/drawing/2014/main" val="3516953717"/>
                  </a:ext>
                </a:extLst>
              </a:tr>
              <a:tr h="370840">
                <a:tc>
                  <a:txBody>
                    <a:bodyPr/>
                    <a:lstStyle/>
                    <a:p>
                      <a:r>
                        <a:rPr lang="en-US"/>
                        <a:t>Scalability</a:t>
                      </a:r>
                    </a:p>
                  </a:txBody>
                  <a:tcPr/>
                </a:tc>
                <a:tc>
                  <a:txBody>
                    <a:bodyPr/>
                    <a:lstStyle/>
                    <a:p>
                      <a:r>
                        <a:rPr lang="en-US"/>
                        <a:t>Low</a:t>
                      </a:r>
                    </a:p>
                  </a:txBody>
                  <a:tcPr/>
                </a:tc>
                <a:tc>
                  <a:txBody>
                    <a:bodyPr/>
                    <a:lstStyle/>
                    <a:p>
                      <a:r>
                        <a:rPr lang="en-US"/>
                        <a:t>High</a:t>
                      </a:r>
                    </a:p>
                  </a:txBody>
                  <a:tcPr/>
                </a:tc>
                <a:extLst>
                  <a:ext uri="{0D108BD9-81ED-4DB2-BD59-A6C34878D82A}">
                    <a16:rowId xmlns:a16="http://schemas.microsoft.com/office/drawing/2014/main" val="94683152"/>
                  </a:ext>
                </a:extLst>
              </a:tr>
              <a:tr h="370840">
                <a:tc>
                  <a:txBody>
                    <a:bodyPr/>
                    <a:lstStyle/>
                    <a:p>
                      <a:r>
                        <a:rPr lang="en-US"/>
                        <a:t>Flexibility</a:t>
                      </a:r>
                    </a:p>
                  </a:txBody>
                  <a:tcPr/>
                </a:tc>
                <a:tc>
                  <a:txBody>
                    <a:bodyPr/>
                    <a:lstStyle/>
                    <a:p>
                      <a:r>
                        <a:rPr lang="en-US"/>
                        <a:t>Low (requires physical changes)</a:t>
                      </a:r>
                    </a:p>
                  </a:txBody>
                  <a:tcPr/>
                </a:tc>
                <a:tc>
                  <a:txBody>
                    <a:bodyPr/>
                    <a:lstStyle/>
                    <a:p>
                      <a:r>
                        <a:rPr lang="en-US"/>
                        <a:t>High (programable adjustments)</a:t>
                      </a:r>
                    </a:p>
                  </a:txBody>
                  <a:tcPr/>
                </a:tc>
                <a:extLst>
                  <a:ext uri="{0D108BD9-81ED-4DB2-BD59-A6C34878D82A}">
                    <a16:rowId xmlns:a16="http://schemas.microsoft.com/office/drawing/2014/main" val="2809684630"/>
                  </a:ext>
                </a:extLst>
              </a:tr>
              <a:tr h="370840">
                <a:tc>
                  <a:txBody>
                    <a:bodyPr/>
                    <a:lstStyle/>
                    <a:p>
                      <a:r>
                        <a:rPr lang="en-US"/>
                        <a:t>Cost</a:t>
                      </a:r>
                    </a:p>
                  </a:txBody>
                  <a:tcPr/>
                </a:tc>
                <a:tc>
                  <a:txBody>
                    <a:bodyPr/>
                    <a:lstStyle/>
                    <a:p>
                      <a:r>
                        <a:rPr lang="en-US"/>
                        <a:t>Expensive hardware required</a:t>
                      </a:r>
                    </a:p>
                  </a:txBody>
                  <a:tcPr/>
                </a:tc>
                <a:tc>
                  <a:txBody>
                    <a:bodyPr/>
                    <a:lstStyle/>
                    <a:p>
                      <a:r>
                        <a:rPr lang="en-US"/>
                        <a:t>Cost effective virtualization</a:t>
                      </a:r>
                    </a:p>
                  </a:txBody>
                  <a:tcPr/>
                </a:tc>
                <a:extLst>
                  <a:ext uri="{0D108BD9-81ED-4DB2-BD59-A6C34878D82A}">
                    <a16:rowId xmlns:a16="http://schemas.microsoft.com/office/drawing/2014/main" val="4035604388"/>
                  </a:ext>
                </a:extLst>
              </a:tr>
              <a:tr h="370840">
                <a:tc>
                  <a:txBody>
                    <a:bodyPr/>
                    <a:lstStyle/>
                    <a:p>
                      <a:r>
                        <a:rPr lang="en-US"/>
                        <a:t>Management</a:t>
                      </a:r>
                    </a:p>
                  </a:txBody>
                  <a:tcPr/>
                </a:tc>
                <a:tc>
                  <a:txBody>
                    <a:bodyPr/>
                    <a:lstStyle/>
                    <a:p>
                      <a:r>
                        <a:rPr lang="en-US"/>
                        <a:t>Decentralized and complex</a:t>
                      </a:r>
                    </a:p>
                  </a:txBody>
                  <a:tcPr/>
                </a:tc>
                <a:tc>
                  <a:txBody>
                    <a:bodyPr/>
                    <a:lstStyle/>
                    <a:p>
                      <a:r>
                        <a:rPr lang="en-US"/>
                        <a:t>Centralized and simplified</a:t>
                      </a:r>
                    </a:p>
                  </a:txBody>
                  <a:tcPr/>
                </a:tc>
                <a:extLst>
                  <a:ext uri="{0D108BD9-81ED-4DB2-BD59-A6C34878D82A}">
                    <a16:rowId xmlns:a16="http://schemas.microsoft.com/office/drawing/2014/main" val="1683999472"/>
                  </a:ext>
                </a:extLst>
              </a:tr>
            </a:tbl>
          </a:graphicData>
        </a:graphic>
      </p:graphicFrame>
    </p:spTree>
    <p:extLst>
      <p:ext uri="{BB962C8B-B14F-4D97-AF65-F5344CB8AC3E}">
        <p14:creationId xmlns:p14="http://schemas.microsoft.com/office/powerpoint/2010/main" val="3183248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712F8-6E77-EE66-0E9D-ECB1E5CDABA8}"/>
              </a:ext>
            </a:extLst>
          </p:cNvPr>
          <p:cNvSpPr>
            <a:spLocks noGrp="1"/>
          </p:cNvSpPr>
          <p:nvPr>
            <p:ph type="title"/>
          </p:nvPr>
        </p:nvSpPr>
        <p:spPr/>
        <p:txBody>
          <a:bodyPr>
            <a:normAutofit/>
          </a:bodyPr>
          <a:lstStyle/>
          <a:p>
            <a:r>
              <a:rPr lang="en-US">
                <a:solidFill>
                  <a:srgbClr val="000000"/>
                </a:solidFill>
              </a:rPr>
              <a:t>Network Isolation via SDN</a:t>
            </a:r>
            <a:r>
              <a:rPr lang="en-US" b="0" i="0" u="none" strike="noStrike">
                <a:solidFill>
                  <a:srgbClr val="000000"/>
                </a:solidFill>
                <a:effectLst/>
              </a:rPr>
              <a:t> in </a:t>
            </a:r>
            <a:r>
              <a:rPr lang="en-US" b="0" i="0" u="none" strike="noStrike" err="1">
                <a:solidFill>
                  <a:srgbClr val="000000"/>
                </a:solidFill>
                <a:effectLst/>
              </a:rPr>
              <a:t>Proxmox</a:t>
            </a:r>
            <a:r>
              <a:rPr lang="en-US">
                <a:solidFill>
                  <a:srgbClr val="000000"/>
                </a:solidFill>
              </a:rPr>
              <a:t> </a:t>
            </a:r>
            <a:endParaRPr lang="en-US"/>
          </a:p>
        </p:txBody>
      </p:sp>
      <p:sp>
        <p:nvSpPr>
          <p:cNvPr id="3" name="Content Placeholder 2">
            <a:extLst>
              <a:ext uri="{FF2B5EF4-FFF2-40B4-BE49-F238E27FC236}">
                <a16:creationId xmlns:a16="http://schemas.microsoft.com/office/drawing/2014/main" id="{50C84E63-E5E3-A083-F944-7FA67A47DE0B}"/>
              </a:ext>
            </a:extLst>
          </p:cNvPr>
          <p:cNvSpPr>
            <a:spLocks noGrp="1"/>
          </p:cNvSpPr>
          <p:nvPr>
            <p:ph idx="1"/>
          </p:nvPr>
        </p:nvSpPr>
        <p:spPr/>
        <p:txBody>
          <a:bodyPr vert="horz" lIns="91440" tIns="45720" rIns="91440" bIns="45720" rtlCol="0" anchor="t">
            <a:normAutofit/>
          </a:bodyPr>
          <a:lstStyle/>
          <a:p>
            <a:r>
              <a:rPr lang="en-US" b="1" i="0" u="none" strike="noStrike">
                <a:solidFill>
                  <a:srgbClr val="000000"/>
                </a:solidFill>
                <a:effectLst/>
              </a:rPr>
              <a:t>SDN in</a:t>
            </a:r>
            <a:r>
              <a:rPr lang="en-US" b="1">
                <a:solidFill>
                  <a:srgbClr val="000000"/>
                </a:solidFill>
              </a:rPr>
              <a:t> </a:t>
            </a:r>
            <a:r>
              <a:rPr lang="en-US" b="1" err="1">
                <a:solidFill>
                  <a:srgbClr val="000000"/>
                </a:solidFill>
              </a:rPr>
              <a:t>Proxmox</a:t>
            </a:r>
            <a:endParaRPr lang="en-US" b="1" i="0" u="none" strike="noStrike" err="1">
              <a:solidFill>
                <a:srgbClr val="000000"/>
              </a:solidFill>
              <a:effectLst/>
            </a:endParaRPr>
          </a:p>
          <a:p>
            <a:pPr lvl="1"/>
            <a:r>
              <a:rPr lang="en-US" b="1" i="0" u="none" strike="noStrike">
                <a:solidFill>
                  <a:srgbClr val="000000"/>
                </a:solidFill>
                <a:effectLst/>
              </a:rPr>
              <a:t>Zones</a:t>
            </a:r>
            <a:r>
              <a:rPr lang="en-US" b="0" i="0" u="none" strike="noStrike">
                <a:solidFill>
                  <a:srgbClr val="000000"/>
                </a:solidFill>
                <a:effectLst/>
              </a:rPr>
              <a:t>: Logical groupings of networks (e.g., VLAN, VXLAN) for workload isolation.</a:t>
            </a:r>
          </a:p>
          <a:p>
            <a:pPr lvl="1"/>
            <a:r>
              <a:rPr lang="en-US" b="1" i="0" u="none" strike="noStrike">
                <a:solidFill>
                  <a:srgbClr val="000000"/>
                </a:solidFill>
                <a:effectLst/>
              </a:rPr>
              <a:t>Subnets</a:t>
            </a:r>
            <a:r>
              <a:rPr lang="en-US" b="0" i="0" u="none" strike="noStrike">
                <a:solidFill>
                  <a:srgbClr val="000000"/>
                </a:solidFill>
                <a:effectLst/>
              </a:rPr>
              <a:t>: Define IP ranges and gateways for each zone.</a:t>
            </a:r>
          </a:p>
          <a:p>
            <a:pPr lvl="1"/>
            <a:r>
              <a:rPr lang="en-US" b="1" i="0" u="none" strike="noStrike">
                <a:solidFill>
                  <a:srgbClr val="000000"/>
                </a:solidFill>
                <a:effectLst/>
              </a:rPr>
              <a:t>Firewall Integration</a:t>
            </a:r>
            <a:r>
              <a:rPr lang="en-US" b="0" i="0" u="none" strike="noStrike">
                <a:solidFill>
                  <a:srgbClr val="000000"/>
                </a:solidFill>
                <a:effectLst/>
              </a:rPr>
              <a:t>: Control inter-zone communication and external access.</a:t>
            </a:r>
          </a:p>
        </p:txBody>
      </p:sp>
      <p:sp>
        <p:nvSpPr>
          <p:cNvPr id="4" name="Date Placeholder 3">
            <a:extLst>
              <a:ext uri="{FF2B5EF4-FFF2-40B4-BE49-F238E27FC236}">
                <a16:creationId xmlns:a16="http://schemas.microsoft.com/office/drawing/2014/main" id="{20485C07-85D4-E33F-D603-43CEEE9BA409}"/>
              </a:ext>
            </a:extLst>
          </p:cNvPr>
          <p:cNvSpPr>
            <a:spLocks noGrp="1"/>
          </p:cNvSpPr>
          <p:nvPr>
            <p:ph type="dt" sz="half" idx="10"/>
          </p:nvPr>
        </p:nvSpPr>
        <p:spPr/>
        <p:txBody>
          <a:bodyPr/>
          <a:lstStyle/>
          <a:p>
            <a:fld id="{039EC24C-906D-6C46-922A-982513AF4CB8}" type="datetime1">
              <a:rPr lang="en-US" smtClean="0"/>
              <a:t>6/13/2025</a:t>
            </a:fld>
            <a:endParaRPr lang="en-US"/>
          </a:p>
        </p:txBody>
      </p:sp>
      <p:sp>
        <p:nvSpPr>
          <p:cNvPr id="5" name="Footer Placeholder 4">
            <a:extLst>
              <a:ext uri="{FF2B5EF4-FFF2-40B4-BE49-F238E27FC236}">
                <a16:creationId xmlns:a16="http://schemas.microsoft.com/office/drawing/2014/main" id="{1C64CCE9-0957-647C-F95A-6FB18CAA02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DC47F0-A2CF-FF46-30BC-B8A8E053ED28}"/>
              </a:ext>
            </a:extLst>
          </p:cNvPr>
          <p:cNvSpPr>
            <a:spLocks noGrp="1"/>
          </p:cNvSpPr>
          <p:nvPr>
            <p:ph type="sldNum" sz="quarter" idx="12"/>
          </p:nvPr>
        </p:nvSpPr>
        <p:spPr/>
        <p:txBody>
          <a:bodyPr/>
          <a:lstStyle/>
          <a:p>
            <a:fld id="{A65A5C87-DF58-40C8-B092-1DE63DB4547E}" type="slidenum">
              <a:rPr lang="en-US" smtClean="0"/>
              <a:t>20</a:t>
            </a:fld>
            <a:endParaRPr lang="en-US"/>
          </a:p>
        </p:txBody>
      </p:sp>
    </p:spTree>
    <p:extLst>
      <p:ext uri="{BB962C8B-B14F-4D97-AF65-F5344CB8AC3E}">
        <p14:creationId xmlns:p14="http://schemas.microsoft.com/office/powerpoint/2010/main" val="1693620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F0179-C0E1-CC28-ABA8-B79B6BA92936}"/>
              </a:ext>
            </a:extLst>
          </p:cNvPr>
          <p:cNvSpPr>
            <a:spLocks noGrp="1"/>
          </p:cNvSpPr>
          <p:nvPr>
            <p:ph type="title"/>
          </p:nvPr>
        </p:nvSpPr>
        <p:spPr/>
        <p:txBody>
          <a:bodyPr/>
          <a:lstStyle/>
          <a:p>
            <a:r>
              <a:rPr lang="en-US" b="0" i="0" u="none" strike="noStrike">
                <a:solidFill>
                  <a:srgbClr val="000000"/>
                </a:solidFill>
                <a:effectLst/>
              </a:rPr>
              <a:t>What it takes to get zones working</a:t>
            </a:r>
            <a:endParaRPr lang="en-US"/>
          </a:p>
        </p:txBody>
      </p:sp>
      <p:sp>
        <p:nvSpPr>
          <p:cNvPr id="3" name="Content Placeholder 2">
            <a:extLst>
              <a:ext uri="{FF2B5EF4-FFF2-40B4-BE49-F238E27FC236}">
                <a16:creationId xmlns:a16="http://schemas.microsoft.com/office/drawing/2014/main" id="{9141D119-8CF4-977B-19DF-C059C3A15E55}"/>
              </a:ext>
            </a:extLst>
          </p:cNvPr>
          <p:cNvSpPr>
            <a:spLocks noGrp="1"/>
          </p:cNvSpPr>
          <p:nvPr>
            <p:ph idx="1"/>
          </p:nvPr>
        </p:nvSpPr>
        <p:spPr/>
        <p:txBody>
          <a:bodyPr>
            <a:normAutofit/>
          </a:bodyPr>
          <a:lstStyle/>
          <a:p>
            <a:r>
              <a:rPr lang="en-US" i="0" u="none" strike="noStrike">
                <a:solidFill>
                  <a:srgbClr val="000000"/>
                </a:solidFill>
                <a:effectLst/>
              </a:rPr>
              <a:t>Installation of Required Packages</a:t>
            </a:r>
          </a:p>
          <a:p>
            <a:pPr lvl="1"/>
            <a:r>
              <a:rPr lang="en-US" err="1"/>
              <a:t>libpve</a:t>
            </a:r>
            <a:r>
              <a:rPr lang="en-US"/>
              <a:t>-network-</a:t>
            </a:r>
            <a:r>
              <a:rPr lang="en-US" err="1"/>
              <a:t>perl</a:t>
            </a:r>
            <a:endParaRPr lang="en-US"/>
          </a:p>
          <a:p>
            <a:pPr lvl="1"/>
            <a:r>
              <a:rPr lang="en-US"/>
              <a:t>/</a:t>
            </a:r>
            <a:r>
              <a:rPr lang="en-US" err="1"/>
              <a:t>etc</a:t>
            </a:r>
            <a:r>
              <a:rPr lang="en-US"/>
              <a:t>/network/interfaces</a:t>
            </a:r>
          </a:p>
          <a:p>
            <a:pPr lvl="2"/>
            <a:r>
              <a:rPr lang="en-US"/>
              <a:t>Add line at the end source /</a:t>
            </a:r>
            <a:r>
              <a:rPr lang="en-US" err="1"/>
              <a:t>etc</a:t>
            </a:r>
            <a:r>
              <a:rPr lang="en-US"/>
              <a:t>/network/</a:t>
            </a:r>
            <a:r>
              <a:rPr lang="en-US" err="1"/>
              <a:t>interfaces.d</a:t>
            </a:r>
            <a:r>
              <a:rPr lang="en-US"/>
              <a:t>/*</a:t>
            </a:r>
            <a:endParaRPr lang="en-US" i="0" u="none" strike="noStrike">
              <a:solidFill>
                <a:srgbClr val="000000"/>
              </a:solidFill>
              <a:effectLst/>
            </a:endParaRPr>
          </a:p>
          <a:p>
            <a:pPr lvl="1"/>
            <a:r>
              <a:rPr lang="en-US" err="1"/>
              <a:t>dnsmaq</a:t>
            </a:r>
            <a:endParaRPr lang="en-US"/>
          </a:p>
          <a:p>
            <a:pPr lvl="1"/>
            <a:r>
              <a:rPr lang="en-US" err="1"/>
              <a:t>frr-pythontools</a:t>
            </a:r>
            <a:endParaRPr lang="en-US" i="0" u="none" strike="noStrike">
              <a:solidFill>
                <a:srgbClr val="000000"/>
              </a:solidFill>
              <a:effectLst/>
            </a:endParaRPr>
          </a:p>
          <a:p>
            <a:r>
              <a:rPr lang="en-US" b="0" i="0" u="none" strike="noStrike">
                <a:solidFill>
                  <a:srgbClr val="000000"/>
                </a:solidFill>
                <a:effectLst/>
              </a:rPr>
              <a:t>Configure the network by defining zones and subnets</a:t>
            </a:r>
            <a:endParaRPr lang="en-US" i="0" u="none" strike="noStrike">
              <a:solidFill>
                <a:srgbClr val="000000"/>
              </a:solidFill>
              <a:effectLst/>
            </a:endParaRPr>
          </a:p>
        </p:txBody>
      </p:sp>
      <p:sp>
        <p:nvSpPr>
          <p:cNvPr id="4" name="Date Placeholder 3">
            <a:extLst>
              <a:ext uri="{FF2B5EF4-FFF2-40B4-BE49-F238E27FC236}">
                <a16:creationId xmlns:a16="http://schemas.microsoft.com/office/drawing/2014/main" id="{E632FB97-34C3-60DB-0F77-D3D004052F70}"/>
              </a:ext>
            </a:extLst>
          </p:cNvPr>
          <p:cNvSpPr>
            <a:spLocks noGrp="1"/>
          </p:cNvSpPr>
          <p:nvPr>
            <p:ph type="dt" sz="half" idx="10"/>
          </p:nvPr>
        </p:nvSpPr>
        <p:spPr/>
        <p:txBody>
          <a:bodyPr/>
          <a:lstStyle/>
          <a:p>
            <a:fld id="{6A3FFFB7-713E-044B-9EB8-2E8A205B78A0}" type="datetime1">
              <a:rPr lang="en-US" smtClean="0"/>
              <a:t>6/13/2025</a:t>
            </a:fld>
            <a:endParaRPr lang="en-US"/>
          </a:p>
        </p:txBody>
      </p:sp>
      <p:sp>
        <p:nvSpPr>
          <p:cNvPr id="5" name="Footer Placeholder 4">
            <a:extLst>
              <a:ext uri="{FF2B5EF4-FFF2-40B4-BE49-F238E27FC236}">
                <a16:creationId xmlns:a16="http://schemas.microsoft.com/office/drawing/2014/main" id="{08DB8CE2-13F8-F1A2-BFD4-1CCD712DA0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EB3964-5038-8980-30A6-5F87EC4FCC2D}"/>
              </a:ext>
            </a:extLst>
          </p:cNvPr>
          <p:cNvSpPr>
            <a:spLocks noGrp="1"/>
          </p:cNvSpPr>
          <p:nvPr>
            <p:ph type="sldNum" sz="quarter" idx="12"/>
          </p:nvPr>
        </p:nvSpPr>
        <p:spPr/>
        <p:txBody>
          <a:bodyPr/>
          <a:lstStyle/>
          <a:p>
            <a:fld id="{A65A5C87-DF58-40C8-B092-1DE63DB4547E}" type="slidenum">
              <a:rPr lang="en-US" smtClean="0"/>
              <a:t>21</a:t>
            </a:fld>
            <a:endParaRPr lang="en-US"/>
          </a:p>
        </p:txBody>
      </p:sp>
    </p:spTree>
    <p:extLst>
      <p:ext uri="{BB962C8B-B14F-4D97-AF65-F5344CB8AC3E}">
        <p14:creationId xmlns:p14="http://schemas.microsoft.com/office/powerpoint/2010/main" val="2558151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0E14E-84B2-A05D-B853-C03D96FB76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618333-B693-04B8-63F9-CA1468421713}"/>
              </a:ext>
            </a:extLst>
          </p:cNvPr>
          <p:cNvSpPr>
            <a:spLocks noGrp="1"/>
          </p:cNvSpPr>
          <p:nvPr>
            <p:ph type="title"/>
          </p:nvPr>
        </p:nvSpPr>
        <p:spPr/>
        <p:txBody>
          <a:bodyPr/>
          <a:lstStyle/>
          <a:p>
            <a:r>
              <a:rPr lang="en-US" b="0" i="0" u="none" strike="noStrike">
                <a:solidFill>
                  <a:srgbClr val="000000"/>
                </a:solidFill>
                <a:effectLst/>
              </a:rPr>
              <a:t>SDN in Proxmox and Network Isolation</a:t>
            </a:r>
            <a:endParaRPr lang="en-US"/>
          </a:p>
        </p:txBody>
      </p:sp>
      <p:sp>
        <p:nvSpPr>
          <p:cNvPr id="3" name="Content Placeholder 2">
            <a:extLst>
              <a:ext uri="{FF2B5EF4-FFF2-40B4-BE49-F238E27FC236}">
                <a16:creationId xmlns:a16="http://schemas.microsoft.com/office/drawing/2014/main" id="{58BD4C13-E818-FFD8-0EDF-7D2427F87BC2}"/>
              </a:ext>
            </a:extLst>
          </p:cNvPr>
          <p:cNvSpPr>
            <a:spLocks noGrp="1"/>
          </p:cNvSpPr>
          <p:nvPr>
            <p:ph idx="1"/>
          </p:nvPr>
        </p:nvSpPr>
        <p:spPr/>
        <p:txBody>
          <a:bodyPr vert="horz" lIns="91440" tIns="45720" rIns="91440" bIns="45720" rtlCol="0" anchor="t">
            <a:normAutofit/>
          </a:bodyPr>
          <a:lstStyle/>
          <a:p>
            <a:pPr algn="l"/>
            <a:r>
              <a:rPr lang="en-US" i="0" u="none" strike="noStrike">
                <a:solidFill>
                  <a:srgbClr val="000000"/>
                </a:solidFill>
                <a:effectLst/>
              </a:rPr>
              <a:t>Example Topology:</a:t>
            </a:r>
          </a:p>
          <a:p>
            <a:pPr lvl="1"/>
            <a:r>
              <a:rPr lang="en-US" b="1" i="0" u="none" strike="noStrike">
                <a:solidFill>
                  <a:srgbClr val="000000"/>
                </a:solidFill>
                <a:effectLst/>
              </a:rPr>
              <a:t>Zone 1</a:t>
            </a:r>
            <a:r>
              <a:rPr lang="en-US" b="0" i="0" u="none" strike="noStrike">
                <a:solidFill>
                  <a:srgbClr val="000000"/>
                </a:solidFill>
                <a:effectLst/>
              </a:rPr>
              <a:t>: Hosts A, B.</a:t>
            </a:r>
          </a:p>
          <a:p>
            <a:pPr lvl="1"/>
            <a:r>
              <a:rPr lang="en-US" b="1" i="0" u="none" strike="noStrike">
                <a:solidFill>
                  <a:srgbClr val="000000"/>
                </a:solidFill>
                <a:effectLst/>
              </a:rPr>
              <a:t>Zone 2</a:t>
            </a:r>
            <a:r>
              <a:rPr lang="en-US" b="0" i="0" u="none" strike="noStrike">
                <a:solidFill>
                  <a:srgbClr val="000000"/>
                </a:solidFill>
                <a:effectLst/>
              </a:rPr>
              <a:t>: Hosts C, D.</a:t>
            </a:r>
          </a:p>
          <a:p>
            <a:pPr marL="0" indent="0" algn="l">
              <a:buNone/>
            </a:pPr>
            <a:endParaRPr lang="en-US" i="0" u="none" strike="noStrike">
              <a:solidFill>
                <a:srgbClr val="000000"/>
              </a:solidFill>
              <a:effectLst/>
            </a:endParaRPr>
          </a:p>
          <a:p>
            <a:r>
              <a:rPr lang="en-US">
                <a:effectLst/>
              </a:rPr>
              <a:t>Having multiple zones that can't talk to each other ensures network isolation</a:t>
            </a:r>
          </a:p>
          <a:p>
            <a:pPr algn="l"/>
            <a:endParaRPr lang="en-US" b="1" i="0" u="none" strike="noStrike">
              <a:solidFill>
                <a:srgbClr val="000000"/>
              </a:solidFill>
              <a:effectLst/>
            </a:endParaRPr>
          </a:p>
        </p:txBody>
      </p:sp>
      <p:sp>
        <p:nvSpPr>
          <p:cNvPr id="4" name="Date Placeholder 3">
            <a:extLst>
              <a:ext uri="{FF2B5EF4-FFF2-40B4-BE49-F238E27FC236}">
                <a16:creationId xmlns:a16="http://schemas.microsoft.com/office/drawing/2014/main" id="{554CB35A-0F1B-BAC8-EEDF-D5B2050B33B6}"/>
              </a:ext>
            </a:extLst>
          </p:cNvPr>
          <p:cNvSpPr>
            <a:spLocks noGrp="1"/>
          </p:cNvSpPr>
          <p:nvPr>
            <p:ph type="dt" sz="half" idx="10"/>
          </p:nvPr>
        </p:nvSpPr>
        <p:spPr/>
        <p:txBody>
          <a:bodyPr/>
          <a:lstStyle/>
          <a:p>
            <a:fld id="{039EC24C-906D-6C46-922A-982513AF4CB8}" type="datetime1">
              <a:rPr lang="en-US" smtClean="0"/>
              <a:t>6/13/2025</a:t>
            </a:fld>
            <a:endParaRPr lang="en-US"/>
          </a:p>
        </p:txBody>
      </p:sp>
      <p:sp>
        <p:nvSpPr>
          <p:cNvPr id="5" name="Footer Placeholder 4">
            <a:extLst>
              <a:ext uri="{FF2B5EF4-FFF2-40B4-BE49-F238E27FC236}">
                <a16:creationId xmlns:a16="http://schemas.microsoft.com/office/drawing/2014/main" id="{DCCF474A-923D-7D77-552B-F632BEBEDE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D000A-B506-29E4-96A9-C4FDA94E5EC8}"/>
              </a:ext>
            </a:extLst>
          </p:cNvPr>
          <p:cNvSpPr>
            <a:spLocks noGrp="1"/>
          </p:cNvSpPr>
          <p:nvPr>
            <p:ph type="sldNum" sz="quarter" idx="12"/>
          </p:nvPr>
        </p:nvSpPr>
        <p:spPr/>
        <p:txBody>
          <a:bodyPr/>
          <a:lstStyle/>
          <a:p>
            <a:fld id="{A65A5C87-DF58-40C8-B092-1DE63DB4547E}" type="slidenum">
              <a:rPr lang="en-US" smtClean="0"/>
              <a:t>22</a:t>
            </a:fld>
            <a:endParaRPr lang="en-US"/>
          </a:p>
        </p:txBody>
      </p:sp>
    </p:spTree>
    <p:extLst>
      <p:ext uri="{BB962C8B-B14F-4D97-AF65-F5344CB8AC3E}">
        <p14:creationId xmlns:p14="http://schemas.microsoft.com/office/powerpoint/2010/main" val="1129616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280C9-EC25-5649-5428-5858B0A13A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F7593F-C360-0762-4087-AFAE0DD2492F}"/>
              </a:ext>
            </a:extLst>
          </p:cNvPr>
          <p:cNvSpPr>
            <a:spLocks noGrp="1"/>
          </p:cNvSpPr>
          <p:nvPr>
            <p:ph type="title"/>
          </p:nvPr>
        </p:nvSpPr>
        <p:spPr>
          <a:xfrm>
            <a:off x="868680" y="1709928"/>
            <a:ext cx="3099816" cy="1709928"/>
          </a:xfrm>
        </p:spPr>
        <p:txBody>
          <a:bodyPr anchor="t">
            <a:normAutofit/>
          </a:bodyPr>
          <a:lstStyle/>
          <a:p>
            <a:r>
              <a:rPr lang="en-US" sz="3100" b="0" i="0" u="none" strike="noStrike">
                <a:effectLst/>
              </a:rPr>
              <a:t>SDN in Proxmox and Network Isolation</a:t>
            </a:r>
            <a:endParaRPr lang="en-US" sz="3100"/>
          </a:p>
        </p:txBody>
      </p:sp>
      <p:pic>
        <p:nvPicPr>
          <p:cNvPr id="9" name="Picture Placeholder 8" descr="A diagram of a diagram&#10;&#10;Description automatically generated">
            <a:extLst>
              <a:ext uri="{FF2B5EF4-FFF2-40B4-BE49-F238E27FC236}">
                <a16:creationId xmlns:a16="http://schemas.microsoft.com/office/drawing/2014/main" id="{B8EB3BA5-BA3C-8A13-9944-DC1C5583AC3B}"/>
              </a:ext>
            </a:extLst>
          </p:cNvPr>
          <p:cNvPicPr>
            <a:picLocks noGrp="1" noChangeAspect="1"/>
          </p:cNvPicPr>
          <p:nvPr>
            <p:ph idx="1"/>
          </p:nvPr>
        </p:nvPicPr>
        <p:blipFill>
          <a:blip r:embed="rId2"/>
          <a:srcRect t="5078" b="5078"/>
          <a:stretch/>
        </p:blipFill>
        <p:spPr>
          <a:xfrm>
            <a:off x="3970718" y="495895"/>
            <a:ext cx="8189407" cy="4987664"/>
          </a:xfrm>
          <a:noFill/>
        </p:spPr>
      </p:pic>
      <p:sp>
        <p:nvSpPr>
          <p:cNvPr id="27" name="Text Placeholder 3">
            <a:extLst>
              <a:ext uri="{FF2B5EF4-FFF2-40B4-BE49-F238E27FC236}">
                <a16:creationId xmlns:a16="http://schemas.microsoft.com/office/drawing/2014/main" id="{DD9752DF-F676-9BC3-9E41-7FAED65D28DF}"/>
              </a:ext>
            </a:extLst>
          </p:cNvPr>
          <p:cNvSpPr>
            <a:spLocks noGrp="1"/>
          </p:cNvSpPr>
          <p:nvPr>
            <p:ph type="body" sz="half" idx="2"/>
          </p:nvPr>
        </p:nvSpPr>
        <p:spPr>
          <a:xfrm>
            <a:off x="868680" y="3429000"/>
            <a:ext cx="3099816" cy="2066544"/>
          </a:xfrm>
        </p:spPr>
        <p:txBody>
          <a:bodyPr/>
          <a:lstStyle/>
          <a:p>
            <a:endParaRPr lang="en-US"/>
          </a:p>
        </p:txBody>
      </p:sp>
      <p:sp>
        <p:nvSpPr>
          <p:cNvPr id="4" name="Date Placeholder 3">
            <a:extLst>
              <a:ext uri="{FF2B5EF4-FFF2-40B4-BE49-F238E27FC236}">
                <a16:creationId xmlns:a16="http://schemas.microsoft.com/office/drawing/2014/main" id="{430AF4BF-7992-7720-106E-C2A793EC774C}"/>
              </a:ext>
            </a:extLst>
          </p:cNvPr>
          <p:cNvSpPr>
            <a:spLocks noGrp="1"/>
          </p:cNvSpPr>
          <p:nvPr>
            <p:ph type="dt" sz="half" idx="10"/>
          </p:nvPr>
        </p:nvSpPr>
        <p:spPr>
          <a:xfrm>
            <a:off x="868680" y="6356350"/>
            <a:ext cx="2743200" cy="365125"/>
          </a:xfrm>
        </p:spPr>
        <p:txBody>
          <a:bodyPr anchor="ctr">
            <a:normAutofit/>
          </a:bodyPr>
          <a:lstStyle/>
          <a:p>
            <a:pPr>
              <a:spcAft>
                <a:spcPts val="600"/>
              </a:spcAft>
            </a:pPr>
            <a:fld id="{039EC24C-906D-6C46-922A-982513AF4CB8}" type="datetime1">
              <a:rPr lang="en-US" smtClean="0"/>
              <a:pPr>
                <a:spcAft>
                  <a:spcPts val="600"/>
                </a:spcAft>
              </a:pPr>
              <a:t>6/13/2025</a:t>
            </a:fld>
            <a:endParaRPr lang="en-US"/>
          </a:p>
        </p:txBody>
      </p:sp>
      <p:sp>
        <p:nvSpPr>
          <p:cNvPr id="26" name="Footer Placeholder 5">
            <a:extLst>
              <a:ext uri="{FF2B5EF4-FFF2-40B4-BE49-F238E27FC236}">
                <a16:creationId xmlns:a16="http://schemas.microsoft.com/office/drawing/2014/main" id="{DB711836-DF43-8C7B-0B44-915E2F2D20A7}"/>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CA08BBF7-1D9F-FC0C-E633-ACD5422082D2}"/>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65A5C87-DF58-40C8-B092-1DE63DB4547E}" type="slidenum">
              <a:rPr lang="en-US" smtClean="0"/>
              <a:pPr>
                <a:spcAft>
                  <a:spcPts val="600"/>
                </a:spcAft>
              </a:pPr>
              <a:t>23</a:t>
            </a:fld>
            <a:endParaRPr lang="en-US"/>
          </a:p>
        </p:txBody>
      </p:sp>
    </p:spTree>
    <p:extLst>
      <p:ext uri="{BB962C8B-B14F-4D97-AF65-F5344CB8AC3E}">
        <p14:creationId xmlns:p14="http://schemas.microsoft.com/office/powerpoint/2010/main" val="2209033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F6343-C341-DCF1-2B3C-0A9F66D6239C}"/>
              </a:ext>
            </a:extLst>
          </p:cNvPr>
          <p:cNvSpPr>
            <a:spLocks noGrp="1"/>
          </p:cNvSpPr>
          <p:nvPr>
            <p:ph type="ctrTitle"/>
          </p:nvPr>
        </p:nvSpPr>
        <p:spPr/>
        <p:txBody>
          <a:bodyPr/>
          <a:lstStyle/>
          <a:p>
            <a:r>
              <a:rPr lang="en-US">
                <a:ea typeface="+mj-lt"/>
                <a:cs typeface="+mj-lt"/>
              </a:rPr>
              <a:t>Cyber Range  </a:t>
            </a:r>
            <a:endParaRPr lang="en-US"/>
          </a:p>
        </p:txBody>
      </p:sp>
      <p:sp>
        <p:nvSpPr>
          <p:cNvPr id="3" name="Subtitle 2">
            <a:extLst>
              <a:ext uri="{FF2B5EF4-FFF2-40B4-BE49-F238E27FC236}">
                <a16:creationId xmlns:a16="http://schemas.microsoft.com/office/drawing/2014/main" id="{018B1D8E-EE23-4D73-DE32-35755C8F3131}"/>
              </a:ext>
            </a:extLst>
          </p:cNvPr>
          <p:cNvSpPr>
            <a:spLocks noGrp="1"/>
          </p:cNvSpPr>
          <p:nvPr>
            <p:ph type="subTitle" idx="1"/>
          </p:nvPr>
        </p:nvSpPr>
        <p:spPr/>
        <p:txBody>
          <a:bodyPr vert="horz" lIns="91440" tIns="45720" rIns="91440" bIns="45720" rtlCol="0" anchor="t">
            <a:normAutofit/>
          </a:bodyPr>
          <a:lstStyle/>
          <a:p>
            <a:r>
              <a:rPr lang="en-US"/>
              <a:t>Ivan Zziwa and Jacob Holtz (ITM)</a:t>
            </a:r>
          </a:p>
        </p:txBody>
      </p:sp>
      <p:sp>
        <p:nvSpPr>
          <p:cNvPr id="4" name="Date Placeholder 3">
            <a:extLst>
              <a:ext uri="{FF2B5EF4-FFF2-40B4-BE49-F238E27FC236}">
                <a16:creationId xmlns:a16="http://schemas.microsoft.com/office/drawing/2014/main" id="{85539E0B-B79B-F219-4CDE-58636AE7A75F}"/>
              </a:ext>
            </a:extLst>
          </p:cNvPr>
          <p:cNvSpPr>
            <a:spLocks noGrp="1"/>
          </p:cNvSpPr>
          <p:nvPr>
            <p:ph type="dt" sz="half" idx="10"/>
          </p:nvPr>
        </p:nvSpPr>
        <p:spPr/>
        <p:txBody>
          <a:bodyPr/>
          <a:lstStyle/>
          <a:p>
            <a:fld id="{DE410FAE-104F-4517-A97B-B8C345A2EF71}" type="datetime1">
              <a:t>6/13/2025</a:t>
            </a:fld>
            <a:endParaRPr lang="en-US"/>
          </a:p>
        </p:txBody>
      </p:sp>
      <p:sp>
        <p:nvSpPr>
          <p:cNvPr id="5" name="Footer Placeholder 4">
            <a:extLst>
              <a:ext uri="{FF2B5EF4-FFF2-40B4-BE49-F238E27FC236}">
                <a16:creationId xmlns:a16="http://schemas.microsoft.com/office/drawing/2014/main" id="{0AEB56FA-B1FD-ADF1-1864-C9130C62AF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8691F7-F5CE-C84E-D221-965DC5E80521}"/>
              </a:ext>
            </a:extLst>
          </p:cNvPr>
          <p:cNvSpPr>
            <a:spLocks noGrp="1"/>
          </p:cNvSpPr>
          <p:nvPr>
            <p:ph type="sldNum" sz="quarter" idx="12"/>
          </p:nvPr>
        </p:nvSpPr>
        <p:spPr/>
        <p:txBody>
          <a:bodyPr/>
          <a:lstStyle/>
          <a:p>
            <a:fld id="{A65A5C87-DF58-40C8-B092-1DE63DB4547E}" type="slidenum">
              <a:rPr lang="en-US" dirty="0"/>
              <a:t>24</a:t>
            </a:fld>
            <a:endParaRPr lang="en-US"/>
          </a:p>
        </p:txBody>
      </p:sp>
    </p:spTree>
    <p:extLst>
      <p:ext uri="{BB962C8B-B14F-4D97-AF65-F5344CB8AC3E}">
        <p14:creationId xmlns:p14="http://schemas.microsoft.com/office/powerpoint/2010/main" val="3504141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272BE-31D2-17DC-07B3-9DC427AE463B}"/>
              </a:ext>
            </a:extLst>
          </p:cNvPr>
          <p:cNvSpPr>
            <a:spLocks noGrp="1"/>
          </p:cNvSpPr>
          <p:nvPr>
            <p:ph type="title"/>
          </p:nvPr>
        </p:nvSpPr>
        <p:spPr>
          <a:xfrm>
            <a:off x="1115568" y="548640"/>
            <a:ext cx="10168128" cy="1179576"/>
          </a:xfrm>
        </p:spPr>
        <p:txBody>
          <a:bodyPr anchor="ctr">
            <a:normAutofit/>
          </a:bodyPr>
          <a:lstStyle/>
          <a:p>
            <a:r>
              <a:rPr lang="en-US"/>
              <a:t>Problem Statement</a:t>
            </a:r>
          </a:p>
        </p:txBody>
      </p:sp>
      <p:sp>
        <p:nvSpPr>
          <p:cNvPr id="4" name="Date Placeholder 3">
            <a:extLst>
              <a:ext uri="{FF2B5EF4-FFF2-40B4-BE49-F238E27FC236}">
                <a16:creationId xmlns:a16="http://schemas.microsoft.com/office/drawing/2014/main" id="{B62AB257-A497-D88F-EBB7-B433B758BF4B}"/>
              </a:ext>
            </a:extLst>
          </p:cNvPr>
          <p:cNvSpPr>
            <a:spLocks noGrp="1"/>
          </p:cNvSpPr>
          <p:nvPr>
            <p:ph type="dt" sz="half" idx="10"/>
          </p:nvPr>
        </p:nvSpPr>
        <p:spPr>
          <a:xfrm>
            <a:off x="1115568" y="6356350"/>
            <a:ext cx="2743200" cy="365125"/>
          </a:xfrm>
        </p:spPr>
        <p:txBody>
          <a:bodyPr anchor="ctr">
            <a:normAutofit/>
          </a:bodyPr>
          <a:lstStyle/>
          <a:p>
            <a:pPr>
              <a:spcAft>
                <a:spcPts val="600"/>
              </a:spcAft>
            </a:pPr>
            <a:fld id="{D00B44B0-4702-4267-AF85-2DB675145B2C}" type="datetime1">
              <a:rPr lang="en-US"/>
              <a:pPr>
                <a:spcAft>
                  <a:spcPts val="600"/>
                </a:spcAft>
              </a:pPr>
              <a:t>6/13/2025</a:t>
            </a:fld>
            <a:endParaRPr lang="en-US"/>
          </a:p>
        </p:txBody>
      </p:sp>
      <p:sp>
        <p:nvSpPr>
          <p:cNvPr id="24" name="Footer Placeholder 4">
            <a:extLst>
              <a:ext uri="{FF2B5EF4-FFF2-40B4-BE49-F238E27FC236}">
                <a16:creationId xmlns:a16="http://schemas.microsoft.com/office/drawing/2014/main" id="{FB0660BF-EB14-948A-BC2B-0EF71E6B635B}"/>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4E56BDFA-5C44-69A0-8885-F2448B5E2558}"/>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25</a:t>
            </a:fld>
            <a:endParaRPr lang="en-US"/>
          </a:p>
        </p:txBody>
      </p:sp>
      <p:graphicFrame>
        <p:nvGraphicFramePr>
          <p:cNvPr id="19" name="Content Placeholder 2">
            <a:extLst>
              <a:ext uri="{FF2B5EF4-FFF2-40B4-BE49-F238E27FC236}">
                <a16:creationId xmlns:a16="http://schemas.microsoft.com/office/drawing/2014/main" id="{4311E83A-0A6D-3545-EFA5-4DF4E62CC245}"/>
              </a:ext>
            </a:extLst>
          </p:cNvPr>
          <p:cNvGraphicFramePr>
            <a:graphicFrameLocks noGrp="1"/>
          </p:cNvGraphicFramePr>
          <p:nvPr>
            <p:ph idx="1"/>
            <p:extLst>
              <p:ext uri="{D42A27DB-BD31-4B8C-83A1-F6EECF244321}">
                <p14:modId xmlns:p14="http://schemas.microsoft.com/office/powerpoint/2010/main" val="277355642"/>
              </p:ext>
            </p:extLst>
          </p:nvPr>
        </p:nvGraphicFramePr>
        <p:xfrm>
          <a:off x="1115568" y="2478024"/>
          <a:ext cx="10168128"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72585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272BE-31D2-17DC-07B3-9DC427AE463B}"/>
              </a:ext>
            </a:extLst>
          </p:cNvPr>
          <p:cNvSpPr>
            <a:spLocks noGrp="1"/>
          </p:cNvSpPr>
          <p:nvPr>
            <p:ph type="title"/>
          </p:nvPr>
        </p:nvSpPr>
        <p:spPr>
          <a:xfrm>
            <a:off x="1115568" y="548640"/>
            <a:ext cx="10168128" cy="1179576"/>
          </a:xfrm>
        </p:spPr>
        <p:txBody>
          <a:bodyPr anchor="ctr">
            <a:normAutofit/>
          </a:bodyPr>
          <a:lstStyle/>
          <a:p>
            <a:r>
              <a:rPr lang="en-US"/>
              <a:t>Problem Statement Cont'd</a:t>
            </a:r>
          </a:p>
        </p:txBody>
      </p:sp>
      <p:sp>
        <p:nvSpPr>
          <p:cNvPr id="4" name="Date Placeholder 3">
            <a:extLst>
              <a:ext uri="{FF2B5EF4-FFF2-40B4-BE49-F238E27FC236}">
                <a16:creationId xmlns:a16="http://schemas.microsoft.com/office/drawing/2014/main" id="{B62AB257-A497-D88F-EBB7-B433B758BF4B}"/>
              </a:ext>
            </a:extLst>
          </p:cNvPr>
          <p:cNvSpPr>
            <a:spLocks noGrp="1"/>
          </p:cNvSpPr>
          <p:nvPr>
            <p:ph type="dt" sz="half" idx="10"/>
          </p:nvPr>
        </p:nvSpPr>
        <p:spPr>
          <a:xfrm>
            <a:off x="1115568" y="6356350"/>
            <a:ext cx="2743200" cy="365125"/>
          </a:xfrm>
        </p:spPr>
        <p:txBody>
          <a:bodyPr anchor="ctr">
            <a:normAutofit/>
          </a:bodyPr>
          <a:lstStyle/>
          <a:p>
            <a:pPr>
              <a:spcAft>
                <a:spcPts val="600"/>
              </a:spcAft>
            </a:pPr>
            <a:fld id="{D00B44B0-4702-4267-AF85-2DB675145B2C}" type="datetime1">
              <a:rPr lang="en-US"/>
              <a:pPr>
                <a:spcAft>
                  <a:spcPts val="600"/>
                </a:spcAft>
              </a:pPr>
              <a:t>6/13/2025</a:t>
            </a:fld>
            <a:endParaRPr lang="en-US"/>
          </a:p>
        </p:txBody>
      </p:sp>
      <p:sp>
        <p:nvSpPr>
          <p:cNvPr id="24" name="Footer Placeholder 4">
            <a:extLst>
              <a:ext uri="{FF2B5EF4-FFF2-40B4-BE49-F238E27FC236}">
                <a16:creationId xmlns:a16="http://schemas.microsoft.com/office/drawing/2014/main" id="{453ACCEF-7FD7-0B0E-ADED-D6CC75B4FB9D}"/>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4E56BDFA-5C44-69A0-8885-F2448B5E2558}"/>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26</a:t>
            </a:fld>
            <a:endParaRPr lang="en-US"/>
          </a:p>
        </p:txBody>
      </p:sp>
      <p:graphicFrame>
        <p:nvGraphicFramePr>
          <p:cNvPr id="19" name="Content Placeholder 2">
            <a:extLst>
              <a:ext uri="{FF2B5EF4-FFF2-40B4-BE49-F238E27FC236}">
                <a16:creationId xmlns:a16="http://schemas.microsoft.com/office/drawing/2014/main" id="{4311E83A-0A6D-3545-EFA5-4DF4E62CC245}"/>
              </a:ext>
            </a:extLst>
          </p:cNvPr>
          <p:cNvGraphicFramePr>
            <a:graphicFrameLocks noGrp="1"/>
          </p:cNvGraphicFramePr>
          <p:nvPr>
            <p:ph idx="1"/>
            <p:extLst>
              <p:ext uri="{D42A27DB-BD31-4B8C-83A1-F6EECF244321}">
                <p14:modId xmlns:p14="http://schemas.microsoft.com/office/powerpoint/2010/main" val="1081665499"/>
              </p:ext>
            </p:extLst>
          </p:nvPr>
        </p:nvGraphicFramePr>
        <p:xfrm>
          <a:off x="1115568" y="2478024"/>
          <a:ext cx="10168128"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43307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272BE-31D2-17DC-07B3-9DC427AE463B}"/>
              </a:ext>
            </a:extLst>
          </p:cNvPr>
          <p:cNvSpPr>
            <a:spLocks noGrp="1"/>
          </p:cNvSpPr>
          <p:nvPr>
            <p:ph type="title"/>
          </p:nvPr>
        </p:nvSpPr>
        <p:spPr>
          <a:xfrm>
            <a:off x="1115568" y="548640"/>
            <a:ext cx="10168128" cy="1179576"/>
          </a:xfrm>
        </p:spPr>
        <p:txBody>
          <a:bodyPr anchor="ctr">
            <a:normAutofit/>
          </a:bodyPr>
          <a:lstStyle/>
          <a:p>
            <a:r>
              <a:rPr lang="en-US"/>
              <a:t>Problem Statement Cont'd</a:t>
            </a:r>
          </a:p>
        </p:txBody>
      </p:sp>
      <p:sp>
        <p:nvSpPr>
          <p:cNvPr id="4" name="Date Placeholder 3">
            <a:extLst>
              <a:ext uri="{FF2B5EF4-FFF2-40B4-BE49-F238E27FC236}">
                <a16:creationId xmlns:a16="http://schemas.microsoft.com/office/drawing/2014/main" id="{B62AB257-A497-D88F-EBB7-B433B758BF4B}"/>
              </a:ext>
            </a:extLst>
          </p:cNvPr>
          <p:cNvSpPr>
            <a:spLocks noGrp="1"/>
          </p:cNvSpPr>
          <p:nvPr>
            <p:ph type="dt" sz="half" idx="10"/>
          </p:nvPr>
        </p:nvSpPr>
        <p:spPr>
          <a:xfrm>
            <a:off x="1115568" y="6356350"/>
            <a:ext cx="2743200" cy="365125"/>
          </a:xfrm>
        </p:spPr>
        <p:txBody>
          <a:bodyPr anchor="ctr">
            <a:normAutofit/>
          </a:bodyPr>
          <a:lstStyle/>
          <a:p>
            <a:pPr>
              <a:spcAft>
                <a:spcPts val="600"/>
              </a:spcAft>
            </a:pPr>
            <a:fld id="{D00B44B0-4702-4267-AF85-2DB675145B2C}" type="datetime1">
              <a:rPr lang="en-US"/>
              <a:pPr>
                <a:spcAft>
                  <a:spcPts val="600"/>
                </a:spcAft>
              </a:pPr>
              <a:t>6/13/2025</a:t>
            </a:fld>
            <a:endParaRPr lang="en-US"/>
          </a:p>
        </p:txBody>
      </p:sp>
      <p:sp>
        <p:nvSpPr>
          <p:cNvPr id="24" name="Footer Placeholder 4">
            <a:extLst>
              <a:ext uri="{FF2B5EF4-FFF2-40B4-BE49-F238E27FC236}">
                <a16:creationId xmlns:a16="http://schemas.microsoft.com/office/drawing/2014/main" id="{EF4B1C79-11B1-9E6A-1F13-FA322ECA372C}"/>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4E56BDFA-5C44-69A0-8885-F2448B5E2558}"/>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27</a:t>
            </a:fld>
            <a:endParaRPr lang="en-US"/>
          </a:p>
        </p:txBody>
      </p:sp>
      <p:graphicFrame>
        <p:nvGraphicFramePr>
          <p:cNvPr id="8" name="Content Placeholder 2">
            <a:extLst>
              <a:ext uri="{FF2B5EF4-FFF2-40B4-BE49-F238E27FC236}">
                <a16:creationId xmlns:a16="http://schemas.microsoft.com/office/drawing/2014/main" id="{EC2EB638-5CFA-289C-88B5-8DAA9B6A7070}"/>
              </a:ext>
            </a:extLst>
          </p:cNvPr>
          <p:cNvGraphicFramePr>
            <a:graphicFrameLocks noGrp="1"/>
          </p:cNvGraphicFramePr>
          <p:nvPr>
            <p:ph idx="1"/>
            <p:extLst>
              <p:ext uri="{D42A27DB-BD31-4B8C-83A1-F6EECF244321}">
                <p14:modId xmlns:p14="http://schemas.microsoft.com/office/powerpoint/2010/main" val="1313213197"/>
              </p:ext>
            </p:extLst>
          </p:nvPr>
        </p:nvGraphicFramePr>
        <p:xfrm>
          <a:off x="1115568" y="2478024"/>
          <a:ext cx="10168128"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39844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C4C1B4C-1253-8FCC-FFE1-C2E0420ADC0E}"/>
              </a:ext>
            </a:extLst>
          </p:cNvPr>
          <p:cNvSpPr>
            <a:spLocks noGrp="1"/>
          </p:cNvSpPr>
          <p:nvPr>
            <p:ph type="title"/>
          </p:nvPr>
        </p:nvSpPr>
        <p:spPr>
          <a:xfrm>
            <a:off x="1115568" y="548640"/>
            <a:ext cx="10168128" cy="1179576"/>
          </a:xfrm>
        </p:spPr>
        <p:txBody>
          <a:bodyPr anchor="ctr">
            <a:normAutofit/>
          </a:bodyPr>
          <a:lstStyle/>
          <a:p>
            <a:r>
              <a:rPr lang="en-US"/>
              <a:t>Tools Used</a:t>
            </a:r>
          </a:p>
        </p:txBody>
      </p:sp>
      <p:pic>
        <p:nvPicPr>
          <p:cNvPr id="2" name="Picture 1" descr="Amazon ECR Public Gallery - HashiCorp ...">
            <a:extLst>
              <a:ext uri="{FF2B5EF4-FFF2-40B4-BE49-F238E27FC236}">
                <a16:creationId xmlns:a16="http://schemas.microsoft.com/office/drawing/2014/main" id="{B1617A9D-DAA4-5E45-7DBA-2A863F6FEE5B}"/>
              </a:ext>
            </a:extLst>
          </p:cNvPr>
          <p:cNvPicPr>
            <a:picLocks noChangeAspect="1"/>
          </p:cNvPicPr>
          <p:nvPr/>
        </p:nvPicPr>
        <p:blipFill>
          <a:blip r:embed="rId2"/>
          <a:stretch>
            <a:fillRect/>
          </a:stretch>
        </p:blipFill>
        <p:spPr>
          <a:xfrm>
            <a:off x="2276959" y="2478024"/>
            <a:ext cx="2614978" cy="3694176"/>
          </a:xfrm>
          <a:prstGeom prst="rect">
            <a:avLst/>
          </a:prstGeom>
          <a:noFill/>
        </p:spPr>
      </p:pic>
      <p:sp>
        <p:nvSpPr>
          <p:cNvPr id="9" name="Content Placeholder 8">
            <a:extLst>
              <a:ext uri="{FF2B5EF4-FFF2-40B4-BE49-F238E27FC236}">
                <a16:creationId xmlns:a16="http://schemas.microsoft.com/office/drawing/2014/main" id="{B7FA5387-645E-0F5E-35ED-6883475BF59D}"/>
              </a:ext>
            </a:extLst>
          </p:cNvPr>
          <p:cNvSpPr>
            <a:spLocks noGrp="1"/>
          </p:cNvSpPr>
          <p:nvPr>
            <p:ph sz="half" idx="2"/>
          </p:nvPr>
        </p:nvSpPr>
        <p:spPr>
          <a:xfrm>
            <a:off x="6345936" y="2478024"/>
            <a:ext cx="4937760" cy="3694176"/>
          </a:xfrm>
        </p:spPr>
        <p:txBody>
          <a:bodyPr vert="horz" lIns="91440" tIns="45720" rIns="91440" bIns="45720" rtlCol="0">
            <a:normAutofit/>
          </a:bodyPr>
          <a:lstStyle/>
          <a:p>
            <a:pPr>
              <a:lnSpc>
                <a:spcPct val="100000"/>
              </a:lnSpc>
            </a:pPr>
            <a:r>
              <a:rPr lang="en-US" sz="2200"/>
              <a:t>A community open-source tool for creating </a:t>
            </a:r>
            <a:r>
              <a:rPr lang="en-US" sz="2200" b="1"/>
              <a:t>identical machine images</a:t>
            </a:r>
            <a:r>
              <a:rPr lang="en-US" sz="2200"/>
              <a:t> for multiple platforms.</a:t>
            </a:r>
          </a:p>
          <a:p>
            <a:pPr>
              <a:lnSpc>
                <a:spcPct val="100000"/>
              </a:lnSpc>
            </a:pPr>
            <a:r>
              <a:rPr lang="en-US" sz="2200"/>
              <a:t>Gives up to 90% confidence of building the same virtual machine. </a:t>
            </a:r>
          </a:p>
          <a:p>
            <a:pPr>
              <a:lnSpc>
                <a:spcPct val="100000"/>
              </a:lnSpc>
            </a:pPr>
            <a:r>
              <a:rPr lang="en-US" sz="2200"/>
              <a:t>Over 20+ machine images(servers) built. Approximately 4.5 hours of build time</a:t>
            </a:r>
          </a:p>
          <a:p>
            <a:pPr>
              <a:lnSpc>
                <a:spcPct val="100000"/>
              </a:lnSpc>
            </a:pPr>
            <a:endParaRPr lang="en-US" sz="2200"/>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1115568"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32" name="Footer Placeholder 5">
            <a:extLst>
              <a:ext uri="{FF2B5EF4-FFF2-40B4-BE49-F238E27FC236}">
                <a16:creationId xmlns:a16="http://schemas.microsoft.com/office/drawing/2014/main" id="{CE4E8A10-8DCC-9C0E-E065-2E3E99BF1835}"/>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28</a:t>
            </a:fld>
            <a:endParaRPr lang="en-US"/>
          </a:p>
        </p:txBody>
      </p:sp>
    </p:spTree>
    <p:extLst>
      <p:ext uri="{BB962C8B-B14F-4D97-AF65-F5344CB8AC3E}">
        <p14:creationId xmlns:p14="http://schemas.microsoft.com/office/powerpoint/2010/main" val="3452040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C4C1B4C-1253-8FCC-FFE1-C2E0420ADC0E}"/>
              </a:ext>
            </a:extLst>
          </p:cNvPr>
          <p:cNvSpPr>
            <a:spLocks noGrp="1"/>
          </p:cNvSpPr>
          <p:nvPr>
            <p:ph type="title"/>
          </p:nvPr>
        </p:nvSpPr>
        <p:spPr>
          <a:xfrm>
            <a:off x="1115568" y="548640"/>
            <a:ext cx="10168128" cy="1179576"/>
          </a:xfrm>
        </p:spPr>
        <p:txBody>
          <a:bodyPr anchor="ctr">
            <a:normAutofit/>
          </a:bodyPr>
          <a:lstStyle/>
          <a:p>
            <a:r>
              <a:rPr lang="en-US"/>
              <a:t>Packer Template Files</a:t>
            </a:r>
          </a:p>
        </p:txBody>
      </p:sp>
      <p:pic>
        <p:nvPicPr>
          <p:cNvPr id="3" name="Picture 2" descr="A screen shot of a computer&#10;&#10;Description automatically generated">
            <a:extLst>
              <a:ext uri="{FF2B5EF4-FFF2-40B4-BE49-F238E27FC236}">
                <a16:creationId xmlns:a16="http://schemas.microsoft.com/office/drawing/2014/main" id="{367A6F20-8D8F-870E-5326-9B6EC29C4DAC}"/>
              </a:ext>
            </a:extLst>
          </p:cNvPr>
          <p:cNvPicPr>
            <a:picLocks noChangeAspect="1"/>
          </p:cNvPicPr>
          <p:nvPr/>
        </p:nvPicPr>
        <p:blipFill>
          <a:blip r:embed="rId2"/>
          <a:stretch>
            <a:fillRect/>
          </a:stretch>
        </p:blipFill>
        <p:spPr>
          <a:xfrm>
            <a:off x="1115568" y="2812603"/>
            <a:ext cx="10168128" cy="3025017"/>
          </a:xfrm>
          <a:prstGeom prst="rect">
            <a:avLst/>
          </a:prstGeom>
          <a:noFill/>
        </p:spPr>
      </p:pic>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1115568"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30" name="Footer Placeholder 4">
            <a:extLst>
              <a:ext uri="{FF2B5EF4-FFF2-40B4-BE49-F238E27FC236}">
                <a16:creationId xmlns:a16="http://schemas.microsoft.com/office/drawing/2014/main" id="{58C4A5C6-7173-F079-B06C-8BB18EAEACB3}"/>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29</a:t>
            </a:fld>
            <a:endParaRPr lang="en-US"/>
          </a:p>
        </p:txBody>
      </p:sp>
    </p:spTree>
    <p:extLst>
      <p:ext uri="{BB962C8B-B14F-4D97-AF65-F5344CB8AC3E}">
        <p14:creationId xmlns:p14="http://schemas.microsoft.com/office/powerpoint/2010/main" val="28456323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39001-01D8-DCA1-F719-A0DD2F57A48A}"/>
              </a:ext>
            </a:extLst>
          </p:cNvPr>
          <p:cNvSpPr>
            <a:spLocks noGrp="1"/>
          </p:cNvSpPr>
          <p:nvPr>
            <p:ph type="title"/>
          </p:nvPr>
        </p:nvSpPr>
        <p:spPr>
          <a:xfrm>
            <a:off x="1008412" y="952"/>
            <a:ext cx="10168128" cy="1179576"/>
          </a:xfrm>
        </p:spPr>
        <p:txBody>
          <a:bodyPr anchor="ctr">
            <a:normAutofit/>
          </a:bodyPr>
          <a:lstStyle/>
          <a:p>
            <a:r>
              <a:rPr lang="en-US"/>
              <a:t>Packer Template Files Cont'd</a:t>
            </a:r>
          </a:p>
        </p:txBody>
      </p:sp>
      <p:sp>
        <p:nvSpPr>
          <p:cNvPr id="4" name="Date Placeholder 3">
            <a:extLst>
              <a:ext uri="{FF2B5EF4-FFF2-40B4-BE49-F238E27FC236}">
                <a16:creationId xmlns:a16="http://schemas.microsoft.com/office/drawing/2014/main" id="{50203466-5A8D-24AD-F342-483E3DB937DD}"/>
              </a:ext>
            </a:extLst>
          </p:cNvPr>
          <p:cNvSpPr>
            <a:spLocks noGrp="1"/>
          </p:cNvSpPr>
          <p:nvPr>
            <p:ph type="dt" sz="half" idx="10"/>
          </p:nvPr>
        </p:nvSpPr>
        <p:spPr>
          <a:xfrm>
            <a:off x="1115568" y="6356350"/>
            <a:ext cx="2743200" cy="365125"/>
          </a:xfrm>
        </p:spPr>
        <p:txBody>
          <a:bodyPr anchor="ctr">
            <a:normAutofit/>
          </a:bodyPr>
          <a:lstStyle/>
          <a:p>
            <a:pPr>
              <a:spcAft>
                <a:spcPts val="600"/>
              </a:spcAft>
            </a:pPr>
            <a:fld id="{BA49DCFE-16C5-4D4D-8344-9593401DB70E}" type="datetime1">
              <a:pPr>
                <a:spcAft>
                  <a:spcPts val="600"/>
                </a:spcAft>
              </a:pPr>
              <a:t>6/13/2025</a:t>
            </a:fld>
            <a:endParaRPr lang="en-US"/>
          </a:p>
        </p:txBody>
      </p:sp>
      <p:sp>
        <p:nvSpPr>
          <p:cNvPr id="11" name="Footer Placeholder 4">
            <a:extLst>
              <a:ext uri="{FF2B5EF4-FFF2-40B4-BE49-F238E27FC236}">
                <a16:creationId xmlns:a16="http://schemas.microsoft.com/office/drawing/2014/main" id="{0B4CAD9D-9415-B200-4491-264A4BA70D8C}"/>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C55031A0-3203-31D1-9CD0-FC65CEAC2010}"/>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30</a:t>
            </a:fld>
            <a:endParaRPr lang="en-US"/>
          </a:p>
        </p:txBody>
      </p:sp>
      <p:pic>
        <p:nvPicPr>
          <p:cNvPr id="7" name="Picture 6" descr="A screenshot of a computer&#10;&#10;Description automatically generated">
            <a:extLst>
              <a:ext uri="{FF2B5EF4-FFF2-40B4-BE49-F238E27FC236}">
                <a16:creationId xmlns:a16="http://schemas.microsoft.com/office/drawing/2014/main" id="{2386BE2D-FB13-D7B2-A1D2-AE1F64EA7F57}"/>
              </a:ext>
            </a:extLst>
          </p:cNvPr>
          <p:cNvPicPr>
            <a:picLocks noChangeAspect="1"/>
          </p:cNvPicPr>
          <p:nvPr/>
        </p:nvPicPr>
        <p:blipFill>
          <a:blip r:embed="rId2"/>
          <a:stretch>
            <a:fillRect/>
          </a:stretch>
        </p:blipFill>
        <p:spPr>
          <a:xfrm>
            <a:off x="690562" y="1606122"/>
            <a:ext cx="11501438" cy="5122130"/>
          </a:xfrm>
          <a:prstGeom prst="rect">
            <a:avLst/>
          </a:prstGeom>
        </p:spPr>
      </p:pic>
    </p:spTree>
    <p:extLst>
      <p:ext uri="{BB962C8B-B14F-4D97-AF65-F5344CB8AC3E}">
        <p14:creationId xmlns:p14="http://schemas.microsoft.com/office/powerpoint/2010/main" val="13582589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C4C1B4C-1253-8FCC-FFE1-C2E0420ADC0E}"/>
              </a:ext>
            </a:extLst>
          </p:cNvPr>
          <p:cNvSpPr>
            <a:spLocks noGrp="1"/>
          </p:cNvSpPr>
          <p:nvPr>
            <p:ph type="title"/>
          </p:nvPr>
        </p:nvSpPr>
        <p:spPr>
          <a:xfrm>
            <a:off x="868680" y="1709928"/>
            <a:ext cx="3099816" cy="1709928"/>
          </a:xfrm>
        </p:spPr>
        <p:txBody>
          <a:bodyPr anchor="t">
            <a:normAutofit fontScale="90000"/>
          </a:bodyPr>
          <a:lstStyle/>
          <a:p>
            <a:r>
              <a:rPr lang="en-US"/>
              <a:t>Tools Used Cont'd </a:t>
            </a:r>
            <a:br>
              <a:rPr lang="en-US"/>
            </a:br>
            <a:br>
              <a:rPr lang="en-US"/>
            </a:br>
            <a:endParaRPr lang="en-US" sz="2000"/>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868680"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22" name="Footer Placeholder 5">
            <a:extLst>
              <a:ext uri="{FF2B5EF4-FFF2-40B4-BE49-F238E27FC236}">
                <a16:creationId xmlns:a16="http://schemas.microsoft.com/office/drawing/2014/main" id="{909F78CA-4614-8232-70B3-D2DF62D8CBD4}"/>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65A5C87-DF58-40C8-B092-1DE63DB4547E}" type="slidenum">
              <a:rPr lang="en-US" dirty="0"/>
              <a:pPr>
                <a:spcAft>
                  <a:spcPts val="600"/>
                </a:spcAft>
              </a:pPr>
              <a:t>31</a:t>
            </a:fld>
            <a:endParaRPr lang="en-US"/>
          </a:p>
        </p:txBody>
      </p:sp>
      <p:graphicFrame>
        <p:nvGraphicFramePr>
          <p:cNvPr id="16" name="Content Placeholder 8">
            <a:extLst>
              <a:ext uri="{FF2B5EF4-FFF2-40B4-BE49-F238E27FC236}">
                <a16:creationId xmlns:a16="http://schemas.microsoft.com/office/drawing/2014/main" id="{A7675AB3-27C0-957F-1B03-DA15913587C8}"/>
              </a:ext>
            </a:extLst>
          </p:cNvPr>
          <p:cNvGraphicFramePr>
            <a:graphicFrameLocks noGrp="1"/>
          </p:cNvGraphicFramePr>
          <p:nvPr>
            <p:ph idx="1"/>
            <p:extLst>
              <p:ext uri="{D42A27DB-BD31-4B8C-83A1-F6EECF244321}">
                <p14:modId xmlns:p14="http://schemas.microsoft.com/office/powerpoint/2010/main" val="2473471741"/>
              </p:ext>
            </p:extLst>
          </p:nvPr>
        </p:nvGraphicFramePr>
        <p:xfrm>
          <a:off x="4965192" y="1709928"/>
          <a:ext cx="6729984" cy="4096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4" name="Picture 23" descr="Triton DataCenter">
            <a:extLst>
              <a:ext uri="{FF2B5EF4-FFF2-40B4-BE49-F238E27FC236}">
                <a16:creationId xmlns:a16="http://schemas.microsoft.com/office/drawing/2014/main" id="{3DDD909A-AB44-E681-E2B0-7781457672DA}"/>
              </a:ext>
            </a:extLst>
          </p:cNvPr>
          <p:cNvPicPr>
            <a:picLocks noChangeAspect="1"/>
          </p:cNvPicPr>
          <p:nvPr/>
        </p:nvPicPr>
        <p:blipFill>
          <a:blip r:embed="rId7"/>
          <a:stretch>
            <a:fillRect/>
          </a:stretch>
        </p:blipFill>
        <p:spPr>
          <a:xfrm>
            <a:off x="868997" y="2870200"/>
            <a:ext cx="2559685" cy="2529840"/>
          </a:xfrm>
          <a:prstGeom prst="rect">
            <a:avLst/>
          </a:prstGeom>
        </p:spPr>
      </p:pic>
    </p:spTree>
    <p:extLst>
      <p:ext uri="{BB962C8B-B14F-4D97-AF65-F5344CB8AC3E}">
        <p14:creationId xmlns:p14="http://schemas.microsoft.com/office/powerpoint/2010/main" val="19608797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C4C1B4C-1253-8FCC-FFE1-C2E0420ADC0E}"/>
              </a:ext>
            </a:extLst>
          </p:cNvPr>
          <p:cNvSpPr>
            <a:spLocks noGrp="1"/>
          </p:cNvSpPr>
          <p:nvPr>
            <p:ph type="title"/>
          </p:nvPr>
        </p:nvSpPr>
        <p:spPr>
          <a:xfrm>
            <a:off x="1115568" y="548640"/>
            <a:ext cx="10168128" cy="1179576"/>
          </a:xfrm>
        </p:spPr>
        <p:txBody>
          <a:bodyPr anchor="ctr">
            <a:normAutofit/>
          </a:bodyPr>
          <a:lstStyle/>
          <a:p>
            <a:r>
              <a:rPr lang="en-US"/>
              <a:t>Terraform files</a:t>
            </a:r>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1115568"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39" name="Footer Placeholder 4">
            <a:extLst>
              <a:ext uri="{FF2B5EF4-FFF2-40B4-BE49-F238E27FC236}">
                <a16:creationId xmlns:a16="http://schemas.microsoft.com/office/drawing/2014/main" id="{04A87DAA-4388-FC08-96DA-E0E6AE791D16}"/>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32</a:t>
            </a:fld>
            <a:endParaRPr lang="en-US"/>
          </a:p>
        </p:txBody>
      </p:sp>
      <p:pic>
        <p:nvPicPr>
          <p:cNvPr id="2" name="Picture 1" descr="A screenshot of a computer screen&#10;&#10;Description automatically generated">
            <a:extLst>
              <a:ext uri="{FF2B5EF4-FFF2-40B4-BE49-F238E27FC236}">
                <a16:creationId xmlns:a16="http://schemas.microsoft.com/office/drawing/2014/main" id="{BEF9B6DC-9E83-EE5B-D46B-97F9C6220D1A}"/>
              </a:ext>
            </a:extLst>
          </p:cNvPr>
          <p:cNvPicPr>
            <a:picLocks noChangeAspect="1"/>
          </p:cNvPicPr>
          <p:nvPr/>
        </p:nvPicPr>
        <p:blipFill>
          <a:blip r:embed="rId2"/>
          <a:stretch>
            <a:fillRect/>
          </a:stretch>
        </p:blipFill>
        <p:spPr>
          <a:xfrm>
            <a:off x="1116648" y="2422208"/>
            <a:ext cx="9572625" cy="3476625"/>
          </a:xfrm>
          <a:prstGeom prst="rect">
            <a:avLst/>
          </a:prstGeom>
        </p:spPr>
      </p:pic>
    </p:spTree>
    <p:extLst>
      <p:ext uri="{BB962C8B-B14F-4D97-AF65-F5344CB8AC3E}">
        <p14:creationId xmlns:p14="http://schemas.microsoft.com/office/powerpoint/2010/main" val="31496521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06563-18CF-EE0F-34AC-A76D4577C1C7}"/>
              </a:ext>
            </a:extLst>
          </p:cNvPr>
          <p:cNvSpPr>
            <a:spLocks noGrp="1"/>
          </p:cNvSpPr>
          <p:nvPr>
            <p:ph type="title"/>
          </p:nvPr>
        </p:nvSpPr>
        <p:spPr>
          <a:xfrm>
            <a:off x="1115568" y="548640"/>
            <a:ext cx="10168128" cy="1179576"/>
          </a:xfrm>
        </p:spPr>
        <p:txBody>
          <a:bodyPr anchor="ctr">
            <a:normAutofit/>
          </a:bodyPr>
          <a:lstStyle/>
          <a:p>
            <a:r>
              <a:rPr lang="en-US"/>
              <a:t>Lab Environment</a:t>
            </a:r>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1115568"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12" name="Footer Placeholder 4">
            <a:extLst>
              <a:ext uri="{FF2B5EF4-FFF2-40B4-BE49-F238E27FC236}">
                <a16:creationId xmlns:a16="http://schemas.microsoft.com/office/drawing/2014/main" id="{92FA63F7-36EF-F842-D8FD-A9453699F136}"/>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33</a:t>
            </a:fld>
            <a:endParaRPr lang="en-US"/>
          </a:p>
        </p:txBody>
      </p:sp>
      <p:graphicFrame>
        <p:nvGraphicFramePr>
          <p:cNvPr id="8" name="Content Placeholder 2">
            <a:extLst>
              <a:ext uri="{FF2B5EF4-FFF2-40B4-BE49-F238E27FC236}">
                <a16:creationId xmlns:a16="http://schemas.microsoft.com/office/drawing/2014/main" id="{996F2E07-421C-40A9-7488-3B5D7B9EDFA3}"/>
              </a:ext>
            </a:extLst>
          </p:cNvPr>
          <p:cNvGraphicFramePr>
            <a:graphicFrameLocks noGrp="1"/>
          </p:cNvGraphicFramePr>
          <p:nvPr>
            <p:ph idx="1"/>
            <p:extLst>
              <p:ext uri="{D42A27DB-BD31-4B8C-83A1-F6EECF244321}">
                <p14:modId xmlns:p14="http://schemas.microsoft.com/office/powerpoint/2010/main" val="248204458"/>
              </p:ext>
            </p:extLst>
          </p:nvPr>
        </p:nvGraphicFramePr>
        <p:xfrm>
          <a:off x="1115568" y="2478024"/>
          <a:ext cx="10168128"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0821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C4C1B4C-1253-8FCC-FFE1-C2E0420ADC0E}"/>
              </a:ext>
            </a:extLst>
          </p:cNvPr>
          <p:cNvSpPr>
            <a:spLocks noGrp="1"/>
          </p:cNvSpPr>
          <p:nvPr>
            <p:ph type="title"/>
          </p:nvPr>
        </p:nvSpPr>
        <p:spPr>
          <a:xfrm>
            <a:off x="868680" y="1709928"/>
            <a:ext cx="3133433" cy="1721133"/>
          </a:xfrm>
        </p:spPr>
        <p:txBody>
          <a:bodyPr anchor="t">
            <a:normAutofit fontScale="90000"/>
          </a:bodyPr>
          <a:lstStyle/>
          <a:p>
            <a:r>
              <a:rPr lang="en-US"/>
              <a:t>Clinic++ Cyber Range Web Application</a:t>
            </a:r>
          </a:p>
        </p:txBody>
      </p:sp>
      <p:sp>
        <p:nvSpPr>
          <p:cNvPr id="20" name="Text Placeholder 3">
            <a:extLst>
              <a:ext uri="{FF2B5EF4-FFF2-40B4-BE49-F238E27FC236}">
                <a16:creationId xmlns:a16="http://schemas.microsoft.com/office/drawing/2014/main" id="{B3EDC854-D70B-026B-4E7F-EF4C5CBD48E5}"/>
              </a:ext>
            </a:extLst>
          </p:cNvPr>
          <p:cNvSpPr>
            <a:spLocks noGrp="1"/>
          </p:cNvSpPr>
          <p:nvPr>
            <p:ph type="body" sz="half" idx="2"/>
          </p:nvPr>
        </p:nvSpPr>
        <p:spPr>
          <a:xfrm>
            <a:off x="868680" y="3429000"/>
            <a:ext cx="3099816" cy="2066544"/>
          </a:xfrm>
        </p:spPr>
        <p:txBody>
          <a:bodyPr vert="horz" lIns="91440" tIns="45720" rIns="91440" bIns="45720" rtlCol="0" anchor="t">
            <a:normAutofit/>
          </a:bodyPr>
          <a:lstStyle/>
          <a:p>
            <a:r>
              <a:rPr lang="en-US"/>
              <a:t>Key Features</a:t>
            </a:r>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868680"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22" name="Footer Placeholder 5">
            <a:extLst>
              <a:ext uri="{FF2B5EF4-FFF2-40B4-BE49-F238E27FC236}">
                <a16:creationId xmlns:a16="http://schemas.microsoft.com/office/drawing/2014/main" id="{5EA7E254-8ED3-35FC-B567-203658963495}"/>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65A5C87-DF58-40C8-B092-1DE63DB4547E}" type="slidenum">
              <a:rPr lang="en-US" dirty="0"/>
              <a:pPr>
                <a:spcAft>
                  <a:spcPts val="600"/>
                </a:spcAft>
              </a:pPr>
              <a:t>34</a:t>
            </a:fld>
            <a:endParaRPr lang="en-US"/>
          </a:p>
        </p:txBody>
      </p:sp>
      <p:graphicFrame>
        <p:nvGraphicFramePr>
          <p:cNvPr id="16" name="Content Placeholder 8">
            <a:extLst>
              <a:ext uri="{FF2B5EF4-FFF2-40B4-BE49-F238E27FC236}">
                <a16:creationId xmlns:a16="http://schemas.microsoft.com/office/drawing/2014/main" id="{44B48196-F33B-318E-2B3A-0CCEBB3F1C58}"/>
              </a:ext>
            </a:extLst>
          </p:cNvPr>
          <p:cNvGraphicFramePr>
            <a:graphicFrameLocks noGrp="1"/>
          </p:cNvGraphicFramePr>
          <p:nvPr>
            <p:ph idx="1"/>
            <p:extLst>
              <p:ext uri="{D42A27DB-BD31-4B8C-83A1-F6EECF244321}">
                <p14:modId xmlns:p14="http://schemas.microsoft.com/office/powerpoint/2010/main" val="2914851871"/>
              </p:ext>
            </p:extLst>
          </p:nvPr>
        </p:nvGraphicFramePr>
        <p:xfrm>
          <a:off x="4965192" y="1709928"/>
          <a:ext cx="6729984" cy="4096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173945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C4C1B4C-1253-8FCC-FFE1-C2E0420ADC0E}"/>
              </a:ext>
            </a:extLst>
          </p:cNvPr>
          <p:cNvSpPr>
            <a:spLocks noGrp="1"/>
          </p:cNvSpPr>
          <p:nvPr>
            <p:ph type="title"/>
          </p:nvPr>
        </p:nvSpPr>
        <p:spPr>
          <a:xfrm>
            <a:off x="889349" y="952"/>
            <a:ext cx="10168128" cy="1179576"/>
          </a:xfrm>
        </p:spPr>
        <p:txBody>
          <a:bodyPr anchor="ctr">
            <a:normAutofit/>
          </a:bodyPr>
          <a:lstStyle/>
          <a:p>
            <a:r>
              <a:rPr lang="en-US"/>
              <a:t>Clinic Webserver</a:t>
            </a:r>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1115568"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60" name="Footer Placeholder 4">
            <a:extLst>
              <a:ext uri="{FF2B5EF4-FFF2-40B4-BE49-F238E27FC236}">
                <a16:creationId xmlns:a16="http://schemas.microsoft.com/office/drawing/2014/main" id="{29022317-42CE-A54E-E5BE-13A618F6E32E}"/>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35</a:t>
            </a:fld>
            <a:endParaRPr lang="en-US"/>
          </a:p>
        </p:txBody>
      </p:sp>
      <p:pic>
        <p:nvPicPr>
          <p:cNvPr id="2" name="Picture 1" descr="A screenshot of a computer&#10;&#10;Description automatically generated">
            <a:extLst>
              <a:ext uri="{FF2B5EF4-FFF2-40B4-BE49-F238E27FC236}">
                <a16:creationId xmlns:a16="http://schemas.microsoft.com/office/drawing/2014/main" id="{99A08AE3-D61D-D0AB-5B7D-DAB57F247BDA}"/>
              </a:ext>
            </a:extLst>
          </p:cNvPr>
          <p:cNvPicPr>
            <a:picLocks noChangeAspect="1"/>
          </p:cNvPicPr>
          <p:nvPr/>
        </p:nvPicPr>
        <p:blipFill>
          <a:blip r:embed="rId2"/>
          <a:stretch>
            <a:fillRect/>
          </a:stretch>
        </p:blipFill>
        <p:spPr>
          <a:xfrm>
            <a:off x="572521" y="1544751"/>
            <a:ext cx="10488385" cy="4999603"/>
          </a:xfrm>
          <a:prstGeom prst="rect">
            <a:avLst/>
          </a:prstGeom>
        </p:spPr>
      </p:pic>
    </p:spTree>
    <p:extLst>
      <p:ext uri="{BB962C8B-B14F-4D97-AF65-F5344CB8AC3E}">
        <p14:creationId xmlns:p14="http://schemas.microsoft.com/office/powerpoint/2010/main" val="14265284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C4C1B4C-1253-8FCC-FFE1-C2E0420ADC0E}"/>
              </a:ext>
            </a:extLst>
          </p:cNvPr>
          <p:cNvSpPr>
            <a:spLocks noGrp="1"/>
          </p:cNvSpPr>
          <p:nvPr>
            <p:ph type="title"/>
          </p:nvPr>
        </p:nvSpPr>
        <p:spPr>
          <a:xfrm>
            <a:off x="868680" y="1709928"/>
            <a:ext cx="3099816" cy="1709928"/>
          </a:xfrm>
        </p:spPr>
        <p:txBody>
          <a:bodyPr anchor="t">
            <a:normAutofit/>
          </a:bodyPr>
          <a:lstStyle/>
          <a:p>
            <a:r>
              <a:rPr lang="en-US"/>
              <a:t>Features of Clinic++ Application</a:t>
            </a:r>
          </a:p>
        </p:txBody>
      </p:sp>
      <p:sp>
        <p:nvSpPr>
          <p:cNvPr id="20" name="Text Placeholder 3">
            <a:extLst>
              <a:ext uri="{FF2B5EF4-FFF2-40B4-BE49-F238E27FC236}">
                <a16:creationId xmlns:a16="http://schemas.microsoft.com/office/drawing/2014/main" id="{B55BD27B-ED9A-81B8-4E84-34254BB67A3C}"/>
              </a:ext>
            </a:extLst>
          </p:cNvPr>
          <p:cNvSpPr>
            <a:spLocks noGrp="1"/>
          </p:cNvSpPr>
          <p:nvPr>
            <p:ph type="body" sz="half" idx="2"/>
          </p:nvPr>
        </p:nvSpPr>
        <p:spPr>
          <a:xfrm>
            <a:off x="868680" y="3429000"/>
            <a:ext cx="3099816" cy="2066544"/>
          </a:xfrm>
        </p:spPr>
        <p:txBody>
          <a:bodyPr/>
          <a:lstStyle/>
          <a:p>
            <a:endParaRPr lang="en-US"/>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868680"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22" name="Footer Placeholder 5">
            <a:extLst>
              <a:ext uri="{FF2B5EF4-FFF2-40B4-BE49-F238E27FC236}">
                <a16:creationId xmlns:a16="http://schemas.microsoft.com/office/drawing/2014/main" id="{7F26ED92-ABC7-2B00-6593-17DB6E49C7E5}"/>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65A5C87-DF58-40C8-B092-1DE63DB4547E}" type="slidenum">
              <a:rPr lang="en-US" dirty="0"/>
              <a:pPr>
                <a:spcAft>
                  <a:spcPts val="600"/>
                </a:spcAft>
              </a:pPr>
              <a:t>36</a:t>
            </a:fld>
            <a:endParaRPr lang="en-US"/>
          </a:p>
        </p:txBody>
      </p:sp>
      <p:graphicFrame>
        <p:nvGraphicFramePr>
          <p:cNvPr id="16" name="Content Placeholder 8">
            <a:extLst>
              <a:ext uri="{FF2B5EF4-FFF2-40B4-BE49-F238E27FC236}">
                <a16:creationId xmlns:a16="http://schemas.microsoft.com/office/drawing/2014/main" id="{46598305-673F-7449-5B21-EEB7F7B9A94C}"/>
              </a:ext>
            </a:extLst>
          </p:cNvPr>
          <p:cNvGraphicFramePr>
            <a:graphicFrameLocks noGrp="1"/>
          </p:cNvGraphicFramePr>
          <p:nvPr>
            <p:ph idx="1"/>
            <p:extLst>
              <p:ext uri="{D42A27DB-BD31-4B8C-83A1-F6EECF244321}">
                <p14:modId xmlns:p14="http://schemas.microsoft.com/office/powerpoint/2010/main" val="1937016807"/>
              </p:ext>
            </p:extLst>
          </p:nvPr>
        </p:nvGraphicFramePr>
        <p:xfrm>
          <a:off x="4965192" y="1709928"/>
          <a:ext cx="6729984" cy="4096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252880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C4C1B4C-1253-8FCC-FFE1-C2E0420ADC0E}"/>
              </a:ext>
            </a:extLst>
          </p:cNvPr>
          <p:cNvSpPr>
            <a:spLocks noGrp="1"/>
          </p:cNvSpPr>
          <p:nvPr>
            <p:ph type="title"/>
          </p:nvPr>
        </p:nvSpPr>
        <p:spPr>
          <a:xfrm>
            <a:off x="1115568" y="548640"/>
            <a:ext cx="10168128" cy="1179576"/>
          </a:xfrm>
        </p:spPr>
        <p:txBody>
          <a:bodyPr anchor="ctr">
            <a:normAutofit/>
          </a:bodyPr>
          <a:lstStyle/>
          <a:p>
            <a:r>
              <a:rPr lang="en-US"/>
              <a:t>Features of the Application Cont'd</a:t>
            </a:r>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1115568"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20" name="Footer Placeholder 4">
            <a:extLst>
              <a:ext uri="{FF2B5EF4-FFF2-40B4-BE49-F238E27FC236}">
                <a16:creationId xmlns:a16="http://schemas.microsoft.com/office/drawing/2014/main" id="{9F9AFA8D-ABB4-27EC-C840-2C8F22D7B426}"/>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37</a:t>
            </a:fld>
            <a:endParaRPr lang="en-US"/>
          </a:p>
        </p:txBody>
      </p:sp>
      <p:graphicFrame>
        <p:nvGraphicFramePr>
          <p:cNvPr id="16" name="Content Placeholder 8">
            <a:extLst>
              <a:ext uri="{FF2B5EF4-FFF2-40B4-BE49-F238E27FC236}">
                <a16:creationId xmlns:a16="http://schemas.microsoft.com/office/drawing/2014/main" id="{98779EF7-66C4-1D0A-825B-B9F0BFAE391E}"/>
              </a:ext>
            </a:extLst>
          </p:cNvPr>
          <p:cNvGraphicFramePr>
            <a:graphicFrameLocks noGrp="1"/>
          </p:cNvGraphicFramePr>
          <p:nvPr>
            <p:ph idx="1"/>
            <p:extLst>
              <p:ext uri="{D42A27DB-BD31-4B8C-83A1-F6EECF244321}">
                <p14:modId xmlns:p14="http://schemas.microsoft.com/office/powerpoint/2010/main" val="955350978"/>
              </p:ext>
            </p:extLst>
          </p:nvPr>
        </p:nvGraphicFramePr>
        <p:xfrm>
          <a:off x="1115568" y="2478024"/>
          <a:ext cx="10168128"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83290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C4C1B4C-1253-8FCC-FFE1-C2E0420ADC0E}"/>
              </a:ext>
            </a:extLst>
          </p:cNvPr>
          <p:cNvSpPr>
            <a:spLocks noGrp="1"/>
          </p:cNvSpPr>
          <p:nvPr>
            <p:ph type="title"/>
          </p:nvPr>
        </p:nvSpPr>
        <p:spPr>
          <a:xfrm>
            <a:off x="810768" y="536917"/>
            <a:ext cx="10168128" cy="1179576"/>
          </a:xfrm>
        </p:spPr>
        <p:txBody>
          <a:bodyPr/>
          <a:lstStyle/>
          <a:p>
            <a:r>
              <a:rPr lang="en-US"/>
              <a:t>Features Detailed</a:t>
            </a:r>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1115568"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14" name="Footer Placeholder 4">
            <a:extLst>
              <a:ext uri="{FF2B5EF4-FFF2-40B4-BE49-F238E27FC236}">
                <a16:creationId xmlns:a16="http://schemas.microsoft.com/office/drawing/2014/main" id="{CFA1683A-8042-9387-7537-02F4FF24B2C6}"/>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38</a:t>
            </a:fld>
            <a:endParaRPr lang="en-US"/>
          </a:p>
        </p:txBody>
      </p:sp>
      <p:sp>
        <p:nvSpPr>
          <p:cNvPr id="9" name="Content Placeholder 8">
            <a:extLst>
              <a:ext uri="{FF2B5EF4-FFF2-40B4-BE49-F238E27FC236}">
                <a16:creationId xmlns:a16="http://schemas.microsoft.com/office/drawing/2014/main" id="{B7FA5387-645E-0F5E-35ED-6883475BF59D}"/>
              </a:ext>
            </a:extLst>
          </p:cNvPr>
          <p:cNvSpPr>
            <a:spLocks noGrp="1"/>
          </p:cNvSpPr>
          <p:nvPr>
            <p:ph idx="1"/>
          </p:nvPr>
        </p:nvSpPr>
        <p:spPr>
          <a:xfrm>
            <a:off x="810768" y="2313901"/>
            <a:ext cx="10168128" cy="4019146"/>
          </a:xfrm>
        </p:spPr>
        <p:txBody>
          <a:bodyPr vert="horz" lIns="91440" tIns="45720" rIns="91440" bIns="45720" rtlCol="0" anchor="t">
            <a:normAutofit/>
          </a:bodyPr>
          <a:lstStyle/>
          <a:p>
            <a:r>
              <a:rPr lang="en-US" b="1">
                <a:ea typeface="+mn-lt"/>
                <a:cs typeface="+mn-lt"/>
              </a:rPr>
              <a:t>Extensibility</a:t>
            </a:r>
            <a:r>
              <a:rPr lang="en-US">
                <a:ea typeface="+mn-lt"/>
                <a:cs typeface="+mn-lt"/>
              </a:rPr>
              <a:t>:</a:t>
            </a:r>
            <a:endParaRPr lang="en-US" b="1"/>
          </a:p>
          <a:p>
            <a:pPr lvl="1">
              <a:buFont typeface="Courier New" panose="020B0604020202020204" pitchFamily="34" charset="0"/>
              <a:buChar char="o"/>
            </a:pPr>
            <a:r>
              <a:rPr lang="en-US">
                <a:ea typeface="+mn-lt"/>
                <a:cs typeface="+mn-lt"/>
              </a:rPr>
              <a:t>The modular design allows for adding more labs or features like analytics.</a:t>
            </a:r>
            <a:endParaRPr lang="en-US"/>
          </a:p>
          <a:p>
            <a:pPr marL="0" indent="0">
              <a:buNone/>
            </a:pPr>
            <a:endParaRPr lang="en-US" b="1"/>
          </a:p>
          <a:p>
            <a:endParaRPr lang="en-US" b="1"/>
          </a:p>
          <a:p>
            <a:endParaRPr lang="en-US" b="1"/>
          </a:p>
          <a:p>
            <a:endParaRPr lang="en-US"/>
          </a:p>
          <a:p>
            <a:endParaRPr lang="en-US"/>
          </a:p>
        </p:txBody>
      </p:sp>
    </p:spTree>
    <p:extLst>
      <p:ext uri="{BB962C8B-B14F-4D97-AF65-F5344CB8AC3E}">
        <p14:creationId xmlns:p14="http://schemas.microsoft.com/office/powerpoint/2010/main" val="15947972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FE8C896-6FA7-2E42-BFF0-85986D2EEB8E}"/>
              </a:ext>
            </a:extLst>
          </p:cNvPr>
          <p:cNvSpPr>
            <a:spLocks noGrp="1"/>
          </p:cNvSpPr>
          <p:nvPr>
            <p:ph type="title"/>
          </p:nvPr>
        </p:nvSpPr>
        <p:spPr>
          <a:xfrm>
            <a:off x="868680" y="1709928"/>
            <a:ext cx="3099816" cy="1709928"/>
          </a:xfrm>
        </p:spPr>
        <p:txBody>
          <a:bodyPr anchor="t">
            <a:normAutofit/>
          </a:bodyPr>
          <a:lstStyle/>
          <a:p>
            <a:r>
              <a:rPr lang="en-US"/>
              <a:t>Features Detailed Cont'd</a:t>
            </a:r>
          </a:p>
        </p:txBody>
      </p:sp>
      <p:pic>
        <p:nvPicPr>
          <p:cNvPr id="2" name="Picture 1">
            <a:extLst>
              <a:ext uri="{FF2B5EF4-FFF2-40B4-BE49-F238E27FC236}">
                <a16:creationId xmlns:a16="http://schemas.microsoft.com/office/drawing/2014/main" id="{9CA368FA-09C2-1B81-8A39-9F85B04445CB}"/>
              </a:ext>
            </a:extLst>
          </p:cNvPr>
          <p:cNvPicPr>
            <a:picLocks noChangeAspect="1"/>
          </p:cNvPicPr>
          <p:nvPr/>
        </p:nvPicPr>
        <p:blipFill>
          <a:blip r:embed="rId2"/>
          <a:stretch>
            <a:fillRect/>
          </a:stretch>
        </p:blipFill>
        <p:spPr>
          <a:xfrm>
            <a:off x="4438517" y="1832613"/>
            <a:ext cx="7256659" cy="3302502"/>
          </a:xfrm>
          <a:prstGeom prst="rect">
            <a:avLst/>
          </a:prstGeom>
          <a:noFill/>
        </p:spPr>
      </p:pic>
      <p:sp>
        <p:nvSpPr>
          <p:cNvPr id="20" name="Text Placeholder 3">
            <a:extLst>
              <a:ext uri="{FF2B5EF4-FFF2-40B4-BE49-F238E27FC236}">
                <a16:creationId xmlns:a16="http://schemas.microsoft.com/office/drawing/2014/main" id="{C3F37053-5998-53E3-1619-23FE34F5895D}"/>
              </a:ext>
            </a:extLst>
          </p:cNvPr>
          <p:cNvSpPr>
            <a:spLocks noGrp="1"/>
          </p:cNvSpPr>
          <p:nvPr>
            <p:ph type="body" sz="half" idx="2"/>
          </p:nvPr>
        </p:nvSpPr>
        <p:spPr>
          <a:xfrm>
            <a:off x="868680" y="3438144"/>
            <a:ext cx="3099816" cy="2057400"/>
          </a:xfrm>
        </p:spPr>
        <p:txBody>
          <a:bodyPr vert="horz" lIns="91440" tIns="45720" rIns="91440" bIns="45720" rtlCol="0" anchor="t">
            <a:normAutofit/>
          </a:bodyPr>
          <a:lstStyle/>
          <a:p>
            <a:r>
              <a:rPr lang="en-US"/>
              <a:t>Extensibilty</a:t>
            </a:r>
          </a:p>
        </p:txBody>
      </p:sp>
      <p:sp>
        <p:nvSpPr>
          <p:cNvPr id="4" name="Date Placeholder 3">
            <a:extLst>
              <a:ext uri="{FF2B5EF4-FFF2-40B4-BE49-F238E27FC236}">
                <a16:creationId xmlns:a16="http://schemas.microsoft.com/office/drawing/2014/main" id="{89727B1D-B1DE-C7A3-0EB5-4EB6CB2AA75C}"/>
              </a:ext>
            </a:extLst>
          </p:cNvPr>
          <p:cNvSpPr>
            <a:spLocks noGrp="1"/>
          </p:cNvSpPr>
          <p:nvPr>
            <p:ph type="dt" sz="half" idx="10"/>
          </p:nvPr>
        </p:nvSpPr>
        <p:spPr>
          <a:xfrm>
            <a:off x="868680" y="6356350"/>
            <a:ext cx="2743200" cy="365125"/>
          </a:xfrm>
        </p:spPr>
        <p:txBody>
          <a:bodyPr anchor="ctr">
            <a:normAutofit/>
          </a:bodyPr>
          <a:lstStyle/>
          <a:p>
            <a:pPr>
              <a:spcAft>
                <a:spcPts val="600"/>
              </a:spcAft>
            </a:pPr>
            <a:fld id="{756B9A20-7925-4C6E-B811-5DCA6E1FF088}" type="datetime1">
              <a:pPr>
                <a:spcAft>
                  <a:spcPts val="600"/>
                </a:spcAft>
              </a:pPr>
              <a:t>6/13/2025</a:t>
            </a:fld>
            <a:endParaRPr lang="en-US"/>
          </a:p>
        </p:txBody>
      </p:sp>
      <p:sp>
        <p:nvSpPr>
          <p:cNvPr id="22" name="Footer Placeholder 5">
            <a:extLst>
              <a:ext uri="{FF2B5EF4-FFF2-40B4-BE49-F238E27FC236}">
                <a16:creationId xmlns:a16="http://schemas.microsoft.com/office/drawing/2014/main" id="{C6B0D458-3F0F-B6D1-2B14-CF091CB297DE}"/>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5F0BA72A-5A22-FE05-81E1-0B5755AF2A32}"/>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65A5C87-DF58-40C8-B092-1DE63DB4547E}" type="slidenum">
              <a:rPr lang="en-US" dirty="0"/>
              <a:pPr>
                <a:spcAft>
                  <a:spcPts val="600"/>
                </a:spcAft>
              </a:pPr>
              <a:t>39</a:t>
            </a:fld>
            <a:endParaRPr lang="en-US"/>
          </a:p>
        </p:txBody>
      </p:sp>
    </p:spTree>
    <p:extLst>
      <p:ext uri="{BB962C8B-B14F-4D97-AF65-F5344CB8AC3E}">
        <p14:creationId xmlns:p14="http://schemas.microsoft.com/office/powerpoint/2010/main" val="28444804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C4C1B4C-1253-8FCC-FFE1-C2E0420ADC0E}"/>
              </a:ext>
            </a:extLst>
          </p:cNvPr>
          <p:cNvSpPr>
            <a:spLocks noGrp="1"/>
          </p:cNvSpPr>
          <p:nvPr>
            <p:ph type="title"/>
          </p:nvPr>
        </p:nvSpPr>
        <p:spPr>
          <a:xfrm>
            <a:off x="810768" y="536917"/>
            <a:ext cx="10168128" cy="1179576"/>
          </a:xfrm>
        </p:spPr>
        <p:txBody>
          <a:bodyPr/>
          <a:lstStyle/>
          <a:p>
            <a:r>
              <a:rPr lang="en-US"/>
              <a:t>Feature Detailed Cont'd</a:t>
            </a:r>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1115568"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14" name="Footer Placeholder 4">
            <a:extLst>
              <a:ext uri="{FF2B5EF4-FFF2-40B4-BE49-F238E27FC236}">
                <a16:creationId xmlns:a16="http://schemas.microsoft.com/office/drawing/2014/main" id="{CFA1683A-8042-9387-7537-02F4FF24B2C6}"/>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40</a:t>
            </a:fld>
            <a:endParaRPr lang="en-US"/>
          </a:p>
        </p:txBody>
      </p:sp>
      <p:sp>
        <p:nvSpPr>
          <p:cNvPr id="9" name="Content Placeholder 8">
            <a:extLst>
              <a:ext uri="{FF2B5EF4-FFF2-40B4-BE49-F238E27FC236}">
                <a16:creationId xmlns:a16="http://schemas.microsoft.com/office/drawing/2014/main" id="{B7FA5387-645E-0F5E-35ED-6883475BF59D}"/>
              </a:ext>
            </a:extLst>
          </p:cNvPr>
          <p:cNvSpPr>
            <a:spLocks noGrp="1"/>
          </p:cNvSpPr>
          <p:nvPr>
            <p:ph idx="1"/>
          </p:nvPr>
        </p:nvSpPr>
        <p:spPr>
          <a:xfrm>
            <a:off x="810768" y="2313901"/>
            <a:ext cx="10168128" cy="4019146"/>
          </a:xfrm>
        </p:spPr>
        <p:txBody>
          <a:bodyPr vert="horz" lIns="91440" tIns="45720" rIns="91440" bIns="45720" rtlCol="0" anchor="t">
            <a:normAutofit/>
          </a:bodyPr>
          <a:lstStyle/>
          <a:p>
            <a:r>
              <a:rPr lang="en-US" b="1">
                <a:ea typeface="+mn-lt"/>
                <a:cs typeface="+mn-lt"/>
              </a:rPr>
              <a:t>Scalability</a:t>
            </a:r>
            <a:r>
              <a:rPr lang="en-US">
                <a:ea typeface="+mn-lt"/>
                <a:cs typeface="+mn-lt"/>
              </a:rPr>
              <a:t>:</a:t>
            </a:r>
            <a:endParaRPr lang="en-US" b="1"/>
          </a:p>
          <a:p>
            <a:pPr lvl="1">
              <a:buFont typeface="Courier New" panose="020B0604020202020204" pitchFamily="34" charset="0"/>
              <a:buChar char="o"/>
            </a:pPr>
            <a:r>
              <a:rPr lang="en-US" err="1">
                <a:ea typeface="+mn-lt"/>
                <a:cs typeface="+mn-lt"/>
              </a:rPr>
              <a:t>Proxmox</a:t>
            </a:r>
            <a:r>
              <a:rPr lang="en-US">
                <a:ea typeface="+mn-lt"/>
                <a:cs typeface="+mn-lt"/>
              </a:rPr>
              <a:t> integration supports scaling virtual environments as needed.</a:t>
            </a:r>
            <a:endParaRPr lang="en-US"/>
          </a:p>
          <a:p>
            <a:endParaRPr lang="en-US" b="1"/>
          </a:p>
          <a:p>
            <a:pPr marL="0" indent="0">
              <a:buNone/>
            </a:pPr>
            <a:endParaRPr lang="en-US" b="1"/>
          </a:p>
          <a:p>
            <a:endParaRPr lang="en-US" b="1"/>
          </a:p>
          <a:p>
            <a:endParaRPr lang="en-US" b="1"/>
          </a:p>
          <a:p>
            <a:endParaRPr lang="en-US"/>
          </a:p>
          <a:p>
            <a:endParaRPr lang="en-US"/>
          </a:p>
        </p:txBody>
      </p:sp>
    </p:spTree>
    <p:extLst>
      <p:ext uri="{BB962C8B-B14F-4D97-AF65-F5344CB8AC3E}">
        <p14:creationId xmlns:p14="http://schemas.microsoft.com/office/powerpoint/2010/main" val="5077933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C501143-AF81-B7C5-9A13-EB84FFF2EB8B}"/>
              </a:ext>
            </a:extLst>
          </p:cNvPr>
          <p:cNvSpPr>
            <a:spLocks noGrp="1"/>
          </p:cNvSpPr>
          <p:nvPr>
            <p:ph type="title"/>
          </p:nvPr>
        </p:nvSpPr>
        <p:spPr>
          <a:xfrm>
            <a:off x="868680" y="1709928"/>
            <a:ext cx="3099816" cy="1709928"/>
          </a:xfrm>
        </p:spPr>
        <p:txBody>
          <a:bodyPr anchor="t">
            <a:normAutofit/>
          </a:bodyPr>
          <a:lstStyle/>
          <a:p>
            <a:r>
              <a:rPr lang="en-US"/>
              <a:t>Features Detailed Cont'd</a:t>
            </a:r>
          </a:p>
        </p:txBody>
      </p:sp>
      <p:pic>
        <p:nvPicPr>
          <p:cNvPr id="2" name="Picture 1" descr="A screenshot of a computer&#10;&#10;Description automatically generated">
            <a:extLst>
              <a:ext uri="{FF2B5EF4-FFF2-40B4-BE49-F238E27FC236}">
                <a16:creationId xmlns:a16="http://schemas.microsoft.com/office/drawing/2014/main" id="{04E522EF-20A4-542B-A9B3-89B6EA8C5FCC}"/>
              </a:ext>
            </a:extLst>
          </p:cNvPr>
          <p:cNvPicPr>
            <a:picLocks noChangeAspect="1"/>
          </p:cNvPicPr>
          <p:nvPr/>
        </p:nvPicPr>
        <p:blipFill>
          <a:blip r:embed="rId2"/>
          <a:stretch>
            <a:fillRect/>
          </a:stretch>
        </p:blipFill>
        <p:spPr>
          <a:xfrm>
            <a:off x="4965192" y="1893906"/>
            <a:ext cx="6729984" cy="3179916"/>
          </a:xfrm>
          <a:prstGeom prst="rect">
            <a:avLst/>
          </a:prstGeom>
          <a:noFill/>
        </p:spPr>
      </p:pic>
      <p:sp>
        <p:nvSpPr>
          <p:cNvPr id="20" name="Text Placeholder 3">
            <a:extLst>
              <a:ext uri="{FF2B5EF4-FFF2-40B4-BE49-F238E27FC236}">
                <a16:creationId xmlns:a16="http://schemas.microsoft.com/office/drawing/2014/main" id="{B24FB99A-F798-2576-2D76-E8D450460BF4}"/>
              </a:ext>
            </a:extLst>
          </p:cNvPr>
          <p:cNvSpPr>
            <a:spLocks noGrp="1"/>
          </p:cNvSpPr>
          <p:nvPr>
            <p:ph type="body" sz="half" idx="2"/>
          </p:nvPr>
        </p:nvSpPr>
        <p:spPr>
          <a:xfrm>
            <a:off x="868680" y="3438144"/>
            <a:ext cx="3099816" cy="2057400"/>
          </a:xfrm>
        </p:spPr>
        <p:txBody>
          <a:bodyPr vert="horz" lIns="91440" tIns="45720" rIns="91440" bIns="45720" rtlCol="0" anchor="t">
            <a:normAutofit/>
          </a:bodyPr>
          <a:lstStyle/>
          <a:p>
            <a:r>
              <a:rPr lang="en-US"/>
              <a:t>Scalability- Plenty of Disk and RAM availability</a:t>
            </a:r>
          </a:p>
        </p:txBody>
      </p:sp>
      <p:sp>
        <p:nvSpPr>
          <p:cNvPr id="4" name="Date Placeholder 3">
            <a:extLst>
              <a:ext uri="{FF2B5EF4-FFF2-40B4-BE49-F238E27FC236}">
                <a16:creationId xmlns:a16="http://schemas.microsoft.com/office/drawing/2014/main" id="{154B775F-3CC7-5F67-768E-9F279A0666CC}"/>
              </a:ext>
            </a:extLst>
          </p:cNvPr>
          <p:cNvSpPr>
            <a:spLocks noGrp="1"/>
          </p:cNvSpPr>
          <p:nvPr>
            <p:ph type="dt" sz="half" idx="10"/>
          </p:nvPr>
        </p:nvSpPr>
        <p:spPr>
          <a:xfrm>
            <a:off x="868680" y="6356350"/>
            <a:ext cx="2743200" cy="365125"/>
          </a:xfrm>
        </p:spPr>
        <p:txBody>
          <a:bodyPr anchor="ctr">
            <a:normAutofit/>
          </a:bodyPr>
          <a:lstStyle/>
          <a:p>
            <a:pPr>
              <a:spcAft>
                <a:spcPts val="600"/>
              </a:spcAft>
            </a:pPr>
            <a:fld id="{F59D64BC-C27A-4F9C-9B38-CE069D512FEF}" type="datetime1">
              <a:pPr>
                <a:spcAft>
                  <a:spcPts val="600"/>
                </a:spcAft>
              </a:pPr>
              <a:t>6/13/2025</a:t>
            </a:fld>
            <a:endParaRPr lang="en-US"/>
          </a:p>
        </p:txBody>
      </p:sp>
      <p:sp>
        <p:nvSpPr>
          <p:cNvPr id="22" name="Footer Placeholder 5">
            <a:extLst>
              <a:ext uri="{FF2B5EF4-FFF2-40B4-BE49-F238E27FC236}">
                <a16:creationId xmlns:a16="http://schemas.microsoft.com/office/drawing/2014/main" id="{5BAB2436-02FA-64C6-645C-4FC0CF8437FA}"/>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B78ABEC1-43A8-9440-478D-0A764CF2B76B}"/>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65A5C87-DF58-40C8-B092-1DE63DB4547E}" type="slidenum">
              <a:rPr lang="en-US" dirty="0"/>
              <a:pPr>
                <a:spcAft>
                  <a:spcPts val="600"/>
                </a:spcAft>
              </a:pPr>
              <a:t>41</a:t>
            </a:fld>
            <a:endParaRPr lang="en-US"/>
          </a:p>
        </p:txBody>
      </p:sp>
    </p:spTree>
    <p:extLst>
      <p:ext uri="{BB962C8B-B14F-4D97-AF65-F5344CB8AC3E}">
        <p14:creationId xmlns:p14="http://schemas.microsoft.com/office/powerpoint/2010/main" val="21000906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C4C1B4C-1253-8FCC-FFE1-C2E0420ADC0E}"/>
              </a:ext>
            </a:extLst>
          </p:cNvPr>
          <p:cNvSpPr>
            <a:spLocks noGrp="1"/>
          </p:cNvSpPr>
          <p:nvPr>
            <p:ph type="title"/>
          </p:nvPr>
        </p:nvSpPr>
        <p:spPr>
          <a:xfrm>
            <a:off x="856957" y="1299620"/>
            <a:ext cx="3557016" cy="1709928"/>
          </a:xfrm>
        </p:spPr>
        <p:txBody>
          <a:bodyPr anchor="t">
            <a:normAutofit/>
          </a:bodyPr>
          <a:lstStyle/>
          <a:p>
            <a:r>
              <a:rPr lang="en-US"/>
              <a:t>Featured Detailed Cont'd</a:t>
            </a:r>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868680"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22" name="Footer Placeholder 5">
            <a:extLst>
              <a:ext uri="{FF2B5EF4-FFF2-40B4-BE49-F238E27FC236}">
                <a16:creationId xmlns:a16="http://schemas.microsoft.com/office/drawing/2014/main" id="{A47483A7-6CA0-7DDA-7A2C-7359044DC02F}"/>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65A5C87-DF58-40C8-B092-1DE63DB4547E}" type="slidenum">
              <a:rPr lang="en-US" dirty="0"/>
              <a:pPr>
                <a:spcAft>
                  <a:spcPts val="600"/>
                </a:spcAft>
              </a:pPr>
              <a:t>42</a:t>
            </a:fld>
            <a:endParaRPr lang="en-US"/>
          </a:p>
        </p:txBody>
      </p:sp>
      <p:graphicFrame>
        <p:nvGraphicFramePr>
          <p:cNvPr id="16" name="Content Placeholder 8">
            <a:extLst>
              <a:ext uri="{FF2B5EF4-FFF2-40B4-BE49-F238E27FC236}">
                <a16:creationId xmlns:a16="http://schemas.microsoft.com/office/drawing/2014/main" id="{72D72731-C66E-02AF-7FFD-64D6ED2D190A}"/>
              </a:ext>
            </a:extLst>
          </p:cNvPr>
          <p:cNvGraphicFramePr>
            <a:graphicFrameLocks noGrp="1"/>
          </p:cNvGraphicFramePr>
          <p:nvPr>
            <p:ph idx="1"/>
            <p:extLst>
              <p:ext uri="{D42A27DB-BD31-4B8C-83A1-F6EECF244321}">
                <p14:modId xmlns:p14="http://schemas.microsoft.com/office/powerpoint/2010/main" val="2250250992"/>
              </p:ext>
            </p:extLst>
          </p:nvPr>
        </p:nvGraphicFramePr>
        <p:xfrm>
          <a:off x="4965192" y="1709928"/>
          <a:ext cx="6729984" cy="4096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10" descr="A computer screen shot of a sign in&#10;&#10;Description automatically generated">
            <a:extLst>
              <a:ext uri="{FF2B5EF4-FFF2-40B4-BE49-F238E27FC236}">
                <a16:creationId xmlns:a16="http://schemas.microsoft.com/office/drawing/2014/main" id="{8EFC4A9E-C5CA-1CA0-5A76-A5F14C97B903}"/>
              </a:ext>
            </a:extLst>
          </p:cNvPr>
          <p:cNvPicPr>
            <a:picLocks noChangeAspect="1"/>
          </p:cNvPicPr>
          <p:nvPr/>
        </p:nvPicPr>
        <p:blipFill>
          <a:blip r:embed="rId7"/>
          <a:stretch>
            <a:fillRect/>
          </a:stretch>
        </p:blipFill>
        <p:spPr>
          <a:xfrm>
            <a:off x="442894" y="3604075"/>
            <a:ext cx="3977440" cy="2187742"/>
          </a:xfrm>
          <a:prstGeom prst="rect">
            <a:avLst/>
          </a:prstGeom>
        </p:spPr>
      </p:pic>
    </p:spTree>
    <p:extLst>
      <p:ext uri="{BB962C8B-B14F-4D97-AF65-F5344CB8AC3E}">
        <p14:creationId xmlns:p14="http://schemas.microsoft.com/office/powerpoint/2010/main" val="2060697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771F2-ADA4-FB4E-D712-7846C5B4E982}"/>
              </a:ext>
            </a:extLst>
          </p:cNvPr>
          <p:cNvSpPr>
            <a:spLocks noGrp="1"/>
          </p:cNvSpPr>
          <p:nvPr>
            <p:ph type="title"/>
          </p:nvPr>
        </p:nvSpPr>
        <p:spPr/>
        <p:txBody>
          <a:bodyPr>
            <a:normAutofit fontScale="90000"/>
          </a:bodyPr>
          <a:lstStyle/>
          <a:p>
            <a:r>
              <a:rPr lang="en-US">
                <a:ea typeface="+mj-lt"/>
                <a:cs typeface="+mj-lt"/>
              </a:rPr>
              <a:t>Challenges: Development and Deployment</a:t>
            </a:r>
            <a:r>
              <a:rPr lang="en-US"/>
              <a:t> </a:t>
            </a:r>
          </a:p>
        </p:txBody>
      </p:sp>
      <p:sp>
        <p:nvSpPr>
          <p:cNvPr id="3" name="Content Placeholder 2">
            <a:extLst>
              <a:ext uri="{FF2B5EF4-FFF2-40B4-BE49-F238E27FC236}">
                <a16:creationId xmlns:a16="http://schemas.microsoft.com/office/drawing/2014/main" id="{A33E5078-AC3C-E2CD-2232-5B8B16A31234}"/>
              </a:ext>
            </a:extLst>
          </p:cNvPr>
          <p:cNvSpPr>
            <a:spLocks noGrp="1"/>
          </p:cNvSpPr>
          <p:nvPr>
            <p:ph idx="1"/>
          </p:nvPr>
        </p:nvSpPr>
        <p:spPr/>
        <p:txBody>
          <a:bodyPr vert="horz" lIns="91440" tIns="45720" rIns="91440" bIns="45720" rtlCol="0" anchor="t">
            <a:normAutofit fontScale="77500" lnSpcReduction="20000"/>
          </a:bodyPr>
          <a:lstStyle/>
          <a:p>
            <a:r>
              <a:rPr lang="en-US" b="1">
                <a:ea typeface="+mn-lt"/>
                <a:cs typeface="+mn-lt"/>
              </a:rPr>
              <a:t>Slow Build Times</a:t>
            </a:r>
            <a:endParaRPr lang="en-US"/>
          </a:p>
          <a:p>
            <a:pPr lvl="1">
              <a:buFont typeface="Courier New" panose="020B0604020202020204" pitchFamily="34" charset="0"/>
              <a:buChar char="o"/>
            </a:pPr>
            <a:r>
              <a:rPr lang="en-US">
                <a:ea typeface="+mn-lt"/>
                <a:cs typeface="+mn-lt"/>
              </a:rPr>
              <a:t>Outdated hardware, especially older disk drives, slows down the process of copying VM templates and provisioning virtual machines.</a:t>
            </a:r>
          </a:p>
          <a:p>
            <a:pPr lvl="1">
              <a:buFont typeface="Courier New" panose="020B0604020202020204" pitchFamily="34" charset="0"/>
              <a:buChar char="o"/>
            </a:pPr>
            <a:r>
              <a:rPr lang="en-US" sz="2000">
                <a:ea typeface="+mn-lt"/>
                <a:cs typeface="+mn-lt"/>
              </a:rPr>
              <a:t>Impacts the efficiency and scalability of the system.</a:t>
            </a:r>
          </a:p>
          <a:p>
            <a:r>
              <a:rPr lang="en-US" b="1">
                <a:ea typeface="+mn-lt"/>
                <a:cs typeface="+mn-lt"/>
              </a:rPr>
              <a:t>Terraform </a:t>
            </a:r>
            <a:r>
              <a:rPr lang="en-US" b="1">
                <a:latin typeface="Consolas"/>
                <a:ea typeface="+mn-lt"/>
                <a:cs typeface="+mn-lt"/>
              </a:rPr>
              <a:t>apply</a:t>
            </a:r>
            <a:r>
              <a:rPr lang="en-US" b="1">
                <a:ea typeface="+mn-lt"/>
                <a:cs typeface="+mn-lt"/>
              </a:rPr>
              <a:t> Breakage</a:t>
            </a:r>
            <a:endParaRPr lang="en-US">
              <a:ea typeface="+mn-lt"/>
              <a:cs typeface="+mn-lt"/>
            </a:endParaRPr>
          </a:p>
          <a:p>
            <a:pPr lvl="1">
              <a:buFont typeface="Courier New,monospace" panose="020B0604020202020204" pitchFamily="34" charset="0"/>
              <a:buChar char="o"/>
            </a:pPr>
            <a:r>
              <a:rPr lang="en-US">
                <a:ea typeface="+mn-lt"/>
                <a:cs typeface="+mn-lt"/>
              </a:rPr>
              <a:t>Frequent interruptions or errors during </a:t>
            </a:r>
            <a:r>
              <a:rPr lang="en-US">
                <a:latin typeface="Consolas"/>
                <a:ea typeface="+mn-lt"/>
                <a:cs typeface="+mn-lt"/>
              </a:rPr>
              <a:t>terraform apply</a:t>
            </a:r>
            <a:r>
              <a:rPr lang="en-US">
                <a:ea typeface="+mn-lt"/>
                <a:cs typeface="+mn-lt"/>
              </a:rPr>
              <a:t> due to misconfigurations or conflicts in the provisioning script.</a:t>
            </a:r>
          </a:p>
          <a:p>
            <a:pPr lvl="1">
              <a:buFont typeface="Courier New,monospace" panose="020B0604020202020204" pitchFamily="34" charset="0"/>
              <a:buChar char="o"/>
            </a:pPr>
            <a:r>
              <a:rPr lang="en-US">
                <a:ea typeface="+mn-lt"/>
                <a:cs typeface="+mn-lt"/>
              </a:rPr>
              <a:t>Lack of clear debugging output complicates troubleshooting.</a:t>
            </a:r>
          </a:p>
          <a:p>
            <a:r>
              <a:rPr lang="en-US" b="1">
                <a:ea typeface="+mn-lt"/>
                <a:cs typeface="+mn-lt"/>
              </a:rPr>
              <a:t>User Experience (</a:t>
            </a:r>
            <a:r>
              <a:rPr lang="en-US" sz="2900" b="1">
                <a:ea typeface="+mn-lt"/>
                <a:cs typeface="+mn-lt"/>
              </a:rPr>
              <a:t>Delayed Lab Availability)</a:t>
            </a:r>
            <a:endParaRPr lang="en-US" sz="2900">
              <a:ea typeface="+mn-lt"/>
              <a:cs typeface="+mn-lt"/>
            </a:endParaRPr>
          </a:p>
          <a:p>
            <a:pPr lvl="1"/>
            <a:r>
              <a:rPr lang="en-US">
                <a:ea typeface="+mn-lt"/>
                <a:cs typeface="+mn-lt"/>
              </a:rPr>
              <a:t>Extended VM provisioning times can frustrate users awaiting lab environments.</a:t>
            </a:r>
            <a:endParaRPr lang="en-US"/>
          </a:p>
          <a:p>
            <a:pPr lvl="1"/>
            <a:r>
              <a:rPr lang="en-US">
                <a:ea typeface="+mn-lt"/>
                <a:cs typeface="+mn-lt"/>
              </a:rPr>
              <a:t>Need for clear status updates or progress indicators during provisioning.</a:t>
            </a:r>
            <a:endParaRPr lang="en-US"/>
          </a:p>
          <a:p>
            <a:endParaRPr lang="en-US" b="1">
              <a:latin typeface="Avenir Next LT Pro"/>
            </a:endParaRPr>
          </a:p>
          <a:p>
            <a:endParaRPr lang="en-US"/>
          </a:p>
          <a:p>
            <a:endParaRPr lang="en-US"/>
          </a:p>
          <a:p>
            <a:endParaRPr lang="en-US"/>
          </a:p>
          <a:p>
            <a:pPr lvl="1">
              <a:buFont typeface="Courier New" panose="020B0604020202020204" pitchFamily="34" charset="0"/>
              <a:buChar char="o"/>
            </a:pPr>
            <a:endParaRPr lang="en-US"/>
          </a:p>
        </p:txBody>
      </p:sp>
      <p:sp>
        <p:nvSpPr>
          <p:cNvPr id="4" name="Date Placeholder 3">
            <a:extLst>
              <a:ext uri="{FF2B5EF4-FFF2-40B4-BE49-F238E27FC236}">
                <a16:creationId xmlns:a16="http://schemas.microsoft.com/office/drawing/2014/main" id="{6C2D44D8-51E1-88FA-5F4A-A87804A0A454}"/>
              </a:ext>
            </a:extLst>
          </p:cNvPr>
          <p:cNvSpPr>
            <a:spLocks noGrp="1"/>
          </p:cNvSpPr>
          <p:nvPr>
            <p:ph type="dt" sz="half" idx="10"/>
          </p:nvPr>
        </p:nvSpPr>
        <p:spPr/>
        <p:txBody>
          <a:bodyPr/>
          <a:lstStyle/>
          <a:p>
            <a:fld id="{639D54C9-B802-4352-BAEE-C2FAFAA34FEA}" type="datetime1">
              <a:t>6/13/2025</a:t>
            </a:fld>
            <a:endParaRPr lang="en-US"/>
          </a:p>
        </p:txBody>
      </p:sp>
      <p:sp>
        <p:nvSpPr>
          <p:cNvPr id="5" name="Footer Placeholder 4">
            <a:extLst>
              <a:ext uri="{FF2B5EF4-FFF2-40B4-BE49-F238E27FC236}">
                <a16:creationId xmlns:a16="http://schemas.microsoft.com/office/drawing/2014/main" id="{60D24A26-8F14-4AE3-A703-5CF38A7C7B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100881-8AEB-392D-1AD6-24FB26EC3AA4}"/>
              </a:ext>
            </a:extLst>
          </p:cNvPr>
          <p:cNvSpPr>
            <a:spLocks noGrp="1"/>
          </p:cNvSpPr>
          <p:nvPr>
            <p:ph type="sldNum" sz="quarter" idx="12"/>
          </p:nvPr>
        </p:nvSpPr>
        <p:spPr/>
        <p:txBody>
          <a:bodyPr/>
          <a:lstStyle/>
          <a:p>
            <a:fld id="{A65A5C87-DF58-40C8-B092-1DE63DB4547E}" type="slidenum">
              <a:rPr lang="en-US" dirty="0"/>
              <a:t>43</a:t>
            </a:fld>
            <a:endParaRPr lang="en-US"/>
          </a:p>
        </p:txBody>
      </p:sp>
    </p:spTree>
    <p:extLst>
      <p:ext uri="{BB962C8B-B14F-4D97-AF65-F5344CB8AC3E}">
        <p14:creationId xmlns:p14="http://schemas.microsoft.com/office/powerpoint/2010/main" val="21868426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771F2-ADA4-FB4E-D712-7846C5B4E982}"/>
              </a:ext>
            </a:extLst>
          </p:cNvPr>
          <p:cNvSpPr>
            <a:spLocks noGrp="1"/>
          </p:cNvSpPr>
          <p:nvPr>
            <p:ph type="title"/>
          </p:nvPr>
        </p:nvSpPr>
        <p:spPr>
          <a:xfrm>
            <a:off x="1115568" y="548640"/>
            <a:ext cx="10168128" cy="1179576"/>
          </a:xfrm>
        </p:spPr>
        <p:txBody>
          <a:bodyPr anchor="ctr">
            <a:normAutofit/>
          </a:bodyPr>
          <a:lstStyle/>
          <a:p>
            <a:r>
              <a:rPr lang="en-US"/>
              <a:t>Challenges Cont'd</a:t>
            </a:r>
          </a:p>
        </p:txBody>
      </p:sp>
      <p:sp>
        <p:nvSpPr>
          <p:cNvPr id="4" name="Date Placeholder 3">
            <a:extLst>
              <a:ext uri="{FF2B5EF4-FFF2-40B4-BE49-F238E27FC236}">
                <a16:creationId xmlns:a16="http://schemas.microsoft.com/office/drawing/2014/main" id="{6C2D44D8-51E1-88FA-5F4A-A87804A0A454}"/>
              </a:ext>
            </a:extLst>
          </p:cNvPr>
          <p:cNvSpPr>
            <a:spLocks noGrp="1"/>
          </p:cNvSpPr>
          <p:nvPr>
            <p:ph type="dt" sz="half" idx="10"/>
          </p:nvPr>
        </p:nvSpPr>
        <p:spPr>
          <a:xfrm>
            <a:off x="1115568" y="6356350"/>
            <a:ext cx="2743200" cy="365125"/>
          </a:xfrm>
        </p:spPr>
        <p:txBody>
          <a:bodyPr anchor="ctr">
            <a:normAutofit/>
          </a:bodyPr>
          <a:lstStyle/>
          <a:p>
            <a:pPr>
              <a:spcAft>
                <a:spcPts val="600"/>
              </a:spcAft>
            </a:pPr>
            <a:fld id="{639D54C9-B802-4352-BAEE-C2FAFAA34FEA}" type="datetime1">
              <a:pPr>
                <a:spcAft>
                  <a:spcPts val="600"/>
                </a:spcAft>
              </a:pPr>
              <a:t>6/13/2025</a:t>
            </a:fld>
            <a:endParaRPr lang="en-US"/>
          </a:p>
        </p:txBody>
      </p:sp>
      <p:sp>
        <p:nvSpPr>
          <p:cNvPr id="12" name="Footer Placeholder 4">
            <a:extLst>
              <a:ext uri="{FF2B5EF4-FFF2-40B4-BE49-F238E27FC236}">
                <a16:creationId xmlns:a16="http://schemas.microsoft.com/office/drawing/2014/main" id="{FE96976F-7E7C-034C-29CD-53E46931FA69}"/>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3D100881-8AEB-392D-1AD6-24FB26EC3AA4}"/>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65A5C87-DF58-40C8-B092-1DE63DB4547E}" type="slidenum">
              <a:rPr lang="en-US" dirty="0"/>
              <a:pPr>
                <a:spcAft>
                  <a:spcPts val="600"/>
                </a:spcAft>
              </a:pPr>
              <a:t>44</a:t>
            </a:fld>
            <a:endParaRPr lang="en-US"/>
          </a:p>
        </p:txBody>
      </p:sp>
      <p:graphicFrame>
        <p:nvGraphicFramePr>
          <p:cNvPr id="8" name="Content Placeholder 2">
            <a:extLst>
              <a:ext uri="{FF2B5EF4-FFF2-40B4-BE49-F238E27FC236}">
                <a16:creationId xmlns:a16="http://schemas.microsoft.com/office/drawing/2014/main" id="{16BE3D35-A4EE-56E0-9B66-AC92E74D7100}"/>
              </a:ext>
            </a:extLst>
          </p:cNvPr>
          <p:cNvGraphicFramePr>
            <a:graphicFrameLocks noGrp="1"/>
          </p:cNvGraphicFramePr>
          <p:nvPr>
            <p:ph idx="1"/>
            <p:extLst>
              <p:ext uri="{D42A27DB-BD31-4B8C-83A1-F6EECF244321}">
                <p14:modId xmlns:p14="http://schemas.microsoft.com/office/powerpoint/2010/main" val="2351551056"/>
              </p:ext>
            </p:extLst>
          </p:nvPr>
        </p:nvGraphicFramePr>
        <p:xfrm>
          <a:off x="1115568" y="2478024"/>
          <a:ext cx="10168128"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07288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06563-18CF-EE0F-34AC-A76D4577C1C7}"/>
              </a:ext>
            </a:extLst>
          </p:cNvPr>
          <p:cNvSpPr>
            <a:spLocks noGrp="1"/>
          </p:cNvSpPr>
          <p:nvPr>
            <p:ph type="title"/>
          </p:nvPr>
        </p:nvSpPr>
        <p:spPr>
          <a:xfrm>
            <a:off x="868680" y="1709928"/>
            <a:ext cx="3099816" cy="1709928"/>
          </a:xfrm>
        </p:spPr>
        <p:txBody>
          <a:bodyPr anchor="t">
            <a:normAutofit/>
          </a:bodyPr>
          <a:lstStyle/>
          <a:p>
            <a:r>
              <a:rPr lang="en-US"/>
              <a:t>Challenges Cont'd</a:t>
            </a:r>
          </a:p>
        </p:txBody>
      </p:sp>
      <p:pic>
        <p:nvPicPr>
          <p:cNvPr id="3" name="Picture 2" descr="A screenshot of a computer screen&#10;&#10;Description automatically generated">
            <a:extLst>
              <a:ext uri="{FF2B5EF4-FFF2-40B4-BE49-F238E27FC236}">
                <a16:creationId xmlns:a16="http://schemas.microsoft.com/office/drawing/2014/main" id="{621AA631-58F7-B4E1-E7D1-540921FDD763}"/>
              </a:ext>
            </a:extLst>
          </p:cNvPr>
          <p:cNvPicPr>
            <a:picLocks noChangeAspect="1"/>
          </p:cNvPicPr>
          <p:nvPr/>
        </p:nvPicPr>
        <p:blipFill>
          <a:blip r:embed="rId2"/>
          <a:srcRect l="24128" r="14297" b="-2"/>
          <a:stretch/>
        </p:blipFill>
        <p:spPr>
          <a:xfrm>
            <a:off x="4965192" y="1161288"/>
            <a:ext cx="6729984" cy="4645152"/>
          </a:xfrm>
          <a:prstGeom prst="rect">
            <a:avLst/>
          </a:prstGeom>
          <a:noFill/>
        </p:spPr>
      </p:pic>
      <p:sp>
        <p:nvSpPr>
          <p:cNvPr id="11" name="Text Placeholder 3">
            <a:extLst>
              <a:ext uri="{FF2B5EF4-FFF2-40B4-BE49-F238E27FC236}">
                <a16:creationId xmlns:a16="http://schemas.microsoft.com/office/drawing/2014/main" id="{D1E9440D-2A01-9D9E-369B-FC4F51621730}"/>
              </a:ext>
            </a:extLst>
          </p:cNvPr>
          <p:cNvSpPr>
            <a:spLocks noGrp="1"/>
          </p:cNvSpPr>
          <p:nvPr>
            <p:ph type="body" sz="half" idx="2"/>
          </p:nvPr>
        </p:nvSpPr>
        <p:spPr>
          <a:xfrm>
            <a:off x="868680" y="3438144"/>
            <a:ext cx="3099816" cy="2057400"/>
          </a:xfrm>
        </p:spPr>
        <p:txBody>
          <a:bodyPr vert="horz" lIns="91440" tIns="45720" rIns="91440" bIns="45720" rtlCol="0" anchor="t">
            <a:normAutofit/>
          </a:bodyPr>
          <a:lstStyle/>
          <a:p>
            <a:r>
              <a:rPr lang="en-US"/>
              <a:t>Routine scan from OTS</a:t>
            </a:r>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868680"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13" name="Footer Placeholder 5">
            <a:extLst>
              <a:ext uri="{FF2B5EF4-FFF2-40B4-BE49-F238E27FC236}">
                <a16:creationId xmlns:a16="http://schemas.microsoft.com/office/drawing/2014/main" id="{0181B03F-C8C6-A2A7-B2CC-D090B5288303}"/>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65A5C87-DF58-40C8-B092-1DE63DB4547E}" type="slidenum">
              <a:rPr lang="en-US" dirty="0"/>
              <a:pPr>
                <a:spcAft>
                  <a:spcPts val="600"/>
                </a:spcAft>
              </a:pPr>
              <a:t>45</a:t>
            </a:fld>
            <a:endParaRPr lang="en-US"/>
          </a:p>
        </p:txBody>
      </p:sp>
    </p:spTree>
    <p:extLst>
      <p:ext uri="{BB962C8B-B14F-4D97-AF65-F5344CB8AC3E}">
        <p14:creationId xmlns:p14="http://schemas.microsoft.com/office/powerpoint/2010/main" val="16053937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06563-18CF-EE0F-34AC-A76D4577C1C7}"/>
              </a:ext>
            </a:extLst>
          </p:cNvPr>
          <p:cNvSpPr>
            <a:spLocks noGrp="1"/>
          </p:cNvSpPr>
          <p:nvPr>
            <p:ph type="title"/>
          </p:nvPr>
        </p:nvSpPr>
        <p:spPr>
          <a:xfrm>
            <a:off x="868680" y="1709928"/>
            <a:ext cx="3099816" cy="1709928"/>
          </a:xfrm>
        </p:spPr>
        <p:txBody>
          <a:bodyPr anchor="t">
            <a:normAutofit/>
          </a:bodyPr>
          <a:lstStyle/>
          <a:p>
            <a:r>
              <a:rPr lang="en-US"/>
              <a:t>Challenges Cont'd</a:t>
            </a:r>
          </a:p>
        </p:txBody>
      </p:sp>
      <p:pic>
        <p:nvPicPr>
          <p:cNvPr id="7" name="Picture 6" descr="A computer screen shot of a black and white screen&#10;&#10;Description automatically generated">
            <a:extLst>
              <a:ext uri="{FF2B5EF4-FFF2-40B4-BE49-F238E27FC236}">
                <a16:creationId xmlns:a16="http://schemas.microsoft.com/office/drawing/2014/main" id="{5B910362-A086-E774-4C67-A183080C4C49}"/>
              </a:ext>
            </a:extLst>
          </p:cNvPr>
          <p:cNvPicPr>
            <a:picLocks noChangeAspect="1"/>
          </p:cNvPicPr>
          <p:nvPr/>
        </p:nvPicPr>
        <p:blipFill>
          <a:blip r:embed="rId2"/>
          <a:stretch>
            <a:fillRect/>
          </a:stretch>
        </p:blipFill>
        <p:spPr>
          <a:xfrm>
            <a:off x="4965192" y="2373417"/>
            <a:ext cx="6729984" cy="2220893"/>
          </a:xfrm>
          <a:prstGeom prst="rect">
            <a:avLst/>
          </a:prstGeom>
          <a:noFill/>
        </p:spPr>
      </p:pic>
      <p:sp>
        <p:nvSpPr>
          <p:cNvPr id="12" name="Text Placeholder 3">
            <a:extLst>
              <a:ext uri="{FF2B5EF4-FFF2-40B4-BE49-F238E27FC236}">
                <a16:creationId xmlns:a16="http://schemas.microsoft.com/office/drawing/2014/main" id="{CB3EB4D5-170D-85E7-514E-F2A756E7629C}"/>
              </a:ext>
            </a:extLst>
          </p:cNvPr>
          <p:cNvSpPr>
            <a:spLocks noGrp="1"/>
          </p:cNvSpPr>
          <p:nvPr>
            <p:ph type="body" sz="half" idx="2"/>
          </p:nvPr>
        </p:nvSpPr>
        <p:spPr>
          <a:xfrm>
            <a:off x="868680" y="3438144"/>
            <a:ext cx="3099816" cy="2057400"/>
          </a:xfrm>
        </p:spPr>
        <p:txBody>
          <a:bodyPr vert="horz" lIns="91440" tIns="45720" rIns="91440" bIns="45720" rtlCol="0" anchor="t">
            <a:normAutofit/>
          </a:bodyPr>
          <a:lstStyle/>
          <a:p>
            <a:r>
              <a:rPr lang="en-US"/>
              <a:t>Nameserver lookup</a:t>
            </a:r>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868680"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14" name="Footer Placeholder 5">
            <a:extLst>
              <a:ext uri="{FF2B5EF4-FFF2-40B4-BE49-F238E27FC236}">
                <a16:creationId xmlns:a16="http://schemas.microsoft.com/office/drawing/2014/main" id="{5BB461C0-EC10-8F00-A6B3-656B0C2FB4DA}"/>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65A5C87-DF58-40C8-B092-1DE63DB4547E}" type="slidenum">
              <a:rPr lang="en-US" dirty="0"/>
              <a:pPr>
                <a:spcAft>
                  <a:spcPts val="600"/>
                </a:spcAft>
              </a:pPr>
              <a:t>46</a:t>
            </a:fld>
            <a:endParaRPr lang="en-US"/>
          </a:p>
        </p:txBody>
      </p:sp>
    </p:spTree>
    <p:extLst>
      <p:ext uri="{BB962C8B-B14F-4D97-AF65-F5344CB8AC3E}">
        <p14:creationId xmlns:p14="http://schemas.microsoft.com/office/powerpoint/2010/main" val="7108129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06563-18CF-EE0F-34AC-A76D4577C1C7}"/>
              </a:ext>
            </a:extLst>
          </p:cNvPr>
          <p:cNvSpPr>
            <a:spLocks noGrp="1"/>
          </p:cNvSpPr>
          <p:nvPr>
            <p:ph type="title"/>
          </p:nvPr>
        </p:nvSpPr>
        <p:spPr>
          <a:xfrm>
            <a:off x="868680" y="1709928"/>
            <a:ext cx="3099816" cy="1709928"/>
          </a:xfrm>
        </p:spPr>
        <p:txBody>
          <a:bodyPr anchor="t">
            <a:normAutofit/>
          </a:bodyPr>
          <a:lstStyle/>
          <a:p>
            <a:r>
              <a:rPr lang="en-US"/>
              <a:t>Challenges Cont'd</a:t>
            </a:r>
          </a:p>
        </p:txBody>
      </p:sp>
      <p:pic>
        <p:nvPicPr>
          <p:cNvPr id="7" name="Picture 6" descr="A screenshot of a computer&#10;&#10;Description automatically generated">
            <a:extLst>
              <a:ext uri="{FF2B5EF4-FFF2-40B4-BE49-F238E27FC236}">
                <a16:creationId xmlns:a16="http://schemas.microsoft.com/office/drawing/2014/main" id="{34B62E4C-CF85-2993-872C-CA84A4CF4A78}"/>
              </a:ext>
            </a:extLst>
          </p:cNvPr>
          <p:cNvPicPr>
            <a:picLocks noChangeAspect="1"/>
          </p:cNvPicPr>
          <p:nvPr/>
        </p:nvPicPr>
        <p:blipFill>
          <a:blip r:embed="rId2"/>
          <a:srcRect l="2919" r="28625" b="2"/>
          <a:stretch/>
        </p:blipFill>
        <p:spPr>
          <a:xfrm>
            <a:off x="4965192" y="1161288"/>
            <a:ext cx="6729984" cy="4645152"/>
          </a:xfrm>
          <a:prstGeom prst="rect">
            <a:avLst/>
          </a:prstGeom>
          <a:noFill/>
        </p:spPr>
      </p:pic>
      <p:sp>
        <p:nvSpPr>
          <p:cNvPr id="35" name="Text Placeholder 3">
            <a:extLst>
              <a:ext uri="{FF2B5EF4-FFF2-40B4-BE49-F238E27FC236}">
                <a16:creationId xmlns:a16="http://schemas.microsoft.com/office/drawing/2014/main" id="{6ECED604-6830-4409-7961-6321E9B836BC}"/>
              </a:ext>
            </a:extLst>
          </p:cNvPr>
          <p:cNvSpPr>
            <a:spLocks noGrp="1"/>
          </p:cNvSpPr>
          <p:nvPr>
            <p:ph type="body" sz="half" idx="2"/>
          </p:nvPr>
        </p:nvSpPr>
        <p:spPr>
          <a:xfrm>
            <a:off x="868680" y="3438144"/>
            <a:ext cx="3099816" cy="2057400"/>
          </a:xfrm>
        </p:spPr>
        <p:txBody>
          <a:bodyPr vert="horz" lIns="91440" tIns="45720" rIns="91440" bIns="45720" rtlCol="0" anchor="t">
            <a:normAutofit/>
          </a:bodyPr>
          <a:lstStyle/>
          <a:p>
            <a:r>
              <a:rPr lang="en-US"/>
              <a:t>Cluster with multiple VMs and templates </a:t>
            </a:r>
          </a:p>
        </p:txBody>
      </p:sp>
      <p:sp>
        <p:nvSpPr>
          <p:cNvPr id="4" name="Date Placeholder 3">
            <a:extLst>
              <a:ext uri="{FF2B5EF4-FFF2-40B4-BE49-F238E27FC236}">
                <a16:creationId xmlns:a16="http://schemas.microsoft.com/office/drawing/2014/main" id="{50444A4A-7508-8A4C-CB3D-BD5CEEC1D2D5}"/>
              </a:ext>
            </a:extLst>
          </p:cNvPr>
          <p:cNvSpPr>
            <a:spLocks noGrp="1"/>
          </p:cNvSpPr>
          <p:nvPr>
            <p:ph type="dt" sz="half" idx="10"/>
          </p:nvPr>
        </p:nvSpPr>
        <p:spPr>
          <a:xfrm>
            <a:off x="868680" y="6356350"/>
            <a:ext cx="2743200" cy="365125"/>
          </a:xfrm>
        </p:spPr>
        <p:txBody>
          <a:bodyPr anchor="ctr">
            <a:normAutofit/>
          </a:bodyPr>
          <a:lstStyle/>
          <a:p>
            <a:pPr>
              <a:spcAft>
                <a:spcPts val="600"/>
              </a:spcAft>
            </a:pPr>
            <a:fld id="{880DDC6F-4FAA-4AF7-A809-1F349EB6C9F1}" type="datetime1">
              <a:rPr lang="en-US"/>
              <a:pPr>
                <a:spcAft>
                  <a:spcPts val="600"/>
                </a:spcAft>
              </a:pPr>
              <a:t>6/13/2025</a:t>
            </a:fld>
            <a:endParaRPr lang="en-US"/>
          </a:p>
        </p:txBody>
      </p:sp>
      <p:sp>
        <p:nvSpPr>
          <p:cNvPr id="37" name="Footer Placeholder 5">
            <a:extLst>
              <a:ext uri="{FF2B5EF4-FFF2-40B4-BE49-F238E27FC236}">
                <a16:creationId xmlns:a16="http://schemas.microsoft.com/office/drawing/2014/main" id="{5FD0A809-71B9-A04F-09BC-275027501516}"/>
              </a:ext>
            </a:extLst>
          </p:cNvPr>
          <p:cNvSpPr>
            <a:spLocks noGrp="1"/>
          </p:cNvSpPr>
          <p:nvPr>
            <p:ph type="ftr" sz="quarter" idx="11"/>
          </p:nvPr>
        </p:nvSpPr>
        <p:spPr>
          <a:xfrm>
            <a:off x="4038600" y="6356350"/>
            <a:ext cx="4114800" cy="365125"/>
          </a:xfrm>
        </p:spPr>
        <p:txBody>
          <a:bodyPr/>
          <a:lstStyle/>
          <a:p>
            <a:endParaRPr lang="en-US"/>
          </a:p>
        </p:txBody>
      </p:sp>
      <p:sp>
        <p:nvSpPr>
          <p:cNvPr id="6" name="Slide Number Placeholder 5">
            <a:extLst>
              <a:ext uri="{FF2B5EF4-FFF2-40B4-BE49-F238E27FC236}">
                <a16:creationId xmlns:a16="http://schemas.microsoft.com/office/drawing/2014/main" id="{AA32A33D-FACA-93A5-11DD-AE3242CAEB0A}"/>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A65A5C87-DF58-40C8-B092-1DE63DB4547E}" type="slidenum">
              <a:rPr lang="en-US" dirty="0"/>
              <a:pPr>
                <a:spcAft>
                  <a:spcPts val="600"/>
                </a:spcAft>
              </a:pPr>
              <a:t>47</a:t>
            </a:fld>
            <a:endParaRPr lang="en-US"/>
          </a:p>
        </p:txBody>
      </p:sp>
    </p:spTree>
    <p:extLst>
      <p:ext uri="{BB962C8B-B14F-4D97-AF65-F5344CB8AC3E}">
        <p14:creationId xmlns:p14="http://schemas.microsoft.com/office/powerpoint/2010/main" val="15855863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771F2-ADA4-FB4E-D712-7846C5B4E982}"/>
              </a:ext>
            </a:extLst>
          </p:cNvPr>
          <p:cNvSpPr>
            <a:spLocks noGrp="1"/>
          </p:cNvSpPr>
          <p:nvPr>
            <p:ph type="title"/>
          </p:nvPr>
        </p:nvSpPr>
        <p:spPr/>
        <p:txBody>
          <a:bodyPr/>
          <a:lstStyle/>
          <a:p>
            <a:r>
              <a:rPr lang="en-US"/>
              <a:t>In conclusion... </a:t>
            </a:r>
          </a:p>
        </p:txBody>
      </p:sp>
      <p:sp>
        <p:nvSpPr>
          <p:cNvPr id="3" name="Content Placeholder 2">
            <a:extLst>
              <a:ext uri="{FF2B5EF4-FFF2-40B4-BE49-F238E27FC236}">
                <a16:creationId xmlns:a16="http://schemas.microsoft.com/office/drawing/2014/main" id="{A33E5078-AC3C-E2CD-2232-5B8B16A31234}"/>
              </a:ext>
            </a:extLst>
          </p:cNvPr>
          <p:cNvSpPr>
            <a:spLocks noGrp="1"/>
          </p:cNvSpPr>
          <p:nvPr>
            <p:ph idx="1"/>
          </p:nvPr>
        </p:nvSpPr>
        <p:spPr/>
        <p:txBody>
          <a:bodyPr vert="horz" lIns="91440" tIns="45720" rIns="91440" bIns="45720" rtlCol="0" anchor="t">
            <a:normAutofit fontScale="92500" lnSpcReduction="10000"/>
          </a:bodyPr>
          <a:lstStyle/>
          <a:p>
            <a:r>
              <a:rPr lang="en-US"/>
              <a:t>What is the future?</a:t>
            </a:r>
          </a:p>
          <a:p>
            <a:pPr lvl="1">
              <a:buFont typeface="Courier New" panose="020B0604020202020204" pitchFamily="34" charset="0"/>
              <a:buChar char="o"/>
            </a:pPr>
            <a:r>
              <a:rPr lang="en-US"/>
              <a:t>Continue to iterate and improve this platform</a:t>
            </a:r>
          </a:p>
          <a:p>
            <a:pPr lvl="1">
              <a:buFont typeface="Courier New" panose="020B0604020202020204" pitchFamily="34" charset="0"/>
              <a:buChar char="o"/>
            </a:pPr>
            <a:r>
              <a:rPr lang="en-US"/>
              <a:t>Open development up for the development of new "tests"</a:t>
            </a:r>
          </a:p>
          <a:p>
            <a:pPr lvl="1">
              <a:buFont typeface="Courier New" panose="020B0604020202020204" pitchFamily="34" charset="0"/>
              <a:buChar char="o"/>
            </a:pPr>
            <a:r>
              <a:rPr lang="en-US"/>
              <a:t>Provide resources for students/faculty to use, study, and learn with </a:t>
            </a:r>
          </a:p>
          <a:p>
            <a:pPr lvl="1">
              <a:buFont typeface="Courier New" panose="020B0604020202020204" pitchFamily="34" charset="0"/>
              <a:buChar char="o"/>
            </a:pPr>
            <a:r>
              <a:rPr lang="en-US"/>
              <a:t>Create a one-step installer for the entire platform so others can implement their own Cyber Range</a:t>
            </a:r>
          </a:p>
          <a:p>
            <a:pPr lvl="1">
              <a:buFont typeface="Courier New" panose="020B0604020202020204" pitchFamily="34" charset="0"/>
              <a:buChar char="o"/>
            </a:pPr>
            <a:r>
              <a:rPr lang="en-US"/>
              <a:t>Conduct studies and publish research</a:t>
            </a:r>
          </a:p>
          <a:p>
            <a:pPr lvl="1">
              <a:buFont typeface="Courier New" panose="020B0604020202020204" pitchFamily="34" charset="0"/>
              <a:buChar char="o"/>
            </a:pPr>
            <a:r>
              <a:rPr lang="en-US"/>
              <a:t>Create a business to produce custom "tests" </a:t>
            </a:r>
          </a:p>
          <a:p>
            <a:pPr lvl="2">
              <a:buFont typeface="Wingdings" panose="020B0604020202020204" pitchFamily="34" charset="0"/>
              <a:buChar char="§"/>
            </a:pPr>
            <a:r>
              <a:rPr lang="en-US"/>
              <a:t>Sell them on a marketplace</a:t>
            </a:r>
          </a:p>
          <a:p>
            <a:pPr lvl="1">
              <a:buFont typeface="Courier New" panose="020B0604020202020204" pitchFamily="34" charset="0"/>
              <a:buChar char="o"/>
            </a:pPr>
            <a:endParaRPr lang="en-US"/>
          </a:p>
        </p:txBody>
      </p:sp>
      <p:sp>
        <p:nvSpPr>
          <p:cNvPr id="4" name="Date Placeholder 3">
            <a:extLst>
              <a:ext uri="{FF2B5EF4-FFF2-40B4-BE49-F238E27FC236}">
                <a16:creationId xmlns:a16="http://schemas.microsoft.com/office/drawing/2014/main" id="{6C2D44D8-51E1-88FA-5F4A-A87804A0A454}"/>
              </a:ext>
            </a:extLst>
          </p:cNvPr>
          <p:cNvSpPr>
            <a:spLocks noGrp="1"/>
          </p:cNvSpPr>
          <p:nvPr>
            <p:ph type="dt" sz="half" idx="10"/>
          </p:nvPr>
        </p:nvSpPr>
        <p:spPr/>
        <p:txBody>
          <a:bodyPr/>
          <a:lstStyle/>
          <a:p>
            <a:fld id="{639D54C9-B802-4352-BAEE-C2FAFAA34FEA}" type="datetime1">
              <a:t>6/13/2025</a:t>
            </a:fld>
            <a:endParaRPr lang="en-US"/>
          </a:p>
        </p:txBody>
      </p:sp>
      <p:sp>
        <p:nvSpPr>
          <p:cNvPr id="5" name="Footer Placeholder 4">
            <a:extLst>
              <a:ext uri="{FF2B5EF4-FFF2-40B4-BE49-F238E27FC236}">
                <a16:creationId xmlns:a16="http://schemas.microsoft.com/office/drawing/2014/main" id="{60D24A26-8F14-4AE3-A703-5CF38A7C7B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100881-8AEB-392D-1AD6-24FB26EC3AA4}"/>
              </a:ext>
            </a:extLst>
          </p:cNvPr>
          <p:cNvSpPr>
            <a:spLocks noGrp="1"/>
          </p:cNvSpPr>
          <p:nvPr>
            <p:ph type="sldNum" sz="quarter" idx="12"/>
          </p:nvPr>
        </p:nvSpPr>
        <p:spPr/>
        <p:txBody>
          <a:bodyPr/>
          <a:lstStyle/>
          <a:p>
            <a:fld id="{A65A5C87-DF58-40C8-B092-1DE63DB4547E}" type="slidenum">
              <a:rPr lang="en-US" dirty="0"/>
              <a:t>48</a:t>
            </a:fld>
            <a:endParaRPr lang="en-US"/>
          </a:p>
        </p:txBody>
      </p:sp>
    </p:spTree>
    <p:extLst>
      <p:ext uri="{BB962C8B-B14F-4D97-AF65-F5344CB8AC3E}">
        <p14:creationId xmlns:p14="http://schemas.microsoft.com/office/powerpoint/2010/main" val="130562566"/>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48</Slides>
  <Notes>0</Notes>
  <HiddenSlides>0</HiddenSlide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AccentBoxVTI</vt:lpstr>
      <vt:lpstr>A  Cyber Range is Born! </vt:lpstr>
      <vt:lpstr>What we set out to do...</vt:lpstr>
      <vt:lpstr>Build a Cyber Range</vt:lpstr>
      <vt:lpstr>Definitely Not Built From Random Scripts...</vt:lpstr>
      <vt:lpstr>What Hath We Wrought...</vt:lpstr>
      <vt:lpstr>A Journey of a thousand miles...</vt:lpstr>
      <vt:lpstr>There is method to the madness...</vt:lpstr>
      <vt:lpstr>Secrets Management </vt:lpstr>
      <vt:lpstr>Secrets Management</vt:lpstr>
      <vt:lpstr>Problems with Secrets </vt:lpstr>
      <vt:lpstr>Our Solution – HashiCorp Vault</vt:lpstr>
      <vt:lpstr>Vault in Action</vt:lpstr>
      <vt:lpstr>Packer and Hard-coded variables</vt:lpstr>
      <vt:lpstr>Terraform and Hard-coded variables</vt:lpstr>
      <vt:lpstr>Summary</vt:lpstr>
      <vt:lpstr>Network Isolation via SDN on the Proxmox Cloud Platform</vt:lpstr>
      <vt:lpstr>The need for Network Isolation</vt:lpstr>
      <vt:lpstr>Achieve Network Isolation via SDN</vt:lpstr>
      <vt:lpstr>Hardware vs Software Isolation</vt:lpstr>
      <vt:lpstr>Network Isolation via SDN in Proxmox </vt:lpstr>
      <vt:lpstr>What it takes to get zones working</vt:lpstr>
      <vt:lpstr>SDN in Proxmox and Network Isolation</vt:lpstr>
      <vt:lpstr>SDN in Proxmox and Network Isolation</vt:lpstr>
      <vt:lpstr>Cyber Range  </vt:lpstr>
      <vt:lpstr>Problem Statement</vt:lpstr>
      <vt:lpstr>Problem Statement Cont'd</vt:lpstr>
      <vt:lpstr>Problem Statement Cont'd</vt:lpstr>
      <vt:lpstr>Tools Used</vt:lpstr>
      <vt:lpstr>Packer Template Files</vt:lpstr>
      <vt:lpstr>Packer Template Files Cont'd</vt:lpstr>
      <vt:lpstr>Tools Used Cont'd   </vt:lpstr>
      <vt:lpstr>Terraform files</vt:lpstr>
      <vt:lpstr>Lab Environment</vt:lpstr>
      <vt:lpstr>Clinic++ Cyber Range Web Application</vt:lpstr>
      <vt:lpstr>Clinic Webserver</vt:lpstr>
      <vt:lpstr>Features of Clinic++ Application</vt:lpstr>
      <vt:lpstr>Features of the Application Cont'd</vt:lpstr>
      <vt:lpstr>Features Detailed</vt:lpstr>
      <vt:lpstr>Features Detailed Cont'd</vt:lpstr>
      <vt:lpstr>Feature Detailed Cont'd</vt:lpstr>
      <vt:lpstr>Features Detailed Cont'd</vt:lpstr>
      <vt:lpstr>Featured Detailed Cont'd</vt:lpstr>
      <vt:lpstr>Challenges: Development and Deployment </vt:lpstr>
      <vt:lpstr>Challenges Cont'd</vt:lpstr>
      <vt:lpstr>Challenges Cont'd</vt:lpstr>
      <vt:lpstr>Challenges Cont'd</vt:lpstr>
      <vt:lpstr>Challenges Cont'd</vt:lpstr>
      <vt:lpstr>In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Waghmare</dc:creator>
  <cp:revision>2</cp:revision>
  <dcterms:created xsi:type="dcterms:W3CDTF">2024-12-03T19:05:43Z</dcterms:created>
  <dcterms:modified xsi:type="dcterms:W3CDTF">2025-06-13T15:18:27Z</dcterms:modified>
</cp:coreProperties>
</file>